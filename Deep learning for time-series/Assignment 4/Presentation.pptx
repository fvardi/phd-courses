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notesMasterIdLst>
    <p:notesMasterId r:id="rId23"/>
  </p:notesMasterIdLst>
  <p:sldIdLst>
    <p:sldId id="256" r:id="rId6"/>
    <p:sldId id="282" r:id="rId7"/>
    <p:sldId id="267" r:id="rId8"/>
    <p:sldId id="268" r:id="rId9"/>
    <p:sldId id="269" r:id="rId10"/>
    <p:sldId id="270" r:id="rId11"/>
    <p:sldId id="280" r:id="rId12"/>
    <p:sldId id="275" r:id="rId13"/>
    <p:sldId id="284" r:id="rId14"/>
    <p:sldId id="260" r:id="rId15"/>
    <p:sldId id="261" r:id="rId16"/>
    <p:sldId id="263" r:id="rId17"/>
    <p:sldId id="264" r:id="rId18"/>
    <p:sldId id="265" r:id="rId19"/>
    <p:sldId id="288" r:id="rId20"/>
    <p:sldId id="287" r:id="rId21"/>
    <p:sldId id="277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DB14B-D186-4395-AA45-D206432F77E6}" type="datetimeFigureOut">
              <a:rPr lang="da-DK" smtClean="0"/>
              <a:t>12-10-2026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0D09C-7D50-4707-B5BE-4BF22769806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9768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0D09C-7D50-4707-B5BE-4BF227698062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3730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0D09C-7D50-4707-B5BE-4BF227698062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1782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0D09C-7D50-4707-B5BE-4BF227698062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650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16F6-0E05-2C96-F30B-C78247500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62BF0-CA5B-79B4-3499-ACA98DC2F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Purpose and plan</a:t>
            </a:r>
          </a:p>
        </p:txBody>
      </p:sp>
      <p:graphicFrame>
        <p:nvGraphicFramePr>
          <p:cNvPr id="6" name="Purpo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938936"/>
              </p:ext>
            </p:extLst>
          </p:nvPr>
        </p:nvGraphicFramePr>
        <p:xfrm>
          <a:off x="838200" y="1905000"/>
          <a:ext cx="10515600" cy="1910080"/>
        </p:xfrm>
        <a:graphic>
          <a:graphicData uri="http://schemas.openxmlformats.org/drawingml/2006/table">
            <a:tbl>
              <a:tblPr firstRow="1"/>
              <a:tblGrid>
                <a:gridCol w="2944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Purpose</a:t>
                      </a:r>
                      <a:endParaRPr lang="en-US" sz="1600" dirty="0"/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Model type</a:t>
                      </a:r>
                      <a:endParaRPr lang="en-US" sz="1600" dirty="0"/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Datasets</a:t>
                      </a:r>
                      <a:endParaRPr lang="en-US" sz="1600" dirty="0"/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Tests</a:t>
                      </a:r>
                      <a:endParaRPr lang="en-US" sz="1600" dirty="0"/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40404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600" dirty="0"/>
                        <a:t>Understand SLL:</a:t>
                      </a:r>
                    </a:p>
                    <a:p>
                      <a:r>
                        <a:rPr lang="en-US" sz="1600" dirty="0"/>
                        <a:t>evaluation and usefulness of learned representations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Classification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FordA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AWR</a:t>
                      </a:r>
                    </a:p>
                    <a:p>
                      <a:r>
                        <a:rPr lang="en-US" sz="1600" dirty="0"/>
                        <a:t>Epilepsy</a:t>
                      </a:r>
                    </a:p>
                    <a:p>
                      <a:r>
                        <a:rPr lang="en-US" sz="1600" dirty="0"/>
                        <a:t>FD-A</a:t>
                      </a:r>
                    </a:p>
                    <a:p>
                      <a:r>
                        <a:rPr lang="en-US" sz="1600" dirty="0"/>
                        <a:t>FD-B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Raw vs. SSL</a:t>
                      </a:r>
                    </a:p>
                    <a:p>
                      <a:r>
                        <a:rPr lang="en-US" sz="1600" dirty="0"/>
                        <a:t>Clean vs. corrupted</a:t>
                      </a:r>
                    </a:p>
                    <a:p>
                      <a:r>
                        <a:rPr lang="en-US" sz="1600" dirty="0"/>
                        <a:t>Masking ablation</a:t>
                      </a:r>
                    </a:p>
                    <a:p>
                      <a:r>
                        <a:rPr lang="en-US" sz="1600" dirty="0"/>
                        <a:t>Transfer learning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39035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B532E-3533-4DE4-02F9-6D81FE9B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SSL </a:t>
            </a:r>
            <a:r>
              <a:rPr lang="da-DK" dirty="0" err="1"/>
              <a:t>methods</a:t>
            </a:r>
            <a:br>
              <a:rPr lang="da-DK" dirty="0"/>
            </a:br>
            <a:r>
              <a:rPr lang="da-DK" sz="2000" dirty="0"/>
              <a:t>T-</a:t>
            </a:r>
            <a:r>
              <a:rPr lang="da-DK" sz="2000" dirty="0" err="1"/>
              <a:t>Loss</a:t>
            </a:r>
            <a:endParaRPr lang="da-DK" sz="20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73B84B8-2BD0-3523-ACE3-DE7BF46C1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Triplet</a:t>
            </a:r>
            <a:r>
              <a:rPr lang="da-DK" dirty="0"/>
              <a:t> </a:t>
            </a:r>
            <a:r>
              <a:rPr lang="da-DK" dirty="0" err="1"/>
              <a:t>loss</a:t>
            </a:r>
            <a:endParaRPr lang="da-DK" dirty="0"/>
          </a:p>
          <a:p>
            <a:r>
              <a:rPr lang="da-DK" dirty="0" err="1"/>
              <a:t>Random</a:t>
            </a:r>
            <a:r>
              <a:rPr lang="da-DK" dirty="0"/>
              <a:t> </a:t>
            </a:r>
            <a:r>
              <a:rPr lang="da-DK" dirty="0" err="1"/>
              <a:t>length</a:t>
            </a:r>
            <a:r>
              <a:rPr lang="da-DK" dirty="0"/>
              <a:t> sampling for </a:t>
            </a:r>
            <a:r>
              <a:rPr lang="da-DK" dirty="0" err="1"/>
              <a:t>robustness</a:t>
            </a:r>
            <a:endParaRPr lang="da-DK" dirty="0"/>
          </a:p>
          <a:p>
            <a:r>
              <a:rPr lang="da-DK" dirty="0"/>
              <a:t>Sub-series as positive </a:t>
            </a:r>
            <a:r>
              <a:rPr lang="da-DK" dirty="0" err="1"/>
              <a:t>within</a:t>
            </a:r>
            <a:r>
              <a:rPr lang="da-DK" dirty="0"/>
              <a:t> </a:t>
            </a:r>
            <a:r>
              <a:rPr lang="da-DK" dirty="0" err="1"/>
              <a:t>context</a:t>
            </a:r>
            <a:r>
              <a:rPr lang="da-DK" dirty="0"/>
              <a:t> of reference</a:t>
            </a:r>
          </a:p>
          <a:p>
            <a:r>
              <a:rPr lang="da-DK" dirty="0" err="1"/>
              <a:t>Other</a:t>
            </a:r>
            <a:r>
              <a:rPr lang="da-DK" dirty="0"/>
              <a:t> series as negative</a:t>
            </a:r>
          </a:p>
          <a:p>
            <a:r>
              <a:rPr lang="da-DK" dirty="0" err="1"/>
              <a:t>Stacked</a:t>
            </a:r>
            <a:r>
              <a:rPr lang="da-DK" dirty="0"/>
              <a:t>, </a:t>
            </a:r>
            <a:r>
              <a:rPr lang="da-DK" dirty="0" err="1"/>
              <a:t>dilating</a:t>
            </a:r>
            <a:r>
              <a:rPr lang="da-DK" dirty="0"/>
              <a:t>, </a:t>
            </a:r>
            <a:r>
              <a:rPr lang="da-DK" dirty="0" err="1"/>
              <a:t>convolutional</a:t>
            </a:r>
            <a:r>
              <a:rPr lang="da-DK" dirty="0"/>
              <a:t> </a:t>
            </a:r>
            <a:r>
              <a:rPr lang="da-DK" dirty="0" err="1"/>
              <a:t>layers</a:t>
            </a:r>
            <a:r>
              <a:rPr lang="da-DK" dirty="0"/>
              <a:t> and residual </a:t>
            </a:r>
            <a:r>
              <a:rPr lang="da-DK" dirty="0" err="1"/>
              <a:t>connections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7948855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CF07E3-F76E-0F0F-3647-D0719E85D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SSL </a:t>
            </a:r>
            <a:r>
              <a:rPr lang="da-DK" dirty="0" err="1"/>
              <a:t>methods</a:t>
            </a:r>
            <a:br>
              <a:rPr lang="da-DK" dirty="0"/>
            </a:br>
            <a:r>
              <a:rPr lang="da-DK" sz="2000" dirty="0"/>
              <a:t>TS2Vec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1AC693D-D7BC-A116-6919-66A3D3E85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Overlapping series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encoded</a:t>
            </a:r>
            <a:r>
              <a:rPr lang="da-DK" dirty="0"/>
              <a:t> – same segment is </a:t>
            </a:r>
            <a:r>
              <a:rPr lang="da-DK" dirty="0" err="1"/>
              <a:t>viewed</a:t>
            </a:r>
            <a:r>
              <a:rPr lang="da-DK" dirty="0"/>
              <a:t> </a:t>
            </a:r>
            <a:r>
              <a:rPr lang="da-DK" dirty="0" err="1"/>
              <a:t>through</a:t>
            </a:r>
            <a:r>
              <a:rPr lang="da-DK" dirty="0"/>
              <a:t>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contexts</a:t>
            </a:r>
            <a:endParaRPr lang="da-DK" dirty="0"/>
          </a:p>
          <a:p>
            <a:r>
              <a:rPr lang="da-DK" dirty="0"/>
              <a:t>Augment latent </a:t>
            </a:r>
            <a:r>
              <a:rPr lang="da-DK" dirty="0" err="1"/>
              <a:t>representations</a:t>
            </a:r>
            <a:endParaRPr lang="da-DK" dirty="0"/>
          </a:p>
          <a:p>
            <a:r>
              <a:rPr lang="da-DK" dirty="0"/>
              <a:t>Temporal negatives: </a:t>
            </a:r>
            <a:r>
              <a:rPr lang="da-DK" dirty="0" err="1"/>
              <a:t>other</a:t>
            </a:r>
            <a:r>
              <a:rPr lang="da-DK" dirty="0"/>
              <a:t> timestamps of same series</a:t>
            </a:r>
          </a:p>
          <a:p>
            <a:r>
              <a:rPr lang="da-DK" dirty="0" err="1"/>
              <a:t>Instance</a:t>
            </a:r>
            <a:r>
              <a:rPr lang="da-DK" dirty="0"/>
              <a:t> negatives: </a:t>
            </a:r>
            <a:r>
              <a:rPr lang="da-DK" dirty="0" err="1"/>
              <a:t>other</a:t>
            </a:r>
            <a:r>
              <a:rPr lang="da-DK" dirty="0"/>
              <a:t> series in the batch at the same timestamp</a:t>
            </a:r>
          </a:p>
          <a:p>
            <a:r>
              <a:rPr lang="da-DK" dirty="0" err="1"/>
              <a:t>Hierarchical</a:t>
            </a:r>
            <a:r>
              <a:rPr lang="da-DK" dirty="0"/>
              <a:t> </a:t>
            </a:r>
            <a:r>
              <a:rPr lang="da-DK" dirty="0" err="1"/>
              <a:t>contrasting</a:t>
            </a:r>
            <a:r>
              <a:rPr lang="da-DK" dirty="0"/>
              <a:t>: </a:t>
            </a:r>
            <a:r>
              <a:rPr lang="da-DK" dirty="0" err="1"/>
              <a:t>progressively</a:t>
            </a:r>
            <a:r>
              <a:rPr lang="da-DK" dirty="0"/>
              <a:t> </a:t>
            </a:r>
            <a:r>
              <a:rPr lang="da-DK" dirty="0" err="1"/>
              <a:t>coarser</a:t>
            </a:r>
            <a:r>
              <a:rPr lang="da-DK" dirty="0"/>
              <a:t> </a:t>
            </a:r>
            <a:r>
              <a:rPr lang="da-DK" dirty="0" err="1"/>
              <a:t>maxpooling</a:t>
            </a:r>
            <a:r>
              <a:rPr lang="da-DK" dirty="0"/>
              <a:t> for </a:t>
            </a:r>
            <a:r>
              <a:rPr lang="da-DK" dirty="0" err="1"/>
              <a:t>loss</a:t>
            </a:r>
            <a:r>
              <a:rPr lang="da-DK" dirty="0"/>
              <a:t> </a:t>
            </a:r>
            <a:r>
              <a:rPr lang="da-DK" dirty="0" err="1"/>
              <a:t>calculation</a:t>
            </a:r>
            <a:endParaRPr lang="da-DK" dirty="0"/>
          </a:p>
          <a:p>
            <a:r>
              <a:rPr lang="da-DK" dirty="0" err="1"/>
              <a:t>Dilated</a:t>
            </a:r>
            <a:r>
              <a:rPr lang="da-DK" dirty="0"/>
              <a:t> CNN </a:t>
            </a:r>
            <a:r>
              <a:rPr lang="da-DK" dirty="0" err="1"/>
              <a:t>network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412574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489F15-B560-09B8-5E19-5EDD091D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SSL </a:t>
            </a:r>
            <a:r>
              <a:rPr lang="da-DK" dirty="0" err="1"/>
              <a:t>methods</a:t>
            </a:r>
            <a:br>
              <a:rPr lang="da-DK" dirty="0"/>
            </a:br>
            <a:r>
              <a:rPr lang="da-DK" sz="2200" dirty="0"/>
              <a:t>TF-C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1F9C9EC-A0BE-33F8-5BDB-E141499F8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273"/>
            <a:ext cx="10515600" cy="4351338"/>
          </a:xfrm>
        </p:spPr>
        <p:txBody>
          <a:bodyPr/>
          <a:lstStyle/>
          <a:p>
            <a:r>
              <a:rPr lang="da-DK" dirty="0"/>
              <a:t>Time and </a:t>
            </a:r>
            <a:r>
              <a:rPr lang="da-DK" dirty="0" err="1"/>
              <a:t>frequency</a:t>
            </a:r>
            <a:r>
              <a:rPr lang="da-DK" dirty="0"/>
              <a:t> </a:t>
            </a:r>
            <a:r>
              <a:rPr lang="da-DK" dirty="0" err="1"/>
              <a:t>representations</a:t>
            </a:r>
            <a:endParaRPr lang="da-DK" dirty="0"/>
          </a:p>
          <a:p>
            <a:r>
              <a:rPr lang="da-DK" dirty="0"/>
              <a:t>Augmentations on </a:t>
            </a:r>
            <a:r>
              <a:rPr lang="da-DK" dirty="0" err="1"/>
              <a:t>raw</a:t>
            </a:r>
            <a:r>
              <a:rPr lang="da-DK" dirty="0"/>
              <a:t> data</a:t>
            </a:r>
          </a:p>
          <a:p>
            <a:r>
              <a:rPr lang="da-DK" dirty="0"/>
              <a:t>Positives (1st </a:t>
            </a:r>
            <a:r>
              <a:rPr lang="da-DK" dirty="0" err="1"/>
              <a:t>level</a:t>
            </a:r>
            <a:r>
              <a:rPr lang="da-DK" dirty="0"/>
              <a:t>): </a:t>
            </a:r>
            <a:r>
              <a:rPr lang="da-DK" dirty="0" err="1"/>
              <a:t>augmented</a:t>
            </a:r>
            <a:r>
              <a:rPr lang="da-DK" dirty="0"/>
              <a:t> views</a:t>
            </a:r>
          </a:p>
          <a:p>
            <a:r>
              <a:rPr lang="da-DK" dirty="0"/>
              <a:t>Negatives (1st </a:t>
            </a:r>
            <a:r>
              <a:rPr lang="da-DK" dirty="0" err="1"/>
              <a:t>level</a:t>
            </a:r>
            <a:r>
              <a:rPr lang="da-DK" dirty="0"/>
              <a:t>): </a:t>
            </a:r>
            <a:r>
              <a:rPr lang="da-DK" dirty="0" err="1"/>
              <a:t>other</a:t>
            </a:r>
            <a:r>
              <a:rPr lang="da-DK" dirty="0"/>
              <a:t> series</a:t>
            </a:r>
          </a:p>
          <a:p>
            <a:r>
              <a:rPr lang="da-DK" dirty="0"/>
              <a:t>Positives (2nd </a:t>
            </a:r>
            <a:r>
              <a:rPr lang="da-DK" dirty="0" err="1"/>
              <a:t>level</a:t>
            </a:r>
            <a:r>
              <a:rPr lang="da-DK" dirty="0"/>
              <a:t>): </a:t>
            </a:r>
            <a:r>
              <a:rPr lang="da-DK" dirty="0" err="1"/>
              <a:t>other</a:t>
            </a:r>
            <a:r>
              <a:rPr lang="da-DK" dirty="0"/>
              <a:t> domain </a:t>
            </a:r>
            <a:r>
              <a:rPr lang="da-DK" dirty="0" err="1"/>
              <a:t>representation</a:t>
            </a:r>
            <a:endParaRPr lang="da-DK" dirty="0"/>
          </a:p>
          <a:p>
            <a:r>
              <a:rPr lang="da-DK" dirty="0"/>
              <a:t>Negatives (2nd </a:t>
            </a:r>
            <a:r>
              <a:rPr lang="da-DK" dirty="0" err="1"/>
              <a:t>level</a:t>
            </a:r>
            <a:r>
              <a:rPr lang="da-DK" dirty="0"/>
              <a:t>): augmentations</a:t>
            </a:r>
          </a:p>
          <a:p>
            <a:r>
              <a:rPr lang="da-DK" dirty="0"/>
              <a:t>Architecture: </a:t>
            </a:r>
            <a:r>
              <a:rPr lang="da-DK" dirty="0" err="1"/>
              <a:t>convolutional</a:t>
            </a:r>
            <a:r>
              <a:rPr lang="da-DK" dirty="0"/>
              <a:t> </a:t>
            </a:r>
            <a:r>
              <a:rPr lang="da-DK" dirty="0" err="1"/>
              <a:t>blocks</a:t>
            </a:r>
            <a:r>
              <a:rPr lang="da-DK" dirty="0"/>
              <a:t> and </a:t>
            </a:r>
            <a:r>
              <a:rPr lang="da-DK" dirty="0" err="1"/>
              <a:t>fully</a:t>
            </a:r>
            <a:r>
              <a:rPr lang="da-DK" dirty="0"/>
              <a:t> </a:t>
            </a:r>
            <a:r>
              <a:rPr lang="da-DK" dirty="0" err="1"/>
              <a:t>connected</a:t>
            </a:r>
            <a:r>
              <a:rPr lang="da-DK" dirty="0"/>
              <a:t> </a:t>
            </a:r>
            <a:r>
              <a:rPr lang="da-DK" dirty="0" err="1"/>
              <a:t>layers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287345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15B4B5-F35A-56E4-C1B8-D8B9CDF4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Datasets</a:t>
            </a:r>
          </a:p>
        </p:txBody>
      </p:sp>
      <p:graphicFrame>
        <p:nvGraphicFramePr>
          <p:cNvPr id="4" name="Datase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498873"/>
              </p:ext>
            </p:extLst>
          </p:nvPr>
        </p:nvGraphicFramePr>
        <p:xfrm>
          <a:off x="838200" y="1905000"/>
          <a:ext cx="10515600" cy="3048000"/>
        </p:xfrm>
        <a:graphic>
          <a:graphicData uri="http://schemas.openxmlformats.org/drawingml/2006/table">
            <a:tbl>
              <a:tblPr firstRow="1"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000">
                  <a:extLst>
                    <a:ext uri="{9D8B030D-6E8A-4147-A177-3AD203B41FA5}">
                      <a16:colId xmlns:a16="http://schemas.microsoft.com/office/drawing/2014/main" val="3378894743"/>
                    </a:ext>
                  </a:extLst>
                </a:gridCol>
                <a:gridCol w="825000">
                  <a:extLst>
                    <a:ext uri="{9D8B030D-6E8A-4147-A177-3AD203B41FA5}">
                      <a16:colId xmlns:a16="http://schemas.microsoft.com/office/drawing/2014/main" val="20099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315036549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Dataset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Source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Channels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Classes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Train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Val.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Test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FordA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Engine noise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3,601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–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1,320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Articulary Word Recognition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Mouth motions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9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275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–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300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Epilepsy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Acceleration during phys. act.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3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137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–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138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FD-A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Bearing vibration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3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8,184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2,728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2,728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FD-B</a:t>
                      </a:r>
                      <a:endParaRPr lang="en-US" sz="1600" dirty="0"/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Bearing vibration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3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60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21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13,559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838200" y="5299392"/>
            <a:ext cx="105156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 dirty="0"/>
              <a:t>Train, validation and test: number of series in the official splits. FD-A and FD-B: windows in the processed TF-C data. UCR/UEA datasets have no validation split; tuning uses cross-validation on the training set. The FD-A and FD-B validation files are not loaded by the TF-C code.</a:t>
            </a:r>
          </a:p>
        </p:txBody>
      </p:sp>
    </p:spTree>
    <p:extLst>
      <p:ext uri="{BB962C8B-B14F-4D97-AF65-F5344CB8AC3E}">
        <p14:creationId xmlns:p14="http://schemas.microsoft.com/office/powerpoint/2010/main" val="218414500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br>
              <a:rPr lang="en-US" dirty="0"/>
            </a:br>
            <a:r>
              <a:rPr lang="en-US" sz="2000" dirty="0"/>
              <a:t>Example waveforms from the training splits</a:t>
            </a:r>
          </a:p>
        </p:txBody>
      </p:sp>
      <p:pic>
        <p:nvPicPr>
          <p:cNvPr id="3" name="Waveforms FordA" descr="FordA: three training series per class overla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5120640" cy="2148840"/>
          </a:xfrm>
          <a:prstGeom prst="rect">
            <a:avLst/>
          </a:prstGeom>
        </p:spPr>
      </p:pic>
      <p:pic>
        <p:nvPicPr>
          <p:cNvPr id="4" name="Waveforms AWR" descr="AWR: three training series per class overlai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83080"/>
            <a:ext cx="5120640" cy="2148840"/>
          </a:xfrm>
          <a:prstGeom prst="rect">
            <a:avLst/>
          </a:prstGeom>
        </p:spPr>
      </p:pic>
      <p:pic>
        <p:nvPicPr>
          <p:cNvPr id="5" name="Waveforms Epilepsy" descr="Epilepsy: three training series per class overla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69080"/>
            <a:ext cx="5120640" cy="2148840"/>
          </a:xfrm>
          <a:prstGeom prst="rect">
            <a:avLst/>
          </a:prstGeom>
        </p:spPr>
      </p:pic>
      <p:pic>
        <p:nvPicPr>
          <p:cNvPr id="6" name="Waveforms FD-B" descr="FD-B: three training series per class overlai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4069080"/>
            <a:ext cx="51206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25CD9-22F1-551B-FCB4-FADBC53C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Experimental</a:t>
            </a:r>
            <a:r>
              <a:rPr lang="da-DK" dirty="0"/>
              <a:t> </a:t>
            </a:r>
            <a:r>
              <a:rPr lang="da-DK" dirty="0" err="1"/>
              <a:t>protocol</a:t>
            </a:r>
            <a:br>
              <a:rPr lang="da-DK" dirty="0"/>
            </a:br>
            <a:r>
              <a:rPr lang="da-DK" sz="2000" dirty="0"/>
              <a:t>Pipeline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1A93061-3DA4-AAC7-F7E0-53ED9EA37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1" name="Step Raw data"/>
          <p:cNvSpPr/>
          <p:nvPr/>
        </p:nvSpPr>
        <p:spPr>
          <a:xfrm>
            <a:off x="838200" y="4530328"/>
            <a:ext cx="1333500" cy="101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62626"/>
                </a:solidFill>
              </a:rPr>
              <a:t>Raw data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2171700" y="5038328"/>
            <a:ext cx="46482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13" name="Step Scaling"/>
          <p:cNvSpPr/>
          <p:nvPr/>
        </p:nvSpPr>
        <p:spPr>
          <a:xfrm>
            <a:off x="2636520" y="4530328"/>
            <a:ext cx="1333500" cy="101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62626"/>
                </a:solidFill>
              </a:rPr>
              <a:t>Scaling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3970020" y="5038328"/>
            <a:ext cx="46482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15" name="Step Encoding"/>
          <p:cNvSpPr/>
          <p:nvPr/>
        </p:nvSpPr>
        <p:spPr>
          <a:xfrm>
            <a:off x="4434840" y="4530328"/>
            <a:ext cx="1333500" cy="1016000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Encoding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5768340" y="5038328"/>
            <a:ext cx="46482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17" name="Step Scaling"/>
          <p:cNvSpPr/>
          <p:nvPr/>
        </p:nvSpPr>
        <p:spPr>
          <a:xfrm>
            <a:off x="6233160" y="4530328"/>
            <a:ext cx="1333500" cy="101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62626"/>
                </a:solidFill>
              </a:rPr>
              <a:t>Scaling</a:t>
            </a:r>
          </a:p>
        </p:txBody>
      </p:sp>
      <p:cxnSp>
        <p:nvCxnSpPr>
          <p:cNvPr id="18" name="Arrow 18"/>
          <p:cNvCxnSpPr/>
          <p:nvPr/>
        </p:nvCxnSpPr>
        <p:spPr>
          <a:xfrm>
            <a:off x="7566660" y="5038328"/>
            <a:ext cx="46482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19" name="Step Probing"/>
          <p:cNvSpPr/>
          <p:nvPr/>
        </p:nvSpPr>
        <p:spPr>
          <a:xfrm>
            <a:off x="8031480" y="4530328"/>
            <a:ext cx="1333500" cy="101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62626"/>
                </a:solidFill>
              </a:rPr>
              <a:t>Probing</a:t>
            </a:r>
          </a:p>
        </p:txBody>
      </p:sp>
      <p:sp>
        <p:nvSpPr>
          <p:cNvPr id="20" name="Step Accuracy"/>
          <p:cNvSpPr/>
          <p:nvPr/>
        </p:nvSpPr>
        <p:spPr>
          <a:xfrm>
            <a:off x="9829800" y="4174728"/>
            <a:ext cx="1524000" cy="711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56082"/>
                </a:solidFill>
              </a:rPr>
              <a:t>Accuracy</a:t>
            </a:r>
          </a:p>
        </p:txBody>
      </p:sp>
      <p:sp>
        <p:nvSpPr>
          <p:cNvPr id="21" name="Step F1-score"/>
          <p:cNvSpPr/>
          <p:nvPr/>
        </p:nvSpPr>
        <p:spPr>
          <a:xfrm>
            <a:off x="9829800" y="5190728"/>
            <a:ext cx="1524000" cy="711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56082"/>
                </a:solidFill>
              </a:rPr>
              <a:t>F1-score</a:t>
            </a:r>
          </a:p>
        </p:txBody>
      </p:sp>
      <p:cxnSp>
        <p:nvCxnSpPr>
          <p:cNvPr id="22" name="Arrow 22"/>
          <p:cNvCxnSpPr/>
          <p:nvPr/>
        </p:nvCxnSpPr>
        <p:spPr>
          <a:xfrm flipV="1">
            <a:off x="9364980" y="4530328"/>
            <a:ext cx="464820" cy="508000"/>
          </a:xfrm>
          <a:prstGeom prst="bentConnector3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cxnSp>
        <p:nvCxnSpPr>
          <p:cNvPr id="23" name="Arrow 23"/>
          <p:cNvCxnSpPr/>
          <p:nvPr/>
        </p:nvCxnSpPr>
        <p:spPr>
          <a:xfrm>
            <a:off x="9364980" y="5038328"/>
            <a:ext cx="464820" cy="508000"/>
          </a:xfrm>
          <a:prstGeom prst="bentConnector3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30" name="Baseline Raw data"/>
          <p:cNvSpPr/>
          <p:nvPr/>
        </p:nvSpPr>
        <p:spPr>
          <a:xfrm>
            <a:off x="838200" y="2225477"/>
            <a:ext cx="1333500" cy="101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62626"/>
                </a:solidFill>
              </a:rPr>
              <a:t>Raw data</a:t>
            </a:r>
          </a:p>
        </p:txBody>
      </p:sp>
      <p:cxnSp>
        <p:nvCxnSpPr>
          <p:cNvPr id="31" name="Baseline Arrow 1"/>
          <p:cNvCxnSpPr/>
          <p:nvPr/>
        </p:nvCxnSpPr>
        <p:spPr>
          <a:xfrm>
            <a:off x="2171700" y="2733477"/>
            <a:ext cx="46482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32" name="Baseline Scaling"/>
          <p:cNvSpPr/>
          <p:nvPr/>
        </p:nvSpPr>
        <p:spPr>
          <a:xfrm>
            <a:off x="2636520" y="2225477"/>
            <a:ext cx="1333500" cy="101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62626"/>
                </a:solidFill>
              </a:rPr>
              <a:t>Scaling</a:t>
            </a:r>
          </a:p>
        </p:txBody>
      </p:sp>
      <p:cxnSp>
        <p:nvCxnSpPr>
          <p:cNvPr id="33" name="Baseline Arrow 2"/>
          <p:cNvCxnSpPr/>
          <p:nvPr/>
        </p:nvCxnSpPr>
        <p:spPr>
          <a:xfrm>
            <a:off x="3970020" y="2733477"/>
            <a:ext cx="4061460" cy="0"/>
          </a:xfrm>
          <a:prstGeom prst="straightConnector1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34" name="Baseline Probing"/>
          <p:cNvSpPr/>
          <p:nvPr/>
        </p:nvSpPr>
        <p:spPr>
          <a:xfrm>
            <a:off x="8031480" y="2225477"/>
            <a:ext cx="1333500" cy="101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62626"/>
                </a:solidFill>
              </a:rPr>
              <a:t>Probing</a:t>
            </a:r>
          </a:p>
        </p:txBody>
      </p:sp>
      <p:sp>
        <p:nvSpPr>
          <p:cNvPr id="40" name="Baseline Accuracy"/>
          <p:cNvSpPr/>
          <p:nvPr/>
        </p:nvSpPr>
        <p:spPr>
          <a:xfrm>
            <a:off x="9829800" y="1863328"/>
            <a:ext cx="1524000" cy="711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56082"/>
                </a:solidFill>
              </a:rPr>
              <a:t>Accuracy</a:t>
            </a:r>
          </a:p>
        </p:txBody>
      </p:sp>
      <p:sp>
        <p:nvSpPr>
          <p:cNvPr id="41" name="Baseline F1-score"/>
          <p:cNvSpPr/>
          <p:nvPr/>
        </p:nvSpPr>
        <p:spPr>
          <a:xfrm>
            <a:off x="9829800" y="2879328"/>
            <a:ext cx="1524000" cy="711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56082"/>
                </a:solidFill>
              </a:rPr>
              <a:t>F1-score</a:t>
            </a:r>
          </a:p>
        </p:txBody>
      </p:sp>
      <p:cxnSp>
        <p:nvCxnSpPr>
          <p:cNvPr id="42" name="Baseline Arrow 3"/>
          <p:cNvCxnSpPr/>
          <p:nvPr/>
        </p:nvCxnSpPr>
        <p:spPr>
          <a:xfrm flipV="1">
            <a:off x="9364980" y="2218928"/>
            <a:ext cx="464820" cy="508000"/>
          </a:xfrm>
          <a:prstGeom prst="bentConnector3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cxnSp>
        <p:nvCxnSpPr>
          <p:cNvPr id="43" name="Baseline Arrow 4"/>
          <p:cNvCxnSpPr/>
          <p:nvPr/>
        </p:nvCxnSpPr>
        <p:spPr>
          <a:xfrm>
            <a:off x="9364980" y="2726928"/>
            <a:ext cx="464820" cy="508000"/>
          </a:xfrm>
          <a:prstGeom prst="bentConnector3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5162962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0EC4-26F8-70AB-EA1D-95FB9787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3FDF9-E30F-E32D-32A9-C53CF64A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Experimental</a:t>
            </a:r>
            <a:r>
              <a:rPr lang="da-DK" dirty="0"/>
              <a:t> </a:t>
            </a:r>
            <a:r>
              <a:rPr lang="da-DK" dirty="0" err="1"/>
              <a:t>protocol</a:t>
            </a:r>
            <a:br>
              <a:rPr lang="da-DK" dirty="0"/>
            </a:br>
            <a:r>
              <a:rPr lang="da-DK" sz="2000" dirty="0" err="1"/>
              <a:t>Specifications</a:t>
            </a:r>
            <a:endParaRPr lang="da-DK" sz="2000" dirty="0"/>
          </a:p>
        </p:txBody>
      </p:sp>
      <p:graphicFrame>
        <p:nvGraphicFramePr>
          <p:cNvPr id="4" name="Setu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344565"/>
              </p:ext>
            </p:extLst>
          </p:nvPr>
        </p:nvGraphicFramePr>
        <p:xfrm>
          <a:off x="838200" y="1905000"/>
          <a:ext cx="10515600" cy="4267200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rgbClr val="1A1A1A"/>
                          </a:solidFill>
                        </a:rPr>
                        <a:t>Scaling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>
                          <a:solidFill>
                            <a:srgbClr val="1A1A1A"/>
                          </a:solidFill>
                        </a:rPr>
                        <a:t>z-scaling, fitted on training data, per channels and representations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rgbClr val="1A1A1A"/>
                          </a:solidFill>
                        </a:rPr>
                        <a:t>Metrics</a:t>
                      </a:r>
                    </a:p>
                  </a:txBody>
                  <a:tcPr marL="228600" marT="114300" marB="1143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>
                          <a:solidFill>
                            <a:srgbClr val="1A1A1A"/>
                          </a:solidFill>
                        </a:rPr>
                        <a:t>Mean and std. of accuracy and macro F1-score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rgbClr val="1A1A1A"/>
                          </a:solidFill>
                        </a:rPr>
                        <a:t>Validation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>
                          <a:solidFill>
                            <a:srgbClr val="1A1A1A"/>
                          </a:solidFill>
                        </a:rPr>
                        <a:t>5-fold stratified CV for hyperparameter tuning (unless dataset doesn’t allow)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rgbClr val="1A1A1A"/>
                          </a:solidFill>
                        </a:rPr>
                        <a:t>Labels</a:t>
                      </a:r>
                    </a:p>
                  </a:txBody>
                  <a:tcPr marL="228600"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>
                          <a:solidFill>
                            <a:srgbClr val="1A1A1A"/>
                          </a:solidFill>
                        </a:rPr>
                        <a:t>10% and 100% of labels in training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rgbClr val="1A1A1A"/>
                          </a:solidFill>
                        </a:rPr>
                        <a:t>Seeds (three)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>
                          <a:solidFill>
                            <a:srgbClr val="1A1A1A"/>
                          </a:solidFill>
                        </a:rPr>
                        <a:t>Folds, 10% label sets, initialisation, corruption pattern, probe’s random state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rgbClr val="1A1A1A"/>
                          </a:solidFill>
                        </a:rPr>
                        <a:t>SSL training</a:t>
                      </a:r>
                    </a:p>
                  </a:txBody>
                  <a:tcPr marL="228600"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>
                          <a:solidFill>
                            <a:srgbClr val="1A1A1A"/>
                          </a:solidFill>
                        </a:rPr>
                        <a:t>All training inputs, published default settings, frozen encoder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rgbClr val="1A1A1A"/>
                          </a:solidFill>
                        </a:rPr>
                        <a:t>Probes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>
                          <a:solidFill>
                            <a:srgbClr val="1A1A1A"/>
                          </a:solidFill>
                        </a:rPr>
                        <a:t>Logistic regression + RBF-SVM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rgbClr val="1A1A1A"/>
                          </a:solidFill>
                        </a:rPr>
                        <a:t>Testing</a:t>
                      </a:r>
                    </a:p>
                  </a:txBody>
                  <a:tcPr marL="228600"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>
                          <a:solidFill>
                            <a:srgbClr val="1A1A1A"/>
                          </a:solidFill>
                        </a:rPr>
                        <a:t>Only once</a:t>
                      </a:r>
                    </a:p>
                  </a:txBody>
                  <a:tcPr marT="114300" marB="1143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98037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6DD432-C2F9-8ADA-57A7-2C436021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Part B</a:t>
            </a:r>
            <a:br>
              <a:rPr lang="da-DK" dirty="0"/>
            </a:br>
            <a:r>
              <a:rPr lang="da-DK" sz="2000" dirty="0"/>
              <a:t>Initial tests on raw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98AEFF-9C81-C28C-B71F-5FA4B0C0F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00000"/>
            <a:ext cx="10515600" cy="1300000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sz="1500" dirty="0"/>
              <a:t>Logistic regression fails on FordA (chance) and is weak on Epilepsy: the waveforms are not aligned in time.</a:t>
            </a:r>
          </a:p>
          <a:p>
            <a:pPr>
              <a:spcBef>
                <a:spcPts val="600"/>
              </a:spcBef>
            </a:pPr>
            <a:r>
              <a:rPr lang="en-US" sz="1500" dirty="0"/>
              <a:t>The RBF-SVM is strong with all label sets.</a:t>
            </a:r>
          </a:p>
          <a:p>
            <a:pPr>
              <a:spcBef>
                <a:spcPts val="600"/>
              </a:spcBef>
            </a:pPr>
            <a:r>
              <a:rPr lang="en-US" sz="1500" dirty="0"/>
              <a:t>AWR is near-saturated for both probes.</a:t>
            </a:r>
          </a:p>
          <a:p>
            <a:pPr>
              <a:spcBef>
                <a:spcPts val="600"/>
              </a:spcBef>
            </a:pPr>
            <a:r>
              <a:rPr lang="en-US" sz="1500" dirty="0"/>
              <a:t>AWR at 10% has about one label per class, so no tuning is possible and the sklearn defaults are used. The RBF-SVM then reaches only 0.23.</a:t>
            </a:r>
          </a:p>
        </p:txBody>
      </p:sp>
      <p:graphicFrame>
        <p:nvGraphicFramePr>
          <p:cNvPr id="10" name="Part B table"/>
          <p:cNvGraphicFramePr>
            <a:graphicFrameLocks noGrp="1"/>
          </p:cNvGraphicFramePr>
          <p:nvPr/>
        </p:nvGraphicFramePr>
        <p:xfrm>
          <a:off x="838200" y="1810688"/>
          <a:ext cx="10515600" cy="2800000"/>
        </p:xfrm>
        <a:graphic>
          <a:graphicData uri="http://schemas.openxmlformats.org/drawingml/2006/table">
            <a:tbl>
              <a:tblPr first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Dataset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Probe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Accuracy 100%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Macro-F1 100%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Accuracy 10%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Macro-F1 10%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FordA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Logistic regression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0.492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0.491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0.506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0.506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0.828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0.828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0.669 ± 0.013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0.667 ± 0.014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AWR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Logistic regression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0.973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0.973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0.828 ± 0.022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0.820 ± 0.027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0.980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0.980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0.230 ± 0.131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0.218 ± 0.158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Epilepsy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Logistic regression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0.633 ± 0.017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0.600 ± 0.018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0.440 ± 0.071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0.374 ± 0.088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0.848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0.837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0.514 ± 0.101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0.480 ± 0.122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able note"/>
          <p:cNvSpPr txBox="1"/>
          <p:nvPr/>
        </p:nvSpPr>
        <p:spPr>
          <a:xfrm>
            <a:off x="838200" y="4670688"/>
            <a:ext cx="10515600" cy="300000"/>
          </a:xfrm>
          <a:prstGeom prst="rect">
            <a:avLst/>
          </a:prstGeom>
          <a:noFill/>
        </p:spPr>
        <p:txBody>
          <a:bodyPr wrap="square" lIns="72000" tIns="0" rIns="0" bIns="0" rtlCol="0">
            <a:noAutofit/>
          </a:bodyPr>
          <a:lstStyle/>
          <a:p>
            <a:r>
              <a:rPr lang="en-US" sz="1200" i="1" dirty="0">
                <a:solidFill>
                  <a:srgbClr val="595959"/>
                </a:solidFill>
              </a:rPr>
              <a:t>Raw signal, standardised per channel and flattened. Mean ± sd over 3 seeds. Tuned by stratified CV on training labels only.</a:t>
            </a:r>
          </a:p>
        </p:txBody>
      </p:sp>
    </p:spTree>
    <p:extLst>
      <p:ext uri="{BB962C8B-B14F-4D97-AF65-F5344CB8AC3E}">
        <p14:creationId xmlns:p14="http://schemas.microsoft.com/office/powerpoint/2010/main" val="50031753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D91CE-0B02-90EF-F4B0-6B9C625D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Part C</a:t>
            </a:r>
            <a:br>
              <a:rPr lang="da-DK" dirty="0"/>
            </a:br>
            <a:r>
              <a:rPr lang="da-DK" sz="2000" dirty="0"/>
              <a:t>Representations from T-Loss and TS2Vec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A762318-5499-E39E-91E9-9FC6CE168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00" y="1770688"/>
            <a:ext cx="2854188" cy="43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400" dirty="0"/>
              <a:t>With logistic regression, SSL features beat even the raw RBF-SVM on FordA and Epilepsy.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No gain on AWR: the raw signal already reaches 0.97–0.98.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The advantage holds with 10% labels on FordA and Epilepsy.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T-Loss and TS2Vec are on par within the seed spread.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Labels are worth something for both raw and SSL features.</a:t>
            </a:r>
          </a:p>
        </p:txBody>
      </p:sp>
      <p:graphicFrame>
        <p:nvGraphicFramePr>
          <p:cNvPr id="10" name="Part C table"/>
          <p:cNvGraphicFramePr>
            <a:graphicFrameLocks noGrp="1"/>
          </p:cNvGraphicFramePr>
          <p:nvPr/>
        </p:nvGraphicFramePr>
        <p:xfrm>
          <a:off x="838200" y="1770688"/>
          <a:ext cx="8170000" cy="4476880"/>
        </p:xfrm>
        <a:graphic>
          <a:graphicData uri="http://schemas.openxmlformats.org/drawingml/2006/table">
            <a:tbl>
              <a:tblPr firstRow="1"/>
              <a:tblGrid>
                <a:gridCol w="1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Dataset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Model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Accuracy 100%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Macro-F1 100%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Accuracy 10%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Macro-F1 10%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FordA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LogReg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0.492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0.491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0.506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0.506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0.828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0.828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0.669 ± 0.013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0.667 ± 0.014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T-Loss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0.923 ± 0.010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0.923 ± 0.010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0.910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0.910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TS2Vec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0.927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0.927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0.912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0.912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AWR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LogReg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0.973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0.973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0.828 ± 0.022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0.820 ± 0.027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0.980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0.980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0.230 ± 0.131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0.218 ± 0.158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T-Loss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0.966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0.965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0.814 ± 0.051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0.801 ± 0.061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TS2Vec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0.983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0.983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0.838 ± 0.027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0.825 ± 0.027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Epilepsy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LogReg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0.633 ± 0.017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0.600 ± 0.018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0.440 ± 0.071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0.374 ± 0.088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0.848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0.837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0.514 ± 0.101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0.480 ± 0.122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T-Loss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0.969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0.968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0.744 ± 0.023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0.741 ± 0.025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TS2Vec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0.966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0.965 ± 0.009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0.737 ± 0.049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0.734 ± 0.047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" name="Table note"/>
          <p:cNvSpPr txBox="1"/>
          <p:nvPr/>
        </p:nvSpPr>
        <p:spPr>
          <a:xfrm>
            <a:off x="838200" y="6240688"/>
            <a:ext cx="10515600" cy="260000"/>
          </a:xfrm>
          <a:prstGeom prst="rect">
            <a:avLst/>
          </a:prstGeom>
          <a:noFill/>
        </p:spPr>
        <p:txBody>
          <a:bodyPr wrap="square" lIns="72000" tIns="0" rIns="0" bIns="0" rtlCol="0">
            <a:noAutofit/>
          </a:bodyPr>
          <a:lstStyle/>
          <a:p>
            <a:r>
              <a:rPr lang="en-US" sz="1200" i="1" dirty="0">
                <a:solidFill>
                  <a:srgbClr val="595959"/>
                </a:solidFill>
              </a:rPr>
              <a:t>SSL rows: frozen encoders, 320-d, logistic regression (principal probe) and RBF-SVM on SSL features in the report. Mean ± sd over 3 seeds.</a:t>
            </a:r>
          </a:p>
        </p:txBody>
      </p:sp>
    </p:spTree>
    <p:extLst>
      <p:ext uri="{BB962C8B-B14F-4D97-AF65-F5344CB8AC3E}">
        <p14:creationId xmlns:p14="http://schemas.microsoft.com/office/powerpoint/2010/main" val="324675560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063438-096A-EDB3-1FEE-4C0CD58A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Part D</a:t>
            </a:r>
            <a:br>
              <a:rPr lang="da-DK" dirty="0"/>
            </a:br>
            <a:r>
              <a:rPr lang="da-DK" sz="2000" dirty="0"/>
              <a:t>Robustness to sensor dropout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DC5AA0E-A855-877F-F279-9ABE983B3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00" y="1770688"/>
            <a:ext cx="2095600" cy="43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400" dirty="0"/>
              <a:t>Every drop is small (≤ 0.04) and within the seed spread.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SSL features drop about as much as the raw signal, but keep a far higher accuracy on FordA and Epilepsy.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FordA raw LogReg: +0.014 is noise at chance level.</a:t>
            </a:r>
          </a:p>
        </p:txBody>
      </p:sp>
      <p:graphicFrame>
        <p:nvGraphicFramePr>
          <p:cNvPr id="10" name="Part D table"/>
          <p:cNvGraphicFramePr>
            <a:graphicFrameLocks noGrp="1"/>
          </p:cNvGraphicFramePr>
          <p:nvPr/>
        </p:nvGraphicFramePr>
        <p:xfrm>
          <a:off x="838200" y="1770688"/>
          <a:ext cx="8170000" cy="4476880"/>
        </p:xfrm>
        <a:graphic>
          <a:graphicData uri="http://schemas.openxmlformats.org/drawingml/2006/table">
            <a:tbl>
              <a:tblPr firstRow="1"/>
              <a:tblGrid>
                <a:gridCol w="1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Dataset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Model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Clean acc.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Corrupted acc.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Δ accuracy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Δ macro-F1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FordA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LogReg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0.492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0.506 ± 0.013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+0.014 ± 0.010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+0.015 ± 0.010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0.828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0.806 ± 0.004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−0.022 ± 0.004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−0.023 ± 0.004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T-Loss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0.923 ± 0.010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0.894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−0.029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−0.029 ± 0.006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TS2Vec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0.927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0.900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−0.028 ± 0.012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−0.028 ± 0.012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AWR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LogReg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0.973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0.963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−0.010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−0.010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0.980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0.970 ± 0.007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−0.010 ± 0.007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−0.010 ± 0.007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T-Loss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0.966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0.951 ± 0.016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−0.014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−0.014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TS2Vec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0.983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0.961 ± 0.010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−0.022 ± 0.013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−0.022 ± 0.014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Epilepsy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LogReg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0.633 ± 0.017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0.597 ± 0.033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−0.036 ± 0.038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−0.028 ± 0.040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Raw, RBF-SVM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0.848 ± 0.000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0.812 ± 0.013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−0.036 ± 0.013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−0.031 ± 0.013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T-Loss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0.969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0.940 ± 0.023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−0.029 ± 0.019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−0.028 ± 0.019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TS2Vec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0.966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0.952 ± 0.018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−0.014 ± 0.013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−0.013 ± 0.011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" name="Table note"/>
          <p:cNvSpPr txBox="1"/>
          <p:nvPr/>
        </p:nvSpPr>
        <p:spPr>
          <a:xfrm>
            <a:off x="838200" y="6240688"/>
            <a:ext cx="10515600" cy="260000"/>
          </a:xfrm>
          <a:prstGeom prst="rect">
            <a:avLst/>
          </a:prstGeom>
          <a:noFill/>
        </p:spPr>
        <p:txBody>
          <a:bodyPr wrap="square" lIns="72000" tIns="0" rIns="0" bIns="0" rtlCol="0">
            <a:noAutofit/>
          </a:bodyPr>
          <a:lstStyle/>
          <a:p>
            <a:r>
              <a:rPr lang="en-US" sz="1200" i="1" dirty="0">
                <a:solidFill>
                  <a:srgbClr val="595959"/>
                </a:solidFill>
              </a:rPr>
              <a:t>100%-label models. One contiguous 20% gap per test series, all channels, training-mean fill. Mean ± sd over 3 seeds.</a:t>
            </a:r>
          </a:p>
        </p:txBody>
      </p:sp>
    </p:spTree>
    <p:extLst>
      <p:ext uri="{BB962C8B-B14F-4D97-AF65-F5344CB8AC3E}">
        <p14:creationId xmlns:p14="http://schemas.microsoft.com/office/powerpoint/2010/main" val="144759077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026A67-C9A8-B9E6-BA58-3D096318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Part E</a:t>
            </a:r>
            <a:br>
              <a:rPr lang="da-DK" dirty="0"/>
            </a:br>
            <a:r>
              <a:rPr lang="da-DK" sz="2000" dirty="0"/>
              <a:t>TS2Vec masking ablation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18758FC-A4AB-1FDF-97DE-6E5C02E16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0000"/>
            <a:ext cx="10515600" cy="17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No measurable effect: clean, corrupted and Δ all differ by ≤ 0.003, against a seed spread of about 0.01.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Continuous masking does not make TS2Vec more robust to a contiguous gap at test time.</a:t>
            </a:r>
          </a:p>
        </p:txBody>
      </p:sp>
      <p:graphicFrame>
        <p:nvGraphicFramePr>
          <p:cNvPr id="10" name="Part E table"/>
          <p:cNvGraphicFramePr>
            <a:graphicFrameLocks noGrp="1"/>
          </p:cNvGraphicFramePr>
          <p:nvPr/>
        </p:nvGraphicFramePr>
        <p:xfrm>
          <a:off x="838200" y="1840688"/>
          <a:ext cx="10515600" cy="2200000"/>
        </p:xfrm>
        <a:graphic>
          <a:graphicData uri="http://schemas.openxmlformats.org/drawingml/2006/table">
            <a:tbl>
              <a:tblPr firstRow="1"/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Metric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Masking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Clean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Corrupted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Δ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Accuracy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Binomial (default)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0.927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0.900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−0.028 ± 0.012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Continuous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0.928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0.897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−0.031 ± 0.009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Macro-F1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Binomial (default)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0.927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0.900 ± 0.005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−0.028 ± 0.012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Continuous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0.928 ± 0.008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0.897 ± 0.003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−0.031 ± 0.009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able note"/>
          <p:cNvSpPr txBox="1"/>
          <p:nvPr/>
        </p:nvSpPr>
        <p:spPr>
          <a:xfrm>
            <a:off x="838200" y="4100688"/>
            <a:ext cx="10515600" cy="300000"/>
          </a:xfrm>
          <a:prstGeom prst="rect">
            <a:avLst/>
          </a:prstGeom>
          <a:noFill/>
        </p:spPr>
        <p:txBody>
          <a:bodyPr wrap="square" lIns="72000" tIns="0" rIns="0" bIns="0" rtlCol="0">
            <a:noAutofit/>
          </a:bodyPr>
          <a:lstStyle/>
          <a:p>
            <a:r>
              <a:rPr lang="en-US" sz="1200" i="1" dirty="0">
                <a:solidFill>
                  <a:srgbClr val="595959"/>
                </a:solidFill>
              </a:rPr>
              <a:t>FordA, logistic regression, 100% labels, 3 seeds. Same encoder, 600 iterations, seeds and corrupted test sets. Only the training mask differs.</a:t>
            </a:r>
          </a:p>
        </p:txBody>
      </p:sp>
    </p:spTree>
    <p:extLst>
      <p:ext uri="{BB962C8B-B14F-4D97-AF65-F5344CB8AC3E}">
        <p14:creationId xmlns:p14="http://schemas.microsoft.com/office/powerpoint/2010/main" val="225902899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38CCB-FF68-06CB-87E8-89614E03F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F</a:t>
            </a:r>
            <a:br>
              <a:rPr lang="en-US" dirty="0"/>
            </a:br>
            <a:r>
              <a:rPr lang="en-US" sz="2000" dirty="0"/>
              <a:t>TF-C for transfer learning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AD4277D-350D-E260-7A02-C758CA366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70688"/>
            <a:ext cx="10515600" cy="29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Released code run unchanged: pretrain on 640 of 8,184 FD-A windows, fine-tune on 60 FD-B windows, test on 13,559.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The model predicts one class for every test window: 45.5% is that class's share of the test set.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Cause: the encoders collapse in pretraining. The loss settles at 8.18, its value when all embeddings are identical.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Shows the released code fails on this task and not that the paper's result or method is wrong.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Others have reported collapse, </a:t>
            </a:r>
            <a:r>
              <a:rPr lang="en-US" sz="1600" dirty="0" err="1"/>
              <a:t>unstability</a:t>
            </a:r>
            <a:r>
              <a:rPr lang="en-US" sz="1600" dirty="0"/>
              <a:t>, and unsuccessful </a:t>
            </a:r>
            <a:r>
              <a:rPr lang="en-US" sz="1600" dirty="0" err="1"/>
              <a:t>attemps</a:t>
            </a:r>
            <a:r>
              <a:rPr lang="en-US" sz="1600" dirty="0"/>
              <a:t> at recreating the results.</a:t>
            </a:r>
          </a:p>
        </p:txBody>
      </p:sp>
      <p:graphicFrame>
        <p:nvGraphicFramePr>
          <p:cNvPr id="10" name="Part F table"/>
          <p:cNvGraphicFramePr>
            <a:graphicFrameLocks noGrp="1"/>
          </p:cNvGraphicFramePr>
          <p:nvPr/>
        </p:nvGraphicFramePr>
        <p:xfrm>
          <a:off x="838200" y="1840688"/>
          <a:ext cx="10515600" cy="1380000"/>
        </p:xfrm>
        <a:graphic>
          <a:graphicData uri="http://schemas.openxmlformats.org/drawingml/2006/table">
            <a:tbl>
              <a:tblPr firstRow="1"/>
              <a:tblGrid>
                <a:gridCol w="5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Run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Accuracy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Macro-F1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This run (FD-B test, seed 42)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0.455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0.209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TF-C supplement, Table 5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0.893 ± 0.038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0.916 ± 0.083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44079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7BC03-6479-038C-EABD-F683E8A6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66014-5EC4-CB71-0254-29ED2F17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Limitations</a:t>
            </a:r>
          </a:p>
        </p:txBody>
      </p:sp>
      <p:graphicFrame>
        <p:nvGraphicFramePr>
          <p:cNvPr id="4" name="Limitations Table"/>
          <p:cNvGraphicFramePr>
            <a:graphicFrameLocks noGrp="1"/>
          </p:cNvGraphicFramePr>
          <p:nvPr/>
        </p:nvGraphicFramePr>
        <p:xfrm>
          <a:off x="838200" y="1879600"/>
          <a:ext cx="10515600" cy="3810000"/>
        </p:xfrm>
        <a:graphic>
          <a:graphicData uri="http://schemas.openxmlformats.org/drawingml/2006/table">
            <a:tbl>
              <a:tblPr firstRow="1"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Area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Limitation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Seeds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Only three seeds: small differences in results will likely not be significant.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Datasets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Datasets differ in size, channels, lengths, classes, and structure, so no single characteristic can be identified as the cause of the results.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Corruption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Only one corruption type and convention were used.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AWR, 10% labels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Results are based on an untuned model.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TF-C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Not run with the 2022 library version.</a:t>
                      </a:r>
                    </a:p>
                  </a:txBody>
                  <a:tcPr marT="91440" marB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39617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46033-93E5-2AF7-56EF-25309B5E2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Conclusions</a:t>
            </a:r>
            <a:endParaRPr lang="da-DK" dirty="0"/>
          </a:p>
        </p:txBody>
      </p:sp>
      <p:graphicFrame>
        <p:nvGraphicFramePr>
          <p:cNvPr id="4" name="Conclus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078841"/>
              </p:ext>
            </p:extLst>
          </p:nvPr>
        </p:nvGraphicFramePr>
        <p:xfrm>
          <a:off x="838200" y="1905000"/>
          <a:ext cx="10515600" cy="3657600"/>
        </p:xfrm>
        <a:graphic>
          <a:graphicData uri="http://schemas.openxmlformats.org/drawingml/2006/table">
            <a:tbl>
              <a:tblPr/>
              <a:tblGrid>
                <a:gridCol w="252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9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rPr lang="da-DK" sz="1800" b="1" dirty="0">
                          <a:solidFill>
                            <a:srgbClr val="1A1A1A"/>
                          </a:solidFill>
                        </a:rPr>
                        <a:t>Advantages of SSL</a:t>
                      </a:r>
                    </a:p>
                  </a:txBody>
                  <a:tcPr marT="137160" marB="13716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/>
                        <a:buChar char="•"/>
                      </a:pPr>
                      <a:r>
                        <a:rPr lang="da-DK" sz="1800" dirty="0">
                          <a:solidFill>
                            <a:srgbClr val="1A1A1A"/>
                          </a:solidFill>
                        </a:rPr>
                        <a:t>Representations can improve results when classification benefits from non‑linearity.</a:t>
                      </a:r>
                    </a:p>
                    <a:p>
                      <a:pPr marL="228600" indent="-228600">
                        <a:spcBef>
                          <a:spcPts val="400"/>
                        </a:spcBef>
                        <a:buFont typeface="Arial"/>
                        <a:buChar char="•"/>
                      </a:pPr>
                      <a:r>
                        <a:rPr lang="da-DK" sz="1800" dirty="0">
                          <a:solidFill>
                            <a:srgbClr val="1A1A1A"/>
                          </a:solidFill>
                        </a:rPr>
                        <a:t>Improvement stays in sparsely labelled sets.</a:t>
                      </a:r>
                    </a:p>
                  </a:txBody>
                  <a:tcPr marT="137160" marB="13716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rgbClr val="1A1A1A"/>
                          </a:solidFill>
                        </a:rPr>
                        <a:t>Disadvantages</a:t>
                      </a:r>
                      <a:r>
                        <a:rPr lang="da-DK" sz="1800" b="1" dirty="0">
                          <a:solidFill>
                            <a:srgbClr val="1A1A1A"/>
                          </a:solidFill>
                        </a:rPr>
                        <a:t> of SSL</a:t>
                      </a:r>
                    </a:p>
                  </a:txBody>
                  <a:tcPr marT="137160" marB="13716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/>
                        <a:buChar char="•"/>
                      </a:pPr>
                      <a:r>
                        <a:rPr lang="da-DK" sz="1800" dirty="0">
                          <a:solidFill>
                            <a:srgbClr val="1A1A1A"/>
                          </a:solidFill>
                        </a:rPr>
                        <a:t>Usefulness depends on size, number of classes, and structure.</a:t>
                      </a:r>
                    </a:p>
                    <a:p>
                      <a:pPr marL="228600" indent="-228600">
                        <a:spcBef>
                          <a:spcPts val="400"/>
                        </a:spcBef>
                        <a:buFont typeface="Arial"/>
                        <a:buChar char="•"/>
                      </a:pPr>
                      <a:r>
                        <a:rPr lang="da-DK" sz="1800" dirty="0">
                          <a:solidFill>
                            <a:srgbClr val="1A1A1A"/>
                          </a:solidFill>
                        </a:rPr>
                        <a:t>SSL is complex, time-consuming, and might collapse.</a:t>
                      </a:r>
                    </a:p>
                    <a:p>
                      <a:pPr marL="228600" indent="-228600">
                        <a:spcBef>
                          <a:spcPts val="400"/>
                        </a:spcBef>
                        <a:buFont typeface="Arial"/>
                        <a:buChar char="•"/>
                      </a:pPr>
                      <a:r>
                        <a:rPr lang="da-DK" sz="1800" dirty="0">
                          <a:solidFill>
                            <a:srgbClr val="1A1A1A"/>
                          </a:solidFill>
                        </a:rPr>
                        <a:t>Pretext task must facilitate meaningful representations.</a:t>
                      </a:r>
                    </a:p>
                  </a:txBody>
                  <a:tcPr marT="137160" marB="13716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lang="da-DK" sz="1800" b="1" dirty="0">
                          <a:solidFill>
                            <a:srgbClr val="1A1A1A"/>
                          </a:solidFill>
                        </a:rPr>
                        <a:t>Transfer learning</a:t>
                      </a:r>
                    </a:p>
                  </a:txBody>
                  <a:tcPr marT="137160" marB="13716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/>
                        <a:buChar char="•"/>
                      </a:pPr>
                      <a:r>
                        <a:rPr lang="da-DK" sz="1800" dirty="0">
                          <a:solidFill>
                            <a:srgbClr val="1A1A1A"/>
                          </a:solidFill>
                        </a:rPr>
                        <a:t>TF-C training collapsed, transfer learning cannot be evaluated.</a:t>
                      </a:r>
                    </a:p>
                  </a:txBody>
                  <a:tcPr marT="137160" marB="13716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34910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F</a:t>
            </a:r>
            <a:br>
              <a:rPr lang="en-US" dirty="0"/>
            </a:br>
            <a:r>
              <a:rPr lang="en-US" sz="2000" dirty="0"/>
              <a:t>Execution record</a:t>
            </a:r>
          </a:p>
        </p:txBody>
      </p:sp>
      <p:graphicFrame>
        <p:nvGraphicFramePr>
          <p:cNvPr id="10" name="Execution record table"/>
          <p:cNvGraphicFramePr>
            <a:graphicFrameLocks noGrp="1"/>
          </p:cNvGraphicFramePr>
          <p:nvPr/>
        </p:nvGraphicFramePr>
        <p:xfrm>
          <a:off x="841248" y="1737360"/>
          <a:ext cx="10515600" cy="3877800"/>
        </p:xfrm>
        <a:graphic>
          <a:graphicData uri="http://schemas.openxmlformats.org/drawingml/2006/table">
            <a:tbl>
              <a:tblPr first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Item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Value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Commands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python main.py --training_mode pre_train --pretrain_dataset FD_A --target_dataset FD_B --seed 42, then the same with --training_mode fine_tune_test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Checkout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TF-C commit 9667582, no tracked file modified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Environment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Python 3.13.11, PyTorch 2.11.0 (CUDA 12.8), NumPy 2.4.2, scikit-learn 1.8.0, Windows 11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582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Hardware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NVIDIA RTX 4500 Ada Generation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07305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Seed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42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64927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Data consumed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Pretraining: 640 FD-A windows. Fine-tuning: 60 FD-B windows. Testing: 13,559 FD-B windows, after each of 40 epochs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45428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Training time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Pretraining 180 s; fine-tuning and testing 249 s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1512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Added outside the checkout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np.float alias (removed in NumPy 1.24), directory links to the datasets, --logs_save_dir</a:t>
                      </a:r>
                    </a:p>
                  </a:txBody>
                  <a:tcPr marL="72000" marR="72000" marT="36000" marB="36000"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465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E17F4A-AB8A-4D8D-BB4C-2E76088A3C0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b5438d0-de58-4bf8-a170-eecf1b7fdd7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3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C5938109-F486-41EA-929F-D7DF65C5D6B1}">
  <ds:schemaRefs/>
</ds:datastoreItem>
</file>

<file path=customXml/itemProps2.xml><?xml version="1.0" encoding="utf-8"?>
<ds:datastoreItem xmlns:ds="http://schemas.openxmlformats.org/officeDocument/2006/customXml" ds:itemID="{386C9AF7-FC43-4772-BF6D-26FE95C56D62}">
  <ds:schemaRefs/>
</ds:datastoreItem>
</file>

<file path=customXml/itemProps3.xml><?xml version="1.0" encoding="utf-8"?>
<ds:datastoreItem xmlns:ds="http://schemas.openxmlformats.org/officeDocument/2006/customXml" ds:itemID="{B69ABF3A-B169-44F9-86AC-4E29FB2A2600}">
  <ds:schemaRefs/>
</ds:datastoreItem>
</file>

<file path=customXml/itemProps4.xml><?xml version="1.0" encoding="utf-8"?>
<ds:datastoreItem xmlns:ds="http://schemas.openxmlformats.org/officeDocument/2006/customXml" ds:itemID="{C60B9EDF-596D-4F67-B5E3-411D55B8E8F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Microsoft Office PowerPoint</Application>
  <PresentationFormat>Widescreen</PresentationFormat>
  <Paragraphs>390</Paragraphs>
  <Slides>17</Slides>
  <Notes>3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Assignment 4</vt:lpstr>
      <vt:lpstr>Purpose and plan</vt:lpstr>
      <vt:lpstr>SSL methods T-Loss</vt:lpstr>
      <vt:lpstr>SSL methods TS2Vec</vt:lpstr>
      <vt:lpstr>SSL methods TF-C</vt:lpstr>
      <vt:lpstr>Datasets</vt:lpstr>
      <vt:lpstr>Datasets Example waveforms from the training splits</vt:lpstr>
      <vt:lpstr>Experimental protocol Pipeline</vt:lpstr>
      <vt:lpstr>Experimental protocol Specifications</vt:lpstr>
      <vt:lpstr>Part B Initial tests on raw data</vt:lpstr>
      <vt:lpstr>Part C Representations from T-Loss and TS2Vec</vt:lpstr>
      <vt:lpstr>Part D Robustness to sensor dropout</vt:lpstr>
      <vt:lpstr>Part E TS2Vec masking ablation</vt:lpstr>
      <vt:lpstr>Part F TF-C for transfer learning</vt:lpstr>
      <vt:lpstr>Limitations</vt:lpstr>
      <vt:lpstr>Conclusions</vt:lpstr>
      <vt:lpstr>Part F Execution record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2025-12-19T09:06:10Z</dcterms:created>
  <dcterms:modified xsi:type="dcterms:W3CDTF">2026-10-12T08:50:54Z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1290988692440090427</vt:lpwstr>
  </property>
  <property fmtid="{D5CDD505-2E9C-101B-9397-08002B2CF9AE}" pid="6" name="TemplafyLanguageCode">
    <vt:lpwstr>en-GB</vt:lpwstr>
  </property>
  <property fmtid="{D5CDD505-2E9C-101B-9397-08002B2CF9AE}" pid="7" name="TemplafyFromBlank">
    <vt:bool>true</vt:bool>
  </property>
</Properties>
</file>