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5"/>
  </p:sldMasterIdLst>
  <p:notesMasterIdLst>
    <p:notesMasterId r:id="rId19"/>
  </p:notesMasterIdLst>
  <p:sldIdLst>
    <p:sldId id="256" r:id="rId6"/>
    <p:sldId id="267" r:id="rId7"/>
    <p:sldId id="268" r:id="rId8"/>
    <p:sldId id="269" r:id="rId9"/>
    <p:sldId id="270" r:id="rId10"/>
    <p:sldId id="275" r:id="rId11"/>
    <p:sldId id="272" r:id="rId12"/>
    <p:sldId id="260" r:id="rId13"/>
    <p:sldId id="261" r:id="rId14"/>
    <p:sldId id="263" r:id="rId15"/>
    <p:sldId id="264" r:id="rId16"/>
    <p:sldId id="265" r:id="rId17"/>
    <p:sldId id="266" r:id="rId18"/>
  </p:sldIdLst>
  <p:sldSz cx="12192000" cy="6858000"/>
  <p:notesSz cx="6858000" cy="9144000"/>
  <p:custDataLst>
    <p:tags r:id="rId20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39" d="100"/>
          <a:sy n="139" d="100"/>
        </p:scale>
        <p:origin x="138" y="1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tags" Target="tags/tag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10.xml"/><Relationship Id="rId23" Type="http://schemas.openxmlformats.org/officeDocument/2006/relationships/theme" Target="theme/theme1.xml"/><Relationship Id="rId10" Type="http://schemas.openxmlformats.org/officeDocument/2006/relationships/slide" Target="slides/slide5.xml"/><Relationship Id="rId19" Type="http://schemas.openxmlformats.org/officeDocument/2006/relationships/notesMaster" Target="notesMasters/notesMaster1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3" name="Pladsholder til dato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6DB14B-D186-4395-AA45-D206432F77E6}" type="datetimeFigureOut">
              <a:rPr lang="da-DK" smtClean="0"/>
              <a:t>08-10-2026</a:t>
            </a:fld>
            <a:endParaRPr lang="da-DK"/>
          </a:p>
        </p:txBody>
      </p:sp>
      <p:sp>
        <p:nvSpPr>
          <p:cNvPr id="4" name="Pladsholder til slidebille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a-DK"/>
          </a:p>
        </p:txBody>
      </p:sp>
      <p:sp>
        <p:nvSpPr>
          <p:cNvPr id="5" name="Pladsholder til no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640D09C-7D50-4707-B5BE-4BF22769806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0897684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40D09C-7D50-4707-B5BE-4BF227698062}" type="slidenum">
              <a:rPr lang="da-DK" smtClean="0"/>
              <a:t>12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26507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1B63F7-EF8D-1442-2805-F90D13F7F6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6B73C6-4021-68D5-1099-5B1540F6C8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45FE5C-42F5-ED25-BFA5-92006F0FA5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D8D708-28BE-2B4D-76EA-65C5F9F1D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C89D1B-E6BF-1F61-350B-A416EBB70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091750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B7F94-F949-C9D2-64CD-B62B7DC798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6E5FE4-1DC9-4259-BC3F-AAA35F5532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1BD69D-53F3-11C2-CD61-58145ADE3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127DC1-FAE3-D580-F35F-401162D214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95CA33-9D26-98B6-E85B-DDD0450837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21200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EDBDCC-CCDE-89ED-215B-A5C7B94C5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5A45BD-B998-CDFD-1526-FDD92DF37B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D13C8F-2C17-07EA-C35A-A35FBFF6B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3E90C3-7845-28AD-B4AB-4E25141A3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7ABC6B-8C7F-938E-F069-4B9182347D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684753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22F3A-0938-B89E-F4AB-85FEE18072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260B9D-3512-C97D-CC45-A43A179A5D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7026FA-4782-12C8-2CC1-2C75094515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189C04-0833-1C4B-D8A2-3712684FF8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4AB21E-0157-D95F-9FCC-4B063351B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AD5F7A-AE0A-B266-6D5F-8DCFAF7C09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3439003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DF502-0597-DE6F-EFAA-91FE7CBC24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5B2D51-88C7-8166-7DF4-05B2412EE1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4D9031-D1F7-2CE0-3119-FE2D72314F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584C981-6167-2D0E-C5BB-60431E3459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AFAC50-58D5-0FF1-CA9C-ADFF4B70CC1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32834AD-3601-067D-72FB-6D29B190C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366F7D6-4AD1-81C2-9724-6BD002051E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8119DA6-2F99-B552-267C-700E7BCBD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766301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FFD68-AAAD-B847-FEDE-8097587BD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9AE93F-DDAA-4DD3-F594-609BC95045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BBD2A4-363A-DAA0-622F-DD627BA811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16BABE-D66C-7F7F-7ABA-8A59FDD28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1945003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5D7050-3A86-DB26-84B4-1380B38A3D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5EE70D8-9614-140C-81C8-4A5C6A3B8B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5A678B-AC33-BD31-7B81-62828144C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4368598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37EB7-7A36-D8E2-02CC-749D8CB3F2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2C83CD-C860-00EB-932A-D31384975C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2020D6-2495-A29C-DAC2-F0076F1846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4F7D8A-A545-AF69-94BF-B59A30103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14F846-93A0-440A-DF82-A698055FAC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7D9461-0EED-10DF-5196-A303CB95F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3184505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3B58D1-A1EA-0634-FAC2-90E4D720AF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3B24B92-4BA2-E8CE-A1AE-B2657786554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B59854-B0B7-287F-B832-2C9C0A998D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AE5A84-FE53-EC4F-4180-C28245FDBD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B90BC5-7018-2B6D-B9F7-2475E1AF44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276DC6-615A-374B-A4E6-15D9BD75FD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487952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804915-0AA5-88A7-550C-EDDA662671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E87B0AC-256A-DD5C-1FB2-5A51ABFB7B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8513A8-DC61-DCAC-BADE-CE9BA1EE3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4F1CA6-2AA6-85A0-F736-1DE71D2407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F0E3D0-868A-15DA-2C55-940529744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2050931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92D8FEF-8EEC-1D16-8F69-5FF3DA5EC32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0F4F87-CA82-C826-169C-6FB5E8F980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D8FAE7-3CBB-7B80-6765-1E483D9B8B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9F97FD-BF40-F2B8-A174-8202C5522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F56C77-356C-3228-9EE8-7AC8DFA4CB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734078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91813B5-2A41-5C27-B7E0-D603DEF4AE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243182-73AD-0D40-3DCC-23A18443DA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119043-2191-16F3-BF2E-3BC4C2360E3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886069-5185-423F-843D-C2F3A033B902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E4536C-B9BE-F920-FD20-E3C829D7C0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5E17EA-46F5-6E05-831C-C882CC57D7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9927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customXml" Target="../../customXml/item3.xml"/><Relationship Id="rId1" Type="http://schemas.openxmlformats.org/officeDocument/2006/relationships/customXml" Target="../../customXml/item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0F0520-D0AF-3FCE-F7DE-415E0961D35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Assignment 4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A8E16F6-0E05-2C96-F30B-C7824750033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257329826"/>
      </p:ext>
    </p:extLst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5B532E-3533-4DE4-02F9-6D81FE9B7A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SSL </a:t>
            </a:r>
            <a:r>
              <a:rPr lang="da-DK" dirty="0" err="1"/>
              <a:t>methods</a:t>
            </a:r>
            <a:r>
              <a:rPr lang="da-DK" dirty="0"/>
              <a:t> – T-</a:t>
            </a:r>
            <a:r>
              <a:rPr lang="da-DK" dirty="0" err="1"/>
              <a:t>Loss</a:t>
            </a:r>
            <a:endParaRPr lang="da-DK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773B84B8-2BD0-3523-ACE3-DE7BF46C1E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 err="1"/>
              <a:t>Triplet</a:t>
            </a:r>
            <a:r>
              <a:rPr lang="da-DK" dirty="0"/>
              <a:t> </a:t>
            </a:r>
            <a:r>
              <a:rPr lang="da-DK" dirty="0" err="1"/>
              <a:t>loss</a:t>
            </a:r>
            <a:endParaRPr lang="da-DK" dirty="0"/>
          </a:p>
          <a:p>
            <a:r>
              <a:rPr lang="da-DK" dirty="0" err="1"/>
              <a:t>Random</a:t>
            </a:r>
            <a:r>
              <a:rPr lang="da-DK" dirty="0"/>
              <a:t> </a:t>
            </a:r>
            <a:r>
              <a:rPr lang="da-DK" dirty="0" err="1"/>
              <a:t>length</a:t>
            </a:r>
            <a:r>
              <a:rPr lang="da-DK" dirty="0"/>
              <a:t> sampling for </a:t>
            </a:r>
            <a:r>
              <a:rPr lang="da-DK" dirty="0" err="1"/>
              <a:t>robustness</a:t>
            </a:r>
            <a:endParaRPr lang="da-DK" dirty="0"/>
          </a:p>
          <a:p>
            <a:r>
              <a:rPr lang="da-DK" dirty="0"/>
              <a:t>Sub-series as positive </a:t>
            </a:r>
            <a:r>
              <a:rPr lang="da-DK" dirty="0" err="1"/>
              <a:t>within</a:t>
            </a:r>
            <a:r>
              <a:rPr lang="da-DK" dirty="0"/>
              <a:t> </a:t>
            </a:r>
            <a:r>
              <a:rPr lang="da-DK" dirty="0" err="1"/>
              <a:t>context</a:t>
            </a:r>
            <a:r>
              <a:rPr lang="da-DK" dirty="0"/>
              <a:t> of reference</a:t>
            </a:r>
          </a:p>
          <a:p>
            <a:r>
              <a:rPr lang="da-DK" dirty="0" err="1"/>
              <a:t>Other</a:t>
            </a:r>
            <a:r>
              <a:rPr lang="da-DK" dirty="0"/>
              <a:t> series as negative</a:t>
            </a:r>
          </a:p>
          <a:p>
            <a:r>
              <a:rPr lang="da-DK" dirty="0" err="1"/>
              <a:t>Stacked</a:t>
            </a:r>
            <a:r>
              <a:rPr lang="da-DK" dirty="0"/>
              <a:t>, </a:t>
            </a:r>
            <a:r>
              <a:rPr lang="da-DK" dirty="0" err="1"/>
              <a:t>dilating</a:t>
            </a:r>
            <a:r>
              <a:rPr lang="da-DK" dirty="0"/>
              <a:t>, </a:t>
            </a:r>
            <a:r>
              <a:rPr lang="da-DK" dirty="0" err="1"/>
              <a:t>convolutional</a:t>
            </a:r>
            <a:r>
              <a:rPr lang="da-DK" dirty="0"/>
              <a:t> </a:t>
            </a:r>
            <a:r>
              <a:rPr lang="da-DK" dirty="0" err="1"/>
              <a:t>layers</a:t>
            </a:r>
            <a:r>
              <a:rPr lang="da-DK" dirty="0"/>
              <a:t> and residual </a:t>
            </a:r>
            <a:r>
              <a:rPr lang="da-DK" dirty="0" err="1"/>
              <a:t>connections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279488559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DCF07E3-F76E-0F0F-3647-D0719E85D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SSL </a:t>
            </a:r>
            <a:r>
              <a:rPr lang="da-DK" dirty="0" err="1"/>
              <a:t>methods</a:t>
            </a:r>
            <a:r>
              <a:rPr lang="da-DK" dirty="0"/>
              <a:t> – TS2Vec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91AC693D-D7BC-A116-6919-66A3D3E85A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a-DK" dirty="0"/>
              <a:t>Overlapping series </a:t>
            </a:r>
            <a:r>
              <a:rPr lang="da-DK" dirty="0" err="1"/>
              <a:t>are</a:t>
            </a:r>
            <a:r>
              <a:rPr lang="da-DK" dirty="0"/>
              <a:t> </a:t>
            </a:r>
            <a:r>
              <a:rPr lang="da-DK" dirty="0" err="1"/>
              <a:t>encoded</a:t>
            </a:r>
            <a:r>
              <a:rPr lang="da-DK" dirty="0"/>
              <a:t> – same segment is </a:t>
            </a:r>
            <a:r>
              <a:rPr lang="da-DK" dirty="0" err="1"/>
              <a:t>viewed</a:t>
            </a:r>
            <a:r>
              <a:rPr lang="da-DK" dirty="0"/>
              <a:t> </a:t>
            </a:r>
            <a:r>
              <a:rPr lang="da-DK" dirty="0" err="1"/>
              <a:t>through</a:t>
            </a:r>
            <a:r>
              <a:rPr lang="da-DK" dirty="0"/>
              <a:t> </a:t>
            </a:r>
            <a:r>
              <a:rPr lang="da-DK" dirty="0" err="1"/>
              <a:t>different</a:t>
            </a:r>
            <a:r>
              <a:rPr lang="da-DK" dirty="0"/>
              <a:t> </a:t>
            </a:r>
            <a:r>
              <a:rPr lang="da-DK" dirty="0" err="1"/>
              <a:t>contexts</a:t>
            </a:r>
            <a:endParaRPr lang="da-DK" dirty="0"/>
          </a:p>
          <a:p>
            <a:r>
              <a:rPr lang="da-DK" dirty="0"/>
              <a:t>Augment latent </a:t>
            </a:r>
            <a:r>
              <a:rPr lang="da-DK" dirty="0" err="1"/>
              <a:t>representations</a:t>
            </a:r>
            <a:endParaRPr lang="da-DK" dirty="0"/>
          </a:p>
          <a:p>
            <a:r>
              <a:rPr lang="da-DK" dirty="0"/>
              <a:t>Temporal negatives: </a:t>
            </a:r>
            <a:r>
              <a:rPr lang="da-DK" dirty="0" err="1"/>
              <a:t>other</a:t>
            </a:r>
            <a:r>
              <a:rPr lang="da-DK" dirty="0"/>
              <a:t> timestamps of same series</a:t>
            </a:r>
          </a:p>
          <a:p>
            <a:r>
              <a:rPr lang="da-DK" dirty="0" err="1"/>
              <a:t>Instance</a:t>
            </a:r>
            <a:r>
              <a:rPr lang="da-DK" dirty="0"/>
              <a:t> negatives: </a:t>
            </a:r>
            <a:r>
              <a:rPr lang="da-DK" dirty="0" err="1"/>
              <a:t>other</a:t>
            </a:r>
            <a:r>
              <a:rPr lang="da-DK" dirty="0"/>
              <a:t> series in the batch at the same timestamp</a:t>
            </a:r>
          </a:p>
          <a:p>
            <a:r>
              <a:rPr lang="da-DK" dirty="0" err="1"/>
              <a:t>Hierarchical</a:t>
            </a:r>
            <a:r>
              <a:rPr lang="da-DK" dirty="0"/>
              <a:t> </a:t>
            </a:r>
            <a:r>
              <a:rPr lang="da-DK" dirty="0" err="1"/>
              <a:t>contrasting</a:t>
            </a:r>
            <a:r>
              <a:rPr lang="da-DK" dirty="0"/>
              <a:t>: </a:t>
            </a:r>
            <a:r>
              <a:rPr lang="da-DK" dirty="0" err="1"/>
              <a:t>progressively</a:t>
            </a:r>
            <a:r>
              <a:rPr lang="da-DK" dirty="0"/>
              <a:t> </a:t>
            </a:r>
            <a:r>
              <a:rPr lang="da-DK" dirty="0" err="1"/>
              <a:t>coarser</a:t>
            </a:r>
            <a:r>
              <a:rPr lang="da-DK" dirty="0"/>
              <a:t> </a:t>
            </a:r>
            <a:r>
              <a:rPr lang="da-DK" dirty="0" err="1"/>
              <a:t>maxpooling</a:t>
            </a:r>
            <a:r>
              <a:rPr lang="da-DK" dirty="0"/>
              <a:t> for </a:t>
            </a:r>
            <a:r>
              <a:rPr lang="da-DK" dirty="0" err="1"/>
              <a:t>loss</a:t>
            </a:r>
            <a:r>
              <a:rPr lang="da-DK" dirty="0"/>
              <a:t> </a:t>
            </a:r>
            <a:r>
              <a:rPr lang="da-DK" dirty="0" err="1"/>
              <a:t>calculation</a:t>
            </a:r>
            <a:endParaRPr lang="da-DK" dirty="0"/>
          </a:p>
          <a:p>
            <a:r>
              <a:rPr lang="da-DK" dirty="0" err="1"/>
              <a:t>Dilated</a:t>
            </a:r>
            <a:r>
              <a:rPr lang="da-DK" dirty="0"/>
              <a:t> CNN </a:t>
            </a:r>
            <a:r>
              <a:rPr lang="da-DK" dirty="0" err="1"/>
              <a:t>network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141257415"/>
      </p:ext>
    </p:ext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489F15-B560-09B8-5E19-5EDD091DC8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SSL </a:t>
            </a:r>
            <a:r>
              <a:rPr lang="da-DK" dirty="0" err="1"/>
              <a:t>methods</a:t>
            </a:r>
            <a:r>
              <a:rPr lang="da-DK" dirty="0"/>
              <a:t> – TF-C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31F9C9EC-A0BE-33F8-5BDB-E141499F8F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9273"/>
            <a:ext cx="10515600" cy="4351338"/>
          </a:xfrm>
        </p:spPr>
        <p:txBody>
          <a:bodyPr/>
          <a:lstStyle/>
          <a:p>
            <a:r>
              <a:rPr lang="da-DK" dirty="0"/>
              <a:t>Time and </a:t>
            </a:r>
            <a:r>
              <a:rPr lang="da-DK" dirty="0" err="1"/>
              <a:t>frequency</a:t>
            </a:r>
            <a:r>
              <a:rPr lang="da-DK" dirty="0"/>
              <a:t> </a:t>
            </a:r>
            <a:r>
              <a:rPr lang="da-DK" dirty="0" err="1"/>
              <a:t>representations</a:t>
            </a:r>
            <a:endParaRPr lang="da-DK" dirty="0"/>
          </a:p>
          <a:p>
            <a:r>
              <a:rPr lang="da-DK" dirty="0"/>
              <a:t>Augmentations on </a:t>
            </a:r>
            <a:r>
              <a:rPr lang="da-DK" dirty="0" err="1"/>
              <a:t>raw</a:t>
            </a:r>
            <a:r>
              <a:rPr lang="da-DK" dirty="0"/>
              <a:t> data</a:t>
            </a:r>
          </a:p>
          <a:p>
            <a:r>
              <a:rPr lang="da-DK" dirty="0"/>
              <a:t>Positives (1st </a:t>
            </a:r>
            <a:r>
              <a:rPr lang="da-DK" dirty="0" err="1"/>
              <a:t>level</a:t>
            </a:r>
            <a:r>
              <a:rPr lang="da-DK" dirty="0"/>
              <a:t>): </a:t>
            </a:r>
            <a:r>
              <a:rPr lang="da-DK" dirty="0" err="1"/>
              <a:t>augmented</a:t>
            </a:r>
            <a:r>
              <a:rPr lang="da-DK" dirty="0"/>
              <a:t> views</a:t>
            </a:r>
          </a:p>
          <a:p>
            <a:r>
              <a:rPr lang="da-DK" dirty="0"/>
              <a:t>Negatives (1st </a:t>
            </a:r>
            <a:r>
              <a:rPr lang="da-DK" dirty="0" err="1"/>
              <a:t>level</a:t>
            </a:r>
            <a:r>
              <a:rPr lang="da-DK" dirty="0"/>
              <a:t>): </a:t>
            </a:r>
            <a:r>
              <a:rPr lang="da-DK" dirty="0" err="1"/>
              <a:t>other</a:t>
            </a:r>
            <a:r>
              <a:rPr lang="da-DK" dirty="0"/>
              <a:t> series</a:t>
            </a:r>
          </a:p>
          <a:p>
            <a:r>
              <a:rPr lang="da-DK" dirty="0"/>
              <a:t>Positives (2nd </a:t>
            </a:r>
            <a:r>
              <a:rPr lang="da-DK" dirty="0" err="1"/>
              <a:t>level</a:t>
            </a:r>
            <a:r>
              <a:rPr lang="da-DK" dirty="0"/>
              <a:t>): </a:t>
            </a:r>
            <a:r>
              <a:rPr lang="da-DK" dirty="0" err="1"/>
              <a:t>other</a:t>
            </a:r>
            <a:r>
              <a:rPr lang="da-DK" dirty="0"/>
              <a:t> domain </a:t>
            </a:r>
            <a:r>
              <a:rPr lang="da-DK" dirty="0" err="1"/>
              <a:t>representation</a:t>
            </a:r>
            <a:endParaRPr lang="da-DK" dirty="0"/>
          </a:p>
          <a:p>
            <a:r>
              <a:rPr lang="da-DK" dirty="0"/>
              <a:t>Negatives (2nd </a:t>
            </a:r>
            <a:r>
              <a:rPr lang="da-DK" dirty="0" err="1"/>
              <a:t>level</a:t>
            </a:r>
            <a:r>
              <a:rPr lang="da-DK" dirty="0"/>
              <a:t>): augmentations</a:t>
            </a:r>
          </a:p>
          <a:p>
            <a:r>
              <a:rPr lang="da-DK" dirty="0"/>
              <a:t>Architecture: </a:t>
            </a:r>
            <a:r>
              <a:rPr lang="da-DK" dirty="0" err="1"/>
              <a:t>convolutional</a:t>
            </a:r>
            <a:r>
              <a:rPr lang="da-DK" dirty="0"/>
              <a:t> </a:t>
            </a:r>
            <a:r>
              <a:rPr lang="da-DK" dirty="0" err="1"/>
              <a:t>blocks</a:t>
            </a:r>
            <a:r>
              <a:rPr lang="da-DK" dirty="0"/>
              <a:t> and </a:t>
            </a:r>
            <a:r>
              <a:rPr lang="da-DK" dirty="0" err="1"/>
              <a:t>fully</a:t>
            </a:r>
            <a:r>
              <a:rPr lang="da-DK" dirty="0"/>
              <a:t> </a:t>
            </a:r>
            <a:r>
              <a:rPr lang="da-DK" dirty="0" err="1"/>
              <a:t>connected</a:t>
            </a:r>
            <a:r>
              <a:rPr lang="da-DK" dirty="0"/>
              <a:t> </a:t>
            </a:r>
            <a:r>
              <a:rPr lang="da-DK" dirty="0" err="1"/>
              <a:t>layers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528734584"/>
      </p:ext>
    </p:ext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15B4B5-F35A-56E4-C1B8-D8B9CDF44D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Datasets</a:t>
            </a:r>
          </a:p>
        </p:txBody>
      </p:sp>
      <p:graphicFrame>
        <p:nvGraphicFramePr>
          <p:cNvPr id="4" name="Dataset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2970901"/>
              </p:ext>
            </p:extLst>
          </p:nvPr>
        </p:nvGraphicFramePr>
        <p:xfrm>
          <a:off x="838200" y="1905000"/>
          <a:ext cx="10515600" cy="3556000"/>
        </p:xfrm>
        <a:graphic>
          <a:graphicData uri="http://schemas.openxmlformats.org/drawingml/2006/table">
            <a:tbl>
              <a:tblPr firstRow="1"/>
              <a:tblGrid>
                <a:gridCol w="419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75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7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74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US" sz="1800" b="1" dirty="0"/>
                        <a:t>Dataset</a:t>
                      </a:r>
                      <a:endParaRPr lang="en-US" sz="1800" dirty="0"/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1" dirty="0"/>
                        <a:t>Source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b="1" dirty="0"/>
                        <a:t>Channels</a:t>
                      </a:r>
                      <a:endParaRPr lang="en-US" sz="1800" dirty="0"/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b="1" dirty="0"/>
                        <a:t>Classes</a:t>
                      </a:r>
                      <a:endParaRPr lang="en-US" sz="1800" dirty="0"/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US" sz="1800" b="1" dirty="0"/>
                        <a:t>FordA</a:t>
                      </a:r>
                      <a:endParaRPr lang="en-US" sz="1800" dirty="0"/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/>
                        <a:t>Engine noise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1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2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US" sz="1800" b="1" dirty="0"/>
                        <a:t>FordB</a:t>
                      </a:r>
                      <a:endParaRPr lang="en-US" sz="1800" dirty="0"/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/>
                        <a:t>Engine noise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1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2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US" sz="1800" b="1" dirty="0"/>
                        <a:t>Articulary Word Recognition (AWR)</a:t>
                      </a:r>
                      <a:endParaRPr lang="en-US" sz="1800" dirty="0"/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/>
                        <a:t>Mouth motions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9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25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US" sz="1800" b="1" dirty="0"/>
                        <a:t>Epilepsy</a:t>
                      </a:r>
                      <a:endParaRPr lang="en-US" sz="1800" dirty="0"/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/>
                        <a:t>Physical activities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3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4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US" sz="1800" b="1" dirty="0"/>
                        <a:t>FD-A</a:t>
                      </a:r>
                      <a:endParaRPr lang="en-US" sz="1800" dirty="0"/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/>
                        <a:t>Motor current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1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3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US" sz="1800" b="1" dirty="0"/>
                        <a:t>FD-B</a:t>
                      </a:r>
                      <a:endParaRPr lang="en-US" sz="1800" dirty="0"/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/>
                        <a:t>Motor current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1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3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84145006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FF25CD9-22F1-551B-FCB4-FADBC53C9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Experimental</a:t>
            </a:r>
            <a:r>
              <a:rPr lang="da-DK" dirty="0"/>
              <a:t> </a:t>
            </a:r>
            <a:r>
              <a:rPr lang="da-DK" dirty="0" err="1"/>
              <a:t>protocol</a:t>
            </a:r>
            <a:r>
              <a:rPr lang="da-DK" dirty="0"/>
              <a:t> – pipeline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91A93061-3DA4-AAC7-F7E0-53ED9EA37C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11" name="Step Raw data"/>
          <p:cNvSpPr/>
          <p:nvPr/>
        </p:nvSpPr>
        <p:spPr>
          <a:xfrm>
            <a:off x="838200" y="4530328"/>
            <a:ext cx="1333500" cy="10160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n-US" sz="1600" b="1" dirty="0">
                <a:solidFill>
                  <a:srgbClr val="262626"/>
                </a:solidFill>
              </a:rPr>
              <a:t>Raw data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2171700" y="5038328"/>
            <a:ext cx="464820" cy="0"/>
          </a:xfrm>
          <a:prstGeom prst="straightConnector1">
            <a:avLst/>
          </a:prstGeom>
          <a:ln w="19050">
            <a:solidFill>
              <a:srgbClr val="595959"/>
            </a:solidFill>
            <a:tailEnd type="triangle" w="med" len="med"/>
          </a:ln>
        </p:spPr>
      </p:cxnSp>
      <p:sp>
        <p:nvSpPr>
          <p:cNvPr id="13" name="Step Scaling"/>
          <p:cNvSpPr/>
          <p:nvPr/>
        </p:nvSpPr>
        <p:spPr>
          <a:xfrm>
            <a:off x="2636520" y="4530328"/>
            <a:ext cx="1333500" cy="10160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n-US" sz="1600" b="1" dirty="0">
                <a:solidFill>
                  <a:srgbClr val="262626"/>
                </a:solidFill>
              </a:rPr>
              <a:t>Scaling</a:t>
            </a:r>
          </a:p>
        </p:txBody>
      </p:sp>
      <p:cxnSp>
        <p:nvCxnSpPr>
          <p:cNvPr id="14" name="Arrow 14"/>
          <p:cNvCxnSpPr/>
          <p:nvPr/>
        </p:nvCxnSpPr>
        <p:spPr>
          <a:xfrm>
            <a:off x="3970020" y="5038328"/>
            <a:ext cx="464820" cy="0"/>
          </a:xfrm>
          <a:prstGeom prst="straightConnector1">
            <a:avLst/>
          </a:prstGeom>
          <a:ln w="19050">
            <a:solidFill>
              <a:srgbClr val="595959"/>
            </a:solidFill>
            <a:tailEnd type="triangle" w="med" len="med"/>
          </a:ln>
        </p:spPr>
      </p:cxnSp>
      <p:sp>
        <p:nvSpPr>
          <p:cNvPr id="15" name="Step Encoding"/>
          <p:cNvSpPr/>
          <p:nvPr/>
        </p:nvSpPr>
        <p:spPr>
          <a:xfrm>
            <a:off x="4434840" y="4530328"/>
            <a:ext cx="1333500" cy="1016000"/>
          </a:xfrm>
          <a:prstGeom prst="roundRect">
            <a:avLst>
              <a:gd name="adj" fmla="val 12000"/>
            </a:avLst>
          </a:prstGeom>
          <a:solidFill>
            <a:srgbClr val="156082"/>
          </a:solidFill>
          <a:ln>
            <a:noFill/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Encoding</a:t>
            </a:r>
          </a:p>
        </p:txBody>
      </p:sp>
      <p:cxnSp>
        <p:nvCxnSpPr>
          <p:cNvPr id="16" name="Arrow 16"/>
          <p:cNvCxnSpPr/>
          <p:nvPr/>
        </p:nvCxnSpPr>
        <p:spPr>
          <a:xfrm>
            <a:off x="5768340" y="5038328"/>
            <a:ext cx="464820" cy="0"/>
          </a:xfrm>
          <a:prstGeom prst="straightConnector1">
            <a:avLst/>
          </a:prstGeom>
          <a:ln w="19050">
            <a:solidFill>
              <a:srgbClr val="595959"/>
            </a:solidFill>
            <a:tailEnd type="triangle" w="med" len="med"/>
          </a:ln>
        </p:spPr>
      </p:cxnSp>
      <p:sp>
        <p:nvSpPr>
          <p:cNvPr id="17" name="Step Scaling"/>
          <p:cNvSpPr/>
          <p:nvPr/>
        </p:nvSpPr>
        <p:spPr>
          <a:xfrm>
            <a:off x="6233160" y="4530328"/>
            <a:ext cx="1333500" cy="10160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n-US" sz="1600" b="1" dirty="0">
                <a:solidFill>
                  <a:srgbClr val="262626"/>
                </a:solidFill>
              </a:rPr>
              <a:t>Scaling</a:t>
            </a:r>
          </a:p>
        </p:txBody>
      </p:sp>
      <p:cxnSp>
        <p:nvCxnSpPr>
          <p:cNvPr id="18" name="Arrow 18"/>
          <p:cNvCxnSpPr/>
          <p:nvPr/>
        </p:nvCxnSpPr>
        <p:spPr>
          <a:xfrm>
            <a:off x="7566660" y="5038328"/>
            <a:ext cx="464820" cy="0"/>
          </a:xfrm>
          <a:prstGeom prst="straightConnector1">
            <a:avLst/>
          </a:prstGeom>
          <a:ln w="19050">
            <a:solidFill>
              <a:srgbClr val="595959"/>
            </a:solidFill>
            <a:tailEnd type="triangle" w="med" len="med"/>
          </a:ln>
        </p:spPr>
      </p:cxnSp>
      <p:sp>
        <p:nvSpPr>
          <p:cNvPr id="19" name="Step Probing"/>
          <p:cNvSpPr/>
          <p:nvPr/>
        </p:nvSpPr>
        <p:spPr>
          <a:xfrm>
            <a:off x="8031480" y="4530328"/>
            <a:ext cx="1333500" cy="10160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n-US" sz="1600" b="1" dirty="0">
                <a:solidFill>
                  <a:srgbClr val="262626"/>
                </a:solidFill>
              </a:rPr>
              <a:t>Probing</a:t>
            </a:r>
          </a:p>
        </p:txBody>
      </p:sp>
      <p:sp>
        <p:nvSpPr>
          <p:cNvPr id="20" name="Step Accuracy"/>
          <p:cNvSpPr/>
          <p:nvPr/>
        </p:nvSpPr>
        <p:spPr>
          <a:xfrm>
            <a:off x="9829800" y="4174728"/>
            <a:ext cx="1524000" cy="711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156082"/>
            </a:solidFill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n-US" sz="1600" b="1" dirty="0">
                <a:solidFill>
                  <a:srgbClr val="156082"/>
                </a:solidFill>
              </a:rPr>
              <a:t>Accuracy</a:t>
            </a:r>
          </a:p>
        </p:txBody>
      </p:sp>
      <p:sp>
        <p:nvSpPr>
          <p:cNvPr id="21" name="Step F1-score"/>
          <p:cNvSpPr/>
          <p:nvPr/>
        </p:nvSpPr>
        <p:spPr>
          <a:xfrm>
            <a:off x="9829800" y="5190728"/>
            <a:ext cx="1524000" cy="711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156082"/>
            </a:solidFill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n-US" sz="1600" b="1" dirty="0">
                <a:solidFill>
                  <a:srgbClr val="156082"/>
                </a:solidFill>
              </a:rPr>
              <a:t>F1-score</a:t>
            </a:r>
          </a:p>
        </p:txBody>
      </p:sp>
      <p:cxnSp>
        <p:nvCxnSpPr>
          <p:cNvPr id="22" name="Arrow 22"/>
          <p:cNvCxnSpPr/>
          <p:nvPr/>
        </p:nvCxnSpPr>
        <p:spPr>
          <a:xfrm flipV="1">
            <a:off x="9364980" y="4530328"/>
            <a:ext cx="464820" cy="508000"/>
          </a:xfrm>
          <a:prstGeom prst="bentConnector3">
            <a:avLst/>
          </a:prstGeom>
          <a:ln w="19050">
            <a:solidFill>
              <a:srgbClr val="595959"/>
            </a:solidFill>
            <a:tailEnd type="triangle" w="med" len="med"/>
          </a:ln>
        </p:spPr>
      </p:cxnSp>
      <p:cxnSp>
        <p:nvCxnSpPr>
          <p:cNvPr id="23" name="Arrow 23"/>
          <p:cNvCxnSpPr/>
          <p:nvPr/>
        </p:nvCxnSpPr>
        <p:spPr>
          <a:xfrm>
            <a:off x="9364980" y="5038328"/>
            <a:ext cx="464820" cy="508000"/>
          </a:xfrm>
          <a:prstGeom prst="bentConnector3">
            <a:avLst/>
          </a:prstGeom>
          <a:ln w="19050">
            <a:solidFill>
              <a:srgbClr val="595959"/>
            </a:solidFill>
            <a:tailEnd type="triangle" w="med" len="med"/>
          </a:ln>
        </p:spPr>
      </p:cxnSp>
      <p:sp>
        <p:nvSpPr>
          <p:cNvPr id="30" name="Baseline Raw data"/>
          <p:cNvSpPr/>
          <p:nvPr/>
        </p:nvSpPr>
        <p:spPr>
          <a:xfrm>
            <a:off x="838200" y="2225477"/>
            <a:ext cx="1333500" cy="10160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n-US" sz="1600" b="1" dirty="0">
                <a:solidFill>
                  <a:srgbClr val="262626"/>
                </a:solidFill>
              </a:rPr>
              <a:t>Raw data</a:t>
            </a:r>
          </a:p>
        </p:txBody>
      </p:sp>
      <p:cxnSp>
        <p:nvCxnSpPr>
          <p:cNvPr id="31" name="Baseline Arrow 1"/>
          <p:cNvCxnSpPr/>
          <p:nvPr/>
        </p:nvCxnSpPr>
        <p:spPr>
          <a:xfrm>
            <a:off x="2171700" y="2733477"/>
            <a:ext cx="464820" cy="0"/>
          </a:xfrm>
          <a:prstGeom prst="straightConnector1">
            <a:avLst/>
          </a:prstGeom>
          <a:ln w="19050">
            <a:solidFill>
              <a:srgbClr val="595959"/>
            </a:solidFill>
            <a:tailEnd type="triangle" w="med" len="med"/>
          </a:ln>
        </p:spPr>
      </p:cxnSp>
      <p:sp>
        <p:nvSpPr>
          <p:cNvPr id="32" name="Baseline Scaling"/>
          <p:cNvSpPr/>
          <p:nvPr/>
        </p:nvSpPr>
        <p:spPr>
          <a:xfrm>
            <a:off x="2636520" y="2225477"/>
            <a:ext cx="1333500" cy="10160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n-US" sz="1600" b="1" dirty="0">
                <a:solidFill>
                  <a:srgbClr val="262626"/>
                </a:solidFill>
              </a:rPr>
              <a:t>Scaling</a:t>
            </a:r>
          </a:p>
        </p:txBody>
      </p:sp>
      <p:cxnSp>
        <p:nvCxnSpPr>
          <p:cNvPr id="33" name="Baseline Arrow 2"/>
          <p:cNvCxnSpPr/>
          <p:nvPr/>
        </p:nvCxnSpPr>
        <p:spPr>
          <a:xfrm>
            <a:off x="3970020" y="2733477"/>
            <a:ext cx="4061460" cy="0"/>
          </a:xfrm>
          <a:prstGeom prst="straightConnector1">
            <a:avLst/>
          </a:prstGeom>
          <a:ln w="19050">
            <a:solidFill>
              <a:srgbClr val="595959"/>
            </a:solidFill>
            <a:tailEnd type="triangle" w="med" len="med"/>
          </a:ln>
        </p:spPr>
      </p:cxnSp>
      <p:sp>
        <p:nvSpPr>
          <p:cNvPr id="34" name="Baseline Probing"/>
          <p:cNvSpPr/>
          <p:nvPr/>
        </p:nvSpPr>
        <p:spPr>
          <a:xfrm>
            <a:off x="8031480" y="2225477"/>
            <a:ext cx="1333500" cy="10160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n-US" sz="1600" b="1" dirty="0">
                <a:solidFill>
                  <a:srgbClr val="262626"/>
                </a:solidFill>
              </a:rPr>
              <a:t>Probing</a:t>
            </a:r>
          </a:p>
        </p:txBody>
      </p:sp>
      <p:sp>
        <p:nvSpPr>
          <p:cNvPr id="40" name="Baseline Accuracy"/>
          <p:cNvSpPr/>
          <p:nvPr/>
        </p:nvSpPr>
        <p:spPr>
          <a:xfrm>
            <a:off x="9829800" y="1863328"/>
            <a:ext cx="1524000" cy="711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156082"/>
            </a:solidFill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n-US" sz="1600" b="1" dirty="0">
                <a:solidFill>
                  <a:srgbClr val="156082"/>
                </a:solidFill>
              </a:rPr>
              <a:t>Accuracy</a:t>
            </a:r>
          </a:p>
        </p:txBody>
      </p:sp>
      <p:sp>
        <p:nvSpPr>
          <p:cNvPr id="41" name="Baseline F1-score"/>
          <p:cNvSpPr/>
          <p:nvPr/>
        </p:nvSpPr>
        <p:spPr>
          <a:xfrm>
            <a:off x="9829800" y="2879328"/>
            <a:ext cx="1524000" cy="711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156082"/>
            </a:solidFill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n-US" sz="1600" b="1" dirty="0">
                <a:solidFill>
                  <a:srgbClr val="156082"/>
                </a:solidFill>
              </a:rPr>
              <a:t>F1-score</a:t>
            </a:r>
          </a:p>
        </p:txBody>
      </p:sp>
      <p:cxnSp>
        <p:nvCxnSpPr>
          <p:cNvPr id="42" name="Baseline Arrow 3"/>
          <p:cNvCxnSpPr/>
          <p:nvPr/>
        </p:nvCxnSpPr>
        <p:spPr>
          <a:xfrm flipV="1">
            <a:off x="9364980" y="2218928"/>
            <a:ext cx="464820" cy="508000"/>
          </a:xfrm>
          <a:prstGeom prst="bentConnector3">
            <a:avLst/>
          </a:prstGeom>
          <a:ln w="19050">
            <a:solidFill>
              <a:srgbClr val="595959"/>
            </a:solidFill>
            <a:tailEnd type="triangle" w="med" len="med"/>
          </a:ln>
        </p:spPr>
      </p:cxnSp>
      <p:cxnSp>
        <p:nvCxnSpPr>
          <p:cNvPr id="43" name="Baseline Arrow 4"/>
          <p:cNvCxnSpPr/>
          <p:nvPr/>
        </p:nvCxnSpPr>
        <p:spPr>
          <a:xfrm>
            <a:off x="9364980" y="2726928"/>
            <a:ext cx="464820" cy="508000"/>
          </a:xfrm>
          <a:prstGeom prst="bentConnector3">
            <a:avLst/>
          </a:prstGeom>
          <a:ln w="19050">
            <a:solidFill>
              <a:srgbClr val="595959"/>
            </a:solidFill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2651629621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310EC4-26F8-70AB-EA1D-95FB97872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D3FDF9-E30F-E32D-32A9-C53CF64A6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Experimental</a:t>
            </a:r>
            <a:r>
              <a:rPr lang="da-DK" dirty="0"/>
              <a:t> </a:t>
            </a:r>
            <a:r>
              <a:rPr lang="da-DK" dirty="0" err="1"/>
              <a:t>protocol</a:t>
            </a:r>
            <a:r>
              <a:rPr lang="da-DK" dirty="0"/>
              <a:t> – </a:t>
            </a:r>
            <a:r>
              <a:rPr lang="da-DK" dirty="0" err="1"/>
              <a:t>specifications</a:t>
            </a:r>
            <a:endParaRPr lang="da-DK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7E7F705B-6688-6427-C65A-E9568A4703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/>
          </a:bodyPr>
          <a:lstStyle/>
          <a:p>
            <a:r>
              <a:rPr lang="da-DK" sz="2000" b="1" dirty="0" err="1"/>
              <a:t>Scaling</a:t>
            </a:r>
            <a:r>
              <a:rPr lang="da-DK" sz="2000" b="1" dirty="0"/>
              <a:t>: </a:t>
            </a:r>
            <a:r>
              <a:rPr lang="da-DK" sz="2000" dirty="0"/>
              <a:t>z-</a:t>
            </a:r>
            <a:r>
              <a:rPr lang="da-DK" sz="2000" dirty="0" err="1"/>
              <a:t>scaling</a:t>
            </a:r>
            <a:r>
              <a:rPr lang="da-DK" sz="2000" dirty="0"/>
              <a:t>, </a:t>
            </a:r>
            <a:r>
              <a:rPr lang="da-DK" sz="2000" dirty="0" err="1"/>
              <a:t>fitted</a:t>
            </a:r>
            <a:r>
              <a:rPr lang="da-DK" sz="2000" dirty="0"/>
              <a:t> on </a:t>
            </a:r>
            <a:r>
              <a:rPr lang="da-DK" sz="2000" dirty="0" err="1"/>
              <a:t>training</a:t>
            </a:r>
            <a:r>
              <a:rPr lang="da-DK" sz="2000" dirty="0"/>
              <a:t> data, per </a:t>
            </a:r>
            <a:r>
              <a:rPr lang="da-DK" sz="2000" dirty="0" err="1"/>
              <a:t>channels</a:t>
            </a:r>
            <a:r>
              <a:rPr lang="da-DK" sz="2000" dirty="0"/>
              <a:t> and </a:t>
            </a:r>
            <a:r>
              <a:rPr lang="da-DK" sz="2000" dirty="0" err="1"/>
              <a:t>representations</a:t>
            </a:r>
            <a:r>
              <a:rPr lang="da-DK" sz="2000" dirty="0"/>
              <a:t> </a:t>
            </a:r>
            <a:endParaRPr lang="da-DK" sz="1600" b="1" dirty="0"/>
          </a:p>
          <a:p>
            <a:r>
              <a:rPr lang="da-DK" sz="2000" b="1" dirty="0" err="1"/>
              <a:t>Validation</a:t>
            </a:r>
            <a:r>
              <a:rPr lang="da-DK" sz="2000" b="1" dirty="0"/>
              <a:t>: </a:t>
            </a:r>
            <a:r>
              <a:rPr lang="da-DK" sz="2000" dirty="0"/>
              <a:t>5-fold </a:t>
            </a:r>
            <a:r>
              <a:rPr lang="da-DK" sz="2000" dirty="0" err="1"/>
              <a:t>stratified</a:t>
            </a:r>
            <a:r>
              <a:rPr lang="da-DK" sz="2000" dirty="0"/>
              <a:t> CV for </a:t>
            </a:r>
            <a:r>
              <a:rPr lang="da-DK" sz="2000" dirty="0" err="1"/>
              <a:t>hyperparameter</a:t>
            </a:r>
            <a:r>
              <a:rPr lang="da-DK" sz="2000" dirty="0"/>
              <a:t> tuning (</a:t>
            </a:r>
            <a:r>
              <a:rPr lang="da-DK" sz="2000" dirty="0" err="1"/>
              <a:t>unless</a:t>
            </a:r>
            <a:r>
              <a:rPr lang="da-DK" sz="2000" dirty="0"/>
              <a:t> dataset </a:t>
            </a:r>
            <a:r>
              <a:rPr lang="da-DK" sz="2000" dirty="0" err="1"/>
              <a:t>doesn’t</a:t>
            </a:r>
            <a:r>
              <a:rPr lang="da-DK" sz="2000" dirty="0"/>
              <a:t> </a:t>
            </a:r>
            <a:r>
              <a:rPr lang="da-DK" sz="2000" dirty="0" err="1"/>
              <a:t>allow</a:t>
            </a:r>
            <a:r>
              <a:rPr lang="da-DK" sz="2000" dirty="0"/>
              <a:t>)</a:t>
            </a:r>
          </a:p>
          <a:p>
            <a:r>
              <a:rPr lang="da-DK" sz="2000" b="1" dirty="0" err="1"/>
              <a:t>Seeds</a:t>
            </a:r>
            <a:r>
              <a:rPr lang="da-DK" sz="2000" b="1" dirty="0"/>
              <a:t> (</a:t>
            </a:r>
            <a:r>
              <a:rPr lang="da-DK" sz="2000" b="1" dirty="0" err="1"/>
              <a:t>three</a:t>
            </a:r>
            <a:r>
              <a:rPr lang="da-DK" sz="2000" b="1" dirty="0"/>
              <a:t>)</a:t>
            </a:r>
            <a:endParaRPr lang="da-DK" sz="2000" dirty="0"/>
          </a:p>
          <a:p>
            <a:pPr lvl="1"/>
            <a:r>
              <a:rPr lang="da-DK" sz="1800" dirty="0"/>
              <a:t>Folds</a:t>
            </a:r>
          </a:p>
          <a:p>
            <a:pPr lvl="1"/>
            <a:r>
              <a:rPr lang="da-DK" sz="1800" dirty="0"/>
              <a:t>10% label sets</a:t>
            </a:r>
          </a:p>
          <a:p>
            <a:pPr lvl="1"/>
            <a:r>
              <a:rPr lang="da-DK" sz="1800" dirty="0" err="1"/>
              <a:t>Initialisation</a:t>
            </a:r>
            <a:endParaRPr lang="da-DK" sz="1800" dirty="0"/>
          </a:p>
          <a:p>
            <a:pPr lvl="1"/>
            <a:r>
              <a:rPr lang="da-DK" sz="1800" dirty="0" err="1"/>
              <a:t>Corruption</a:t>
            </a:r>
            <a:r>
              <a:rPr lang="da-DK" sz="1800" dirty="0"/>
              <a:t> pattern</a:t>
            </a:r>
          </a:p>
          <a:p>
            <a:pPr lvl="1"/>
            <a:r>
              <a:rPr lang="da-DK" sz="1800" dirty="0" err="1"/>
              <a:t>Probe’s</a:t>
            </a:r>
            <a:r>
              <a:rPr lang="da-DK" sz="1800" dirty="0"/>
              <a:t> </a:t>
            </a:r>
            <a:r>
              <a:rPr lang="da-DK" sz="1800" dirty="0" err="1"/>
              <a:t>random</a:t>
            </a:r>
            <a:r>
              <a:rPr lang="da-DK" sz="1800" dirty="0"/>
              <a:t> </a:t>
            </a:r>
            <a:r>
              <a:rPr lang="da-DK" sz="1800" dirty="0" err="1"/>
              <a:t>state</a:t>
            </a:r>
            <a:endParaRPr lang="da-DK" sz="1800" dirty="0"/>
          </a:p>
          <a:p>
            <a:r>
              <a:rPr lang="da-DK" sz="2200" b="1" dirty="0"/>
              <a:t>Probes: </a:t>
            </a:r>
            <a:r>
              <a:rPr lang="da-DK" sz="2200" dirty="0" err="1"/>
              <a:t>logistic</a:t>
            </a:r>
            <a:r>
              <a:rPr lang="da-DK" sz="2200" dirty="0"/>
              <a:t> regression + RBF-SVM</a:t>
            </a:r>
          </a:p>
          <a:p>
            <a:r>
              <a:rPr lang="da-DK" sz="2200" b="1" dirty="0" err="1"/>
              <a:t>Metrics</a:t>
            </a:r>
            <a:r>
              <a:rPr lang="da-DK" sz="2200" b="1" dirty="0"/>
              <a:t>: </a:t>
            </a:r>
            <a:r>
              <a:rPr lang="da-DK" sz="2200" dirty="0" err="1"/>
              <a:t>mean</a:t>
            </a:r>
            <a:r>
              <a:rPr lang="da-DK" sz="2200" dirty="0"/>
              <a:t> and </a:t>
            </a:r>
            <a:r>
              <a:rPr lang="da-DK" sz="2200" dirty="0" err="1"/>
              <a:t>std</a:t>
            </a:r>
            <a:r>
              <a:rPr lang="da-DK" sz="2200" dirty="0"/>
              <a:t> of </a:t>
            </a:r>
            <a:r>
              <a:rPr lang="da-DK" sz="2200" dirty="0" err="1"/>
              <a:t>accuracy</a:t>
            </a:r>
            <a:r>
              <a:rPr lang="da-DK" sz="2200" dirty="0"/>
              <a:t> and </a:t>
            </a:r>
            <a:r>
              <a:rPr lang="da-DK" sz="2200" dirty="0" err="1"/>
              <a:t>macro</a:t>
            </a:r>
            <a:r>
              <a:rPr lang="da-DK" sz="2200" dirty="0"/>
              <a:t> F1-score</a:t>
            </a:r>
          </a:p>
          <a:p>
            <a:r>
              <a:rPr lang="da-DK" sz="2200" b="1" dirty="0"/>
              <a:t>Labels:</a:t>
            </a:r>
            <a:r>
              <a:rPr lang="da-DK" sz="2200" dirty="0"/>
              <a:t> 10% and 100% of labels in </a:t>
            </a:r>
            <a:r>
              <a:rPr lang="da-DK" sz="2200" dirty="0" err="1"/>
              <a:t>training</a:t>
            </a:r>
            <a:endParaRPr lang="da-DK" sz="2200" dirty="0"/>
          </a:p>
          <a:p>
            <a:r>
              <a:rPr lang="da-DK" sz="2200" b="1" dirty="0"/>
              <a:t>SSL </a:t>
            </a:r>
            <a:r>
              <a:rPr lang="da-DK" sz="2200" b="1" dirty="0" err="1"/>
              <a:t>training</a:t>
            </a:r>
            <a:r>
              <a:rPr lang="da-DK" sz="2200" b="1" dirty="0"/>
              <a:t>: </a:t>
            </a:r>
            <a:r>
              <a:rPr lang="da-DK" sz="2200" dirty="0"/>
              <a:t>all </a:t>
            </a:r>
            <a:r>
              <a:rPr lang="da-DK" sz="2200" dirty="0" err="1"/>
              <a:t>training</a:t>
            </a:r>
            <a:r>
              <a:rPr lang="da-DK" sz="2200" dirty="0"/>
              <a:t> inputs, </a:t>
            </a:r>
            <a:r>
              <a:rPr lang="da-DK" sz="2200" dirty="0" err="1"/>
              <a:t>published</a:t>
            </a:r>
            <a:r>
              <a:rPr lang="da-DK" sz="2200" dirty="0"/>
              <a:t> default </a:t>
            </a:r>
            <a:r>
              <a:rPr lang="da-DK" sz="2200" dirty="0" err="1"/>
              <a:t>settings</a:t>
            </a:r>
            <a:r>
              <a:rPr lang="da-DK" sz="2200" dirty="0"/>
              <a:t>, </a:t>
            </a:r>
            <a:r>
              <a:rPr lang="da-DK" sz="2200" dirty="0" err="1"/>
              <a:t>frozen</a:t>
            </a:r>
            <a:r>
              <a:rPr lang="da-DK" sz="2200" dirty="0"/>
              <a:t> </a:t>
            </a:r>
            <a:r>
              <a:rPr lang="da-DK" sz="2200" dirty="0" err="1"/>
              <a:t>encoder</a:t>
            </a:r>
            <a:endParaRPr lang="da-DK" sz="2200" dirty="0"/>
          </a:p>
          <a:p>
            <a:r>
              <a:rPr lang="da-DK" sz="2200" b="1" dirty="0" err="1"/>
              <a:t>Testing</a:t>
            </a:r>
            <a:r>
              <a:rPr lang="da-DK" sz="2200" b="1" dirty="0"/>
              <a:t>: </a:t>
            </a:r>
            <a:r>
              <a:rPr lang="da-DK" sz="2200" dirty="0" err="1"/>
              <a:t>only</a:t>
            </a:r>
            <a:r>
              <a:rPr lang="da-DK" sz="2200" dirty="0"/>
              <a:t> </a:t>
            </a:r>
            <a:r>
              <a:rPr lang="da-DK" sz="2200" dirty="0" err="1"/>
              <a:t>once</a:t>
            </a:r>
            <a:endParaRPr lang="da-DK" sz="2200" b="1" dirty="0"/>
          </a:p>
          <a:p>
            <a:endParaRPr lang="da-DK" sz="2200" dirty="0"/>
          </a:p>
        </p:txBody>
      </p:sp>
    </p:spTree>
    <p:extLst>
      <p:ext uri="{BB962C8B-B14F-4D97-AF65-F5344CB8AC3E}">
        <p14:creationId xmlns:p14="http://schemas.microsoft.com/office/powerpoint/2010/main" val="4104450113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6DD432-C2F9-8ADA-57A7-2C436021C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Part B – </a:t>
            </a:r>
            <a:r>
              <a:rPr lang="da-DK" dirty="0" err="1"/>
              <a:t>raw</a:t>
            </a:r>
            <a:r>
              <a:rPr lang="da-DK" dirty="0"/>
              <a:t> signal baselines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AE98AEFF-9C81-C28C-B71F-5FA4B0C0FE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900000"/>
            <a:ext cx="10515600" cy="1300000"/>
          </a:xfrm>
        </p:spPr>
        <p:txBody>
          <a:bodyPr>
            <a:normAutofit lnSpcReduction="10000"/>
          </a:bodyPr>
          <a:lstStyle/>
          <a:p>
            <a:pPr>
              <a:spcBef>
                <a:spcPts val="600"/>
              </a:spcBef>
            </a:pPr>
            <a:r>
              <a:rPr lang="en-US" sz="1500" dirty="0"/>
              <a:t>Logistic regression fails on FordA (chance) and is weak on Epilepsy: the waveforms are not aligned in time.</a:t>
            </a:r>
          </a:p>
          <a:p>
            <a:pPr>
              <a:spcBef>
                <a:spcPts val="600"/>
              </a:spcBef>
            </a:pPr>
            <a:r>
              <a:rPr lang="en-US" sz="1500" dirty="0"/>
              <a:t>The RBF-SVM is strong with all labels.</a:t>
            </a:r>
          </a:p>
          <a:p>
            <a:pPr>
              <a:spcBef>
                <a:spcPts val="600"/>
              </a:spcBef>
            </a:pPr>
            <a:r>
              <a:rPr lang="en-US" sz="1500" dirty="0"/>
              <a:t>AWR is near-saturated for both probes.</a:t>
            </a:r>
          </a:p>
          <a:p>
            <a:pPr>
              <a:spcBef>
                <a:spcPts val="600"/>
              </a:spcBef>
            </a:pPr>
            <a:r>
              <a:rPr lang="en-US" sz="1500" dirty="0"/>
              <a:t>AWR at 10% has about one label per class, so no tuning is possible and the sklearn defaults are used: RBF-SVM C = 1 and γ = scale, i.e. 1 / (n_features · Var(X)) (logistic regression C = 1). The RBF-SVM then reaches only 0.23.</a:t>
            </a:r>
          </a:p>
        </p:txBody>
      </p:sp>
      <p:graphicFrame>
        <p:nvGraphicFramePr>
          <p:cNvPr id="10" name="Part B table"/>
          <p:cNvGraphicFramePr>
            <a:graphicFrameLocks noGrp="1"/>
          </p:cNvGraphicFramePr>
          <p:nvPr/>
        </p:nvGraphicFramePr>
        <p:xfrm>
          <a:off x="838200" y="1810688"/>
          <a:ext cx="10515600" cy="2800000"/>
        </p:xfrm>
        <a:graphic>
          <a:graphicData uri="http://schemas.openxmlformats.org/drawingml/2006/table">
            <a:tbl>
              <a:tblPr firstRow="1"/>
              <a:tblGrid>
                <a:gridCol w="15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15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5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5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5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5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en-US" sz="1400" b="1" dirty="0"/>
                        <a:t>Dataset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dirty="0"/>
                        <a:t>Probe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dirty="0"/>
                        <a:t>Accuracy 100%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dirty="0"/>
                        <a:t>Macro-F1 100%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dirty="0"/>
                        <a:t>Accuracy 10%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dirty="0"/>
                        <a:t>Macro-F1 10%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en-US" sz="1400" b="1" dirty="0"/>
                        <a:t>FordA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Logistic regression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/>
                        <a:t>0.492 ± 0.003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/>
                        <a:t>0.491 ± 0.005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/>
                        <a:t>0.506 ± 0.008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/>
                        <a:t>0.506 ± 0.008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RBF-SVM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/>
                        <a:t>0.828 ± 0.000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/>
                        <a:t>0.828 ± 0.000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/>
                        <a:t>0.669 ± 0.013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/>
                        <a:t>0.667 ± 0.014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en-US" sz="1400" b="1" dirty="0"/>
                        <a:t>AWR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Logistic regression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/>
                        <a:t>0.973 ± 0.000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/>
                        <a:t>0.973 ± 0.000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/>
                        <a:t>0.828 ± 0.022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/>
                        <a:t>0.820 ± 0.027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RBF-SVM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/>
                        <a:t>0.980 ± 0.000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/>
                        <a:t>0.980 ± 0.000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/>
                        <a:t>0.230 ± 0.131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/>
                        <a:t>0.218 ± 0.158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en-US" sz="1400" b="1" dirty="0"/>
                        <a:t>Epilepsy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Logistic regression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/>
                        <a:t>0.633 ± 0.017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/>
                        <a:t>0.600 ± 0.018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/>
                        <a:t>0.440 ± 0.071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/>
                        <a:t>0.374 ± 0.088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RBF-SVM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/>
                        <a:t>0.848 ± 0.000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/>
                        <a:t>0.837 ± 0.000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/>
                        <a:t>0.514 ± 0.101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/>
                        <a:t>0.480 ± 0.122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1" name="Table note"/>
          <p:cNvSpPr txBox="1"/>
          <p:nvPr/>
        </p:nvSpPr>
        <p:spPr>
          <a:xfrm>
            <a:off x="838200" y="4670688"/>
            <a:ext cx="10515600" cy="300000"/>
          </a:xfrm>
          <a:prstGeom prst="rect">
            <a:avLst/>
          </a:prstGeom>
          <a:noFill/>
        </p:spPr>
        <p:txBody>
          <a:bodyPr wrap="square" lIns="72000" tIns="0" rIns="0" bIns="0" rtlCol="0">
            <a:noAutofit/>
          </a:bodyPr>
          <a:lstStyle/>
          <a:p>
            <a:r>
              <a:rPr lang="en-US" sz="1200" i="1" dirty="0">
                <a:solidFill>
                  <a:srgbClr val="595959"/>
                </a:solidFill>
              </a:rPr>
              <a:t>Raw signal, standardised per channel and flattened. Mean ± sd over 3 seeds. Tuned by stratified CV on training labels only.</a:t>
            </a:r>
          </a:p>
        </p:txBody>
      </p:sp>
    </p:spTree>
    <p:extLst>
      <p:ext uri="{BB962C8B-B14F-4D97-AF65-F5344CB8AC3E}">
        <p14:creationId xmlns:p14="http://schemas.microsoft.com/office/powerpoint/2010/main" val="500317537"/>
      </p:ext>
    </p:extLst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7D91CE-0B02-90EF-F4B0-6B9C625D99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Part C – initial test of T-</a:t>
            </a:r>
            <a:r>
              <a:rPr lang="da-DK" dirty="0" err="1"/>
              <a:t>Loss</a:t>
            </a:r>
            <a:r>
              <a:rPr lang="da-DK" dirty="0"/>
              <a:t> and TS2Vec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4A762318-5499-E39E-91E9-9FC6CE168E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58200" y="1770688"/>
            <a:ext cx="2095600" cy="4300000"/>
          </a:xfrm>
        </p:spPr>
        <p:txBody>
          <a:bodyPr>
            <a:normAutofit/>
          </a:bodyPr>
          <a:lstStyle/>
          <a:p>
            <a:pPr>
              <a:spcBef>
                <a:spcPts val="600"/>
              </a:spcBef>
            </a:pPr>
            <a:r>
              <a:rPr lang="en-US" sz="1400" dirty="0"/>
              <a:t>With logistic regression, SSL features beat even the raw RBF-SVM on FordA and Epilepsy.</a:t>
            </a:r>
          </a:p>
          <a:p>
            <a:pPr>
              <a:spcBef>
                <a:spcPts val="600"/>
              </a:spcBef>
            </a:pPr>
            <a:r>
              <a:rPr lang="en-US" sz="1400" dirty="0"/>
              <a:t>No gain on AWR: the raw signal already reaches 0.97–0.98.</a:t>
            </a:r>
          </a:p>
          <a:p>
            <a:pPr>
              <a:spcBef>
                <a:spcPts val="600"/>
              </a:spcBef>
            </a:pPr>
            <a:r>
              <a:rPr lang="en-US" sz="1400" dirty="0"/>
              <a:t>The advantage holds with 10% labels on FordA and Epilepsy.</a:t>
            </a:r>
          </a:p>
          <a:p>
            <a:pPr>
              <a:spcBef>
                <a:spcPts val="600"/>
              </a:spcBef>
            </a:pPr>
            <a:r>
              <a:rPr lang="en-US" sz="1400" dirty="0"/>
              <a:t>T-Loss and TS2Vec are on par within the seed spread.</a:t>
            </a:r>
          </a:p>
        </p:txBody>
      </p:sp>
      <p:graphicFrame>
        <p:nvGraphicFramePr>
          <p:cNvPr id="10" name="Part C table"/>
          <p:cNvGraphicFramePr>
            <a:graphicFrameLocks noGrp="1"/>
          </p:cNvGraphicFramePr>
          <p:nvPr/>
        </p:nvGraphicFramePr>
        <p:xfrm>
          <a:off x="838200" y="1770688"/>
          <a:ext cx="8170000" cy="4476880"/>
        </p:xfrm>
        <a:graphic>
          <a:graphicData uri="http://schemas.openxmlformats.org/drawingml/2006/table">
            <a:tbl>
              <a:tblPr firstRow="1"/>
              <a:tblGrid>
                <a:gridCol w="12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8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8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8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40000"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/>
                        <a:t>Dataset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/>
                        <a:t>Model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/>
                        <a:t>Accuracy 100%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/>
                        <a:t>Macro-F1 100%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/>
                        <a:t>Accuracy 10%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/>
                        <a:t>Macro-F1 10%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/>
                        <a:t>FordA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/>
                        <a:t>Raw, LogReg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0.492 ± 0.003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0.491 ± 0.005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0.506 ± 0.008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0.506 ± 0.008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/>
                        <a:t>Raw, RBF-SVM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0.828 ± 0.000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0.828 ± 0.000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0.669 ± 0.013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0.667 ± 0.014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/>
                        <a:t>T-Loss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0.923 ± 0.010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0.923 ± 0.010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0.910 ± 0.005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0.910 ± 0.005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/>
                        <a:t>TS2Vec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0.927 ± 0.008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0.927 ± 0.008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0.912 ± 0.005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0.912 ± 0.005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/>
                        <a:t>AWR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/>
                        <a:t>Raw, LogReg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0.973 ± 0.000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0.973 ± 0.000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0.828 ± 0.022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0.820 ± 0.027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/>
                        <a:t>Raw, RBF-SVM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0.980 ± 0.000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0.980 ± 0.000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0.230 ± 0.131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0.218 ± 0.158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/>
                        <a:t>T-Loss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0.966 ± 0.008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0.965 ± 0.008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0.814 ± 0.051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0.801 ± 0.061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/>
                        <a:t>TS2Vec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0.983 ± 0.003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0.983 ± 0.003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0.838 ± 0.027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0.825 ± 0.027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/>
                        <a:t>Epilepsy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/>
                        <a:t>Raw, LogReg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0.633 ± 0.017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0.600 ± 0.018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0.440 ± 0.071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0.374 ± 0.088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/>
                        <a:t>Raw, RBF-SVM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0.848 ± 0.000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0.837 ± 0.000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0.514 ± 0.101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0.480 ± 0.122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/>
                        <a:t>T-Loss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0.969 ± 0.008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0.968 ± 0.008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0.744 ± 0.023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0.741 ± 0.025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/>
                        <a:t>TS2Vec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0.966 ± 0.008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0.965 ± 0.009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0.737 ± 0.049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0.734 ± 0.047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11" name="Table note"/>
          <p:cNvSpPr txBox="1"/>
          <p:nvPr/>
        </p:nvSpPr>
        <p:spPr>
          <a:xfrm>
            <a:off x="838200" y="6240688"/>
            <a:ext cx="10515600" cy="260000"/>
          </a:xfrm>
          <a:prstGeom prst="rect">
            <a:avLst/>
          </a:prstGeom>
          <a:noFill/>
        </p:spPr>
        <p:txBody>
          <a:bodyPr wrap="square" lIns="72000" tIns="0" rIns="0" bIns="0" rtlCol="0">
            <a:noAutofit/>
          </a:bodyPr>
          <a:lstStyle/>
          <a:p>
            <a:r>
              <a:rPr lang="en-US" sz="1200" i="1" dirty="0">
                <a:solidFill>
                  <a:srgbClr val="595959"/>
                </a:solidFill>
              </a:rPr>
              <a:t>SSL rows: frozen encoders, 320-d, logistic regression (principal probe); RBF-SVM on SSL features in the report. Mean ± sd over 3 seeds.</a:t>
            </a:r>
          </a:p>
        </p:txBody>
      </p:sp>
    </p:spTree>
    <p:extLst>
      <p:ext uri="{BB962C8B-B14F-4D97-AF65-F5344CB8AC3E}">
        <p14:creationId xmlns:p14="http://schemas.microsoft.com/office/powerpoint/2010/main" val="3246755606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8063438-096A-EDB3-1FEE-4C0CD58AC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Part D – </a:t>
            </a:r>
            <a:r>
              <a:rPr lang="da-DK" dirty="0" err="1"/>
              <a:t>robustness</a:t>
            </a:r>
            <a:r>
              <a:rPr lang="da-DK" dirty="0"/>
              <a:t> to sensor dropout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ADC5AA0E-A855-877F-F279-9ABE983B3C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58200" y="1770688"/>
            <a:ext cx="2095600" cy="4300000"/>
          </a:xfrm>
        </p:spPr>
        <p:txBody>
          <a:bodyPr>
            <a:normAutofit/>
          </a:bodyPr>
          <a:lstStyle/>
          <a:p>
            <a:pPr>
              <a:spcBef>
                <a:spcPts val="600"/>
              </a:spcBef>
            </a:pPr>
            <a:r>
              <a:rPr lang="en-US" sz="1400" dirty="0"/>
              <a:t>Every drop is small (≤ 0.04) and within the seed spread.</a:t>
            </a:r>
          </a:p>
          <a:p>
            <a:pPr>
              <a:spcBef>
                <a:spcPts val="600"/>
              </a:spcBef>
            </a:pPr>
            <a:r>
              <a:rPr lang="en-US" sz="1400" dirty="0"/>
              <a:t>SSL features drop about as much as the raw signal, but keep a far higher accuracy on FordA and Epilepsy.</a:t>
            </a:r>
          </a:p>
          <a:p>
            <a:pPr>
              <a:spcBef>
                <a:spcPts val="600"/>
              </a:spcBef>
            </a:pPr>
            <a:r>
              <a:rPr lang="en-US" sz="1400" dirty="0"/>
              <a:t>FordA raw LogReg: +0.014 is noise at chance level.</a:t>
            </a:r>
          </a:p>
        </p:txBody>
      </p:sp>
      <p:graphicFrame>
        <p:nvGraphicFramePr>
          <p:cNvPr id="10" name="Part D table"/>
          <p:cNvGraphicFramePr>
            <a:graphicFrameLocks noGrp="1"/>
          </p:cNvGraphicFramePr>
          <p:nvPr/>
        </p:nvGraphicFramePr>
        <p:xfrm>
          <a:off x="838200" y="1770688"/>
          <a:ext cx="8170000" cy="4476880"/>
        </p:xfrm>
        <a:graphic>
          <a:graphicData uri="http://schemas.openxmlformats.org/drawingml/2006/table">
            <a:tbl>
              <a:tblPr firstRow="1"/>
              <a:tblGrid>
                <a:gridCol w="12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8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8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8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40000"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/>
                        <a:t>Dataset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/>
                        <a:t>Model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/>
                        <a:t>Clean acc.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/>
                        <a:t>Corrupted acc.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/>
                        <a:t>Δ accuracy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/>
                        <a:t>Δ macro-F1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/>
                        <a:t>FordA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/>
                        <a:t>Raw, LogReg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0.492 ± 0.003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0.506 ± 0.013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+0.014 ± 0.010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+0.015 ± 0.010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/>
                        <a:t>Raw, RBF-SVM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0.828 ± 0.000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0.806 ± 0.004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−0.022 ± 0.004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−0.023 ± 0.004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/>
                        <a:t>T-Loss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0.923 ± 0.010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0.894 ± 0.008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−0.029 ± 0.005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−0.029 ± 0.006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/>
                        <a:t>TS2Vec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0.927 ± 0.008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0.900 ± 0.005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−0.028 ± 0.012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−0.028 ± 0.012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/>
                        <a:t>AWR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/>
                        <a:t>Raw, LogReg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0.973 ± 0.000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0.963 ± 0.003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−0.010 ± 0.003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−0.010 ± 0.003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/>
                        <a:t>Raw, RBF-SVM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0.980 ± 0.000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0.970 ± 0.007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−0.010 ± 0.007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−0.010 ± 0.007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/>
                        <a:t>T-Loss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0.966 ± 0.008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0.951 ± 0.016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−0.014 ± 0.008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−0.014 ± 0.008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/>
                        <a:t>TS2Vec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0.983 ± 0.003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0.961 ± 0.010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−0.022 ± 0.013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−0.022 ± 0.014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/>
                        <a:t>Epilepsy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/>
                        <a:t>Raw, LogReg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0.633 ± 0.017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0.597 ± 0.033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−0.036 ± 0.038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−0.028 ± 0.040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/>
                        <a:t>Raw, RBF-SVM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0.848 ± 0.000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0.812 ± 0.013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−0.036 ± 0.013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−0.031 ± 0.013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/>
                        <a:t>T-Loss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0.969 ± 0.008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0.940 ± 0.023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−0.029 ± 0.019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−0.028 ± 0.019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/>
                        <a:t>TS2Vec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0.966 ± 0.008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0.952 ± 0.018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−0.014 ± 0.013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−0.013 ± 0.011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11" name="Table note"/>
          <p:cNvSpPr txBox="1"/>
          <p:nvPr/>
        </p:nvSpPr>
        <p:spPr>
          <a:xfrm>
            <a:off x="838200" y="6240688"/>
            <a:ext cx="10515600" cy="260000"/>
          </a:xfrm>
          <a:prstGeom prst="rect">
            <a:avLst/>
          </a:prstGeom>
          <a:noFill/>
        </p:spPr>
        <p:txBody>
          <a:bodyPr wrap="square" lIns="72000" tIns="0" rIns="0" bIns="0" rtlCol="0">
            <a:noAutofit/>
          </a:bodyPr>
          <a:lstStyle/>
          <a:p>
            <a:r>
              <a:rPr lang="en-US" sz="1200" i="1" dirty="0">
                <a:solidFill>
                  <a:srgbClr val="595959"/>
                </a:solidFill>
              </a:rPr>
              <a:t>100%-label models; one contiguous 20% gap per test series, all channels, training-mean fill. Mean ± sd over 3 seeds.</a:t>
            </a:r>
          </a:p>
        </p:txBody>
      </p:sp>
    </p:spTree>
    <p:extLst>
      <p:ext uri="{BB962C8B-B14F-4D97-AF65-F5344CB8AC3E}">
        <p14:creationId xmlns:p14="http://schemas.microsoft.com/office/powerpoint/2010/main" val="1447590773"/>
      </p:ext>
    </p:extLst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6026A67-C9A8-B9E6-BA58-3D096318D7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Part E – TS2Vec </a:t>
            </a:r>
            <a:r>
              <a:rPr lang="da-DK" dirty="0" err="1"/>
              <a:t>masking</a:t>
            </a:r>
            <a:r>
              <a:rPr lang="da-DK" dirty="0"/>
              <a:t> ablation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318758FC-A4AB-1FDF-97DE-6E5C02E161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500000"/>
            <a:ext cx="10515600" cy="1700000"/>
          </a:xfrm>
        </p:spPr>
        <p:txBody>
          <a:bodyPr>
            <a:normAutofit/>
          </a:bodyPr>
          <a:lstStyle/>
          <a:p>
            <a:pPr>
              <a:spcBef>
                <a:spcPts val="600"/>
              </a:spcBef>
            </a:pPr>
            <a:r>
              <a:rPr lang="en-US" sz="1600" dirty="0"/>
              <a:t>No measurable effect: clean, corrupted and Δ all differ by ≤ 0.003, against a seed spread of about 0.01.</a:t>
            </a:r>
          </a:p>
          <a:p>
            <a:pPr>
              <a:spcBef>
                <a:spcPts val="600"/>
              </a:spcBef>
            </a:pPr>
            <a:r>
              <a:rPr lang="en-US" sz="1600" dirty="0"/>
              <a:t>Continuous masking does not make TS2Vec more robust to a contiguous gap at test time.</a:t>
            </a:r>
          </a:p>
        </p:txBody>
      </p:sp>
      <p:graphicFrame>
        <p:nvGraphicFramePr>
          <p:cNvPr id="10" name="Part E table"/>
          <p:cNvGraphicFramePr>
            <a:graphicFrameLocks noGrp="1"/>
          </p:cNvGraphicFramePr>
          <p:nvPr/>
        </p:nvGraphicFramePr>
        <p:xfrm>
          <a:off x="838200" y="1840688"/>
          <a:ext cx="10515600" cy="2200000"/>
        </p:xfrm>
        <a:graphic>
          <a:graphicData uri="http://schemas.openxmlformats.org/drawingml/2006/table">
            <a:tbl>
              <a:tblPr firstRow="1"/>
              <a:tblGrid>
                <a:gridCol w="17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15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666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6666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666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40000"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/>
                        <a:t>Metric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/>
                        <a:t>Masking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b="1" dirty="0"/>
                        <a:t>Clean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b="1" dirty="0"/>
                        <a:t>Corrupted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b="1" dirty="0"/>
                        <a:t>Δ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/>
                        <a:t>Accuracy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dirty="0"/>
                        <a:t>Binomial (default)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dirty="0"/>
                        <a:t>0.927 ± 0.008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dirty="0"/>
                        <a:t>0.900 ± 0.005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dirty="0"/>
                        <a:t>−0.028 ± 0.012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dirty="0"/>
                        <a:t>Continuous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dirty="0"/>
                        <a:t>0.928 ± 0.008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dirty="0"/>
                        <a:t>0.897 ± 0.003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dirty="0"/>
                        <a:t>−0.031 ± 0.009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/>
                        <a:t>Macro-F1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dirty="0"/>
                        <a:t>Binomial (default)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dirty="0"/>
                        <a:t>0.927 ± 0.008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dirty="0"/>
                        <a:t>0.900 ± 0.005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dirty="0"/>
                        <a:t>−0.028 ± 0.012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dirty="0"/>
                        <a:t>Continuous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dirty="0"/>
                        <a:t>0.928 ± 0.008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dirty="0"/>
                        <a:t>0.897 ± 0.003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dirty="0"/>
                        <a:t>−0.031 ± 0.009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Table note"/>
          <p:cNvSpPr txBox="1"/>
          <p:nvPr/>
        </p:nvSpPr>
        <p:spPr>
          <a:xfrm>
            <a:off x="838200" y="4100688"/>
            <a:ext cx="10515600" cy="300000"/>
          </a:xfrm>
          <a:prstGeom prst="rect">
            <a:avLst/>
          </a:prstGeom>
          <a:noFill/>
        </p:spPr>
        <p:txBody>
          <a:bodyPr wrap="square" lIns="72000" tIns="0" rIns="0" bIns="0" rtlCol="0">
            <a:noAutofit/>
          </a:bodyPr>
          <a:lstStyle/>
          <a:p>
            <a:r>
              <a:rPr lang="en-US" sz="1200" i="1" dirty="0">
                <a:solidFill>
                  <a:srgbClr val="595959"/>
                </a:solidFill>
              </a:rPr>
              <a:t>FordA, logistic regression, 100% labels, 3 seeds. Same encoder, 600 iterations, seeds and corrupted test sets; only the training mask differs.</a:t>
            </a:r>
          </a:p>
        </p:txBody>
      </p:sp>
    </p:spTree>
    <p:extLst>
      <p:ext uri="{BB962C8B-B14F-4D97-AF65-F5344CB8AC3E}">
        <p14:creationId xmlns:p14="http://schemas.microsoft.com/office/powerpoint/2010/main" val="2259028995"/>
      </p:ext>
    </p:ext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5738CCB-FF68-06CB-87E8-89614E03F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Part F – TF-C for transfer learning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BAD4277D-350D-E260-7A02-C758CA366A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470688"/>
            <a:ext cx="10515600" cy="2900000"/>
          </a:xfrm>
        </p:spPr>
        <p:txBody>
          <a:bodyPr>
            <a:normAutofit/>
          </a:bodyPr>
          <a:lstStyle/>
          <a:p>
            <a:pPr>
              <a:spcBef>
                <a:spcPts val="600"/>
              </a:spcBef>
            </a:pPr>
            <a:r>
              <a:rPr lang="en-US" sz="1600" dirty="0"/>
              <a:t>Released code run unchanged: pretrain on 640 of 8,184 FD-A windows, fine-tune on 60 FD-B windows, test on 13,559.</a:t>
            </a:r>
          </a:p>
          <a:p>
            <a:pPr>
              <a:spcBef>
                <a:spcPts val="600"/>
              </a:spcBef>
            </a:pPr>
            <a:r>
              <a:rPr lang="en-US" sz="1600" dirty="0"/>
              <a:t>The model predicts one class for every test window: 45.5% is that class's share of the test set.</a:t>
            </a:r>
          </a:p>
          <a:p>
            <a:pPr>
              <a:spcBef>
                <a:spcPts val="600"/>
              </a:spcBef>
            </a:pPr>
            <a:r>
              <a:rPr lang="en-US" sz="1600" dirty="0"/>
              <a:t>Cause: the encoders collapse in pretraining. The loss settles at 8.18, its value when all embeddings are identical.</a:t>
            </a:r>
          </a:p>
          <a:p>
            <a:pPr>
              <a:spcBef>
                <a:spcPts val="600"/>
              </a:spcBef>
            </a:pPr>
            <a:r>
              <a:rPr lang="en-US" sz="1600" dirty="0"/>
              <a:t>Shows the released code fails on this task and not that the paper's result or method is wrong.</a:t>
            </a:r>
          </a:p>
        </p:txBody>
      </p:sp>
      <p:graphicFrame>
        <p:nvGraphicFramePr>
          <p:cNvPr id="10" name="Part F table"/>
          <p:cNvGraphicFramePr>
            <a:graphicFrameLocks noGrp="1"/>
          </p:cNvGraphicFramePr>
          <p:nvPr/>
        </p:nvGraphicFramePr>
        <p:xfrm>
          <a:off x="838200" y="1840688"/>
          <a:ext cx="10515600" cy="1380000"/>
        </p:xfrm>
        <a:graphic>
          <a:graphicData uri="http://schemas.openxmlformats.org/drawingml/2006/table">
            <a:tbl>
              <a:tblPr firstRow="1"/>
              <a:tblGrid>
                <a:gridCol w="5515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60000"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/>
                        <a:t>Run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b="1" dirty="0"/>
                        <a:t>Accuracy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b="1" dirty="0"/>
                        <a:t>Macro-F1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/>
                        <a:t>This run (FD-B test, seed 42)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dirty="0"/>
                        <a:t>0.455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dirty="0"/>
                        <a:t>0.209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/>
                        <a:t>TF-C supplement, Table 5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dirty="0"/>
                        <a:t>0.893 ± 0.038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dirty="0"/>
                        <a:t>0.916 ± 0.083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1440792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6646033-93E5-2AF7-56EF-25309B5E2E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Conclusions</a:t>
            </a:r>
            <a:endParaRPr lang="da-DK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A9263365-6C56-D5F2-4FEF-D97D5C6739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356153713"/>
      </p:ext>
    </p:extLst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NET" val="6.0.27"/>
  <p:tag name="AS_OS" val="Unix 6.5.0.1014"/>
  <p:tag name="AS_RELEASE_DATE" val="2023.08.14"/>
  <p:tag name="AS_TITLE" val="Aspose.Slides for .NET Standard 2.0"/>
  <p:tag name="AS_VERSION" val="23.8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Aptos Display" panose="02110004020202020204"/>
        <a:cs typeface="Arial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Aptos" panose="02110004020202020204"/>
        <a:cs typeface="Arial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41E17F4A-AB8A-4D8D-BB4C-2E76088A3C00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fb5438d0-de58-4bf8-a170-eecf1b7fdd75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TemplafyFormConfiguration><![CDATA[{"formFields":[],"formDataEntries":[]}]]></TemplafyFormConfiguration>
</file>

<file path=customXml/item2.xml><?xml version="1.0" encoding="utf-8"?>
<TemplafyTemplateConfiguration><![CDATA[{"elementsMetadata":[],"transformationConfigurations":[],"templateName":"blankpresentation","templateDescription":"","enableDocumentContentUpdater":false,"version":"2.0"}]]></TemplafyTemplateConfiguration>
</file>

<file path=customXml/item3.xml><?xml version="1.0" encoding="utf-8"?>
<TemplafySlideTemplateConfiguration><![CDATA[{"slideVersion":1,"isValidatorEnabled":false,"isLocked":false,"elementsMetadata":[],"slideId":"1054884848216047618","enableDocumentContentUpdater":false,"version":"2.0"}]]></TemplafySlideTemplateConfiguration>
</file>

<file path=customXml/item4.xml><?xml version="1.0" encoding="utf-8"?>
<TemplafySlideFormConfiguration><![CDATA[{"formFields":[],"formDataEntries":[]}]]></TemplafySlideFormConfiguration>
</file>

<file path=customXml/itemProps1.xml><?xml version="1.0" encoding="utf-8"?>
<ds:datastoreItem xmlns:ds="http://schemas.openxmlformats.org/officeDocument/2006/customXml" ds:itemID="{C5938109-F486-41EA-929F-D7DF65C5D6B1}">
  <ds:schemaRefs/>
</ds:datastoreItem>
</file>

<file path=customXml/itemProps2.xml><?xml version="1.0" encoding="utf-8"?>
<ds:datastoreItem xmlns:ds="http://schemas.openxmlformats.org/officeDocument/2006/customXml" ds:itemID="{386C9AF7-FC43-4772-BF6D-26FE95C56D62}">
  <ds:schemaRefs/>
</ds:datastoreItem>
</file>

<file path=customXml/itemProps3.xml><?xml version="1.0" encoding="utf-8"?>
<ds:datastoreItem xmlns:ds="http://schemas.openxmlformats.org/officeDocument/2006/customXml" ds:itemID="{B69ABF3A-B169-44F9-86AC-4E29FB2A2600}">
  <ds:schemaRefs/>
</ds:datastoreItem>
</file>

<file path=customXml/itemProps4.xml><?xml version="1.0" encoding="utf-8"?>
<ds:datastoreItem xmlns:ds="http://schemas.openxmlformats.org/officeDocument/2006/customXml" ds:itemID="{C60B9EDF-596D-4F67-B5E3-411D55B8E8FC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1321</Words>
  <Application>Microsoft Office PowerPoint</Application>
  <PresentationFormat>Widescreen</PresentationFormat>
  <Paragraphs>315</Paragraphs>
  <Slides>13</Slides>
  <Notes>1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3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Assignment 4</vt:lpstr>
      <vt:lpstr>SSL methods – T-Loss</vt:lpstr>
      <vt:lpstr>SSL methods – TS2Vec</vt:lpstr>
      <vt:lpstr>SSL methods – TF-C</vt:lpstr>
      <vt:lpstr>Datasets</vt:lpstr>
      <vt:lpstr>Experimental protocol – pipeline</vt:lpstr>
      <vt:lpstr>Experimental protocol – specifications</vt:lpstr>
      <vt:lpstr>Part B – raw signal baselines</vt:lpstr>
      <vt:lpstr>Part C – initial test of T-Loss and TS2Vec</vt:lpstr>
      <vt:lpstr>Part D – robustness to sensor dropout</vt:lpstr>
      <vt:lpstr>Part E – TS2Vec masking ablation</vt:lpstr>
      <vt:lpstr>Part F – TF-C for transfer learning</vt:lpstr>
      <vt:lpstr>Conclusions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/>
  <cp:revision>1</cp:revision>
  <dcterms:created xsi:type="dcterms:W3CDTF">2025-12-19T09:06:10Z</dcterms:created>
  <dcterms:modified xsi:type="dcterms:W3CDTF">2026-10-08T12:42:08Z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emplafyTimeStamp">
    <vt:lpwstr>2024-11-22T08:25:59</vt:lpwstr>
  </property>
  <property fmtid="{D5CDD505-2E9C-101B-9397-08002B2CF9AE}" pid="3" name="TemplafyTenantId">
    <vt:lpwstr>auoffice</vt:lpwstr>
  </property>
  <property fmtid="{D5CDD505-2E9C-101B-9397-08002B2CF9AE}" pid="4" name="TemplafyTemplateId">
    <vt:lpwstr>1054884838842826800</vt:lpwstr>
  </property>
  <property fmtid="{D5CDD505-2E9C-101B-9397-08002B2CF9AE}" pid="5" name="TemplafyUserProfileId">
    <vt:lpwstr>1290988692440090427</vt:lpwstr>
  </property>
  <property fmtid="{D5CDD505-2E9C-101B-9397-08002B2CF9AE}" pid="6" name="TemplafyLanguageCode">
    <vt:lpwstr>en-GB</vt:lpwstr>
  </property>
  <property fmtid="{D5CDD505-2E9C-101B-9397-08002B2CF9AE}" pid="7" name="TemplafyFromBlank">
    <vt:bool>true</vt:bool>
  </property>
</Properties>
</file>