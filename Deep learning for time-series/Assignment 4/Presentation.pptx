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5"/>
  </p:sldMasterIdLst>
  <p:notesMasterIdLst>
    <p:notesMasterId r:id="rId22"/>
  </p:notesMasterIdLst>
  <p:sldIdLst>
    <p:sldId id="256" r:id="rId6"/>
    <p:sldId id="267" r:id="rId7"/>
    <p:sldId id="268" r:id="rId8"/>
    <p:sldId id="269" r:id="rId9"/>
    <p:sldId id="270" r:id="rId10"/>
    <p:sldId id="280" r:id="rId28"/>
    <p:sldId id="275" r:id="rId11"/>
    <p:sldId id="272" r:id="rId12"/>
    <p:sldId id="260" r:id="rId13"/>
    <p:sldId id="261" r:id="rId14"/>
    <p:sldId id="263" r:id="rId15"/>
    <p:sldId id="264" r:id="rId16"/>
    <p:sldId id="265" r:id="rId17"/>
    <p:sldId id="276" r:id="rId18"/>
    <p:sldId id="279" r:id="rId19"/>
    <p:sldId id="266" r:id="rId20"/>
    <p:sldId id="277" r:id="rId21"/>
  </p:sldIdLst>
  <p:sldSz cx="12192000" cy="6858000"/>
  <p:notesSz cx="6858000" cy="9144000"/>
  <p:custDataLst>
    <p:tags r:id="rId2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3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tags" Target="tags/tag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6DB14B-D186-4395-AA45-D206432F77E6}" type="datetimeFigureOut">
              <a:rPr lang="da-DK" smtClean="0"/>
              <a:t>11-10-2026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40D09C-7D50-4707-B5BE-4BF22769806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9768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40D09C-7D50-4707-B5BE-4BF227698062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6507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ustomXml" Target="../../customXml/item4.xml"/><Relationship Id="rId2" Type="http://schemas.openxmlformats.org/officeDocument/2006/relationships/customXml" Target="../../customXml/item3.xml"/><Relationship Id="rId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Assignment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5B532E-3533-4DE4-02F9-6D81FE9B7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T-</a:t>
            </a:r>
            <a:r>
              <a:rPr lang="da-DK" dirty="0" err="1"/>
              <a:t>Loss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B84B8-2BD0-3523-ACE3-DE7BF46C1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Triplet</a:t>
            </a:r>
            <a:r>
              <a:rPr lang="da-DK" dirty="0"/>
              <a:t> </a:t>
            </a:r>
            <a:r>
              <a:rPr lang="da-DK" dirty="0" err="1"/>
              <a:t>loss</a:t>
            </a:r>
            <a:endParaRPr lang="da-DK" dirty="0"/>
          </a:p>
          <a:p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length</a:t>
            </a:r>
            <a:r>
              <a:rPr lang="da-DK" dirty="0"/>
              <a:t> sampling for </a:t>
            </a:r>
            <a:r>
              <a:rPr lang="da-DK" dirty="0" err="1"/>
              <a:t>robustness</a:t>
            </a:r>
            <a:endParaRPr lang="da-DK" dirty="0"/>
          </a:p>
          <a:p>
            <a:r>
              <a:rPr lang="da-DK" dirty="0"/>
              <a:t>Sub-series as positive </a:t>
            </a:r>
            <a:r>
              <a:rPr lang="da-DK" dirty="0" err="1"/>
              <a:t>within</a:t>
            </a:r>
            <a:r>
              <a:rPr lang="da-DK" dirty="0"/>
              <a:t> </a:t>
            </a:r>
            <a:r>
              <a:rPr lang="da-DK" dirty="0" err="1"/>
              <a:t>context</a:t>
            </a:r>
            <a:r>
              <a:rPr lang="da-DK" dirty="0"/>
              <a:t> of reference</a:t>
            </a:r>
          </a:p>
          <a:p>
            <a:r>
              <a:rPr lang="da-DK" dirty="0" err="1"/>
              <a:t>Other</a:t>
            </a:r>
            <a:r>
              <a:rPr lang="da-DK" dirty="0"/>
              <a:t> series as negative</a:t>
            </a:r>
          </a:p>
          <a:p>
            <a:r>
              <a:rPr lang="da-DK" dirty="0" err="1"/>
              <a:t>Stacked</a:t>
            </a:r>
            <a:r>
              <a:rPr lang="da-DK" dirty="0"/>
              <a:t>, </a:t>
            </a:r>
            <a:r>
              <a:rPr lang="da-DK" dirty="0" err="1"/>
              <a:t>dilating</a:t>
            </a:r>
            <a:r>
              <a:rPr lang="da-DK" dirty="0"/>
              <a:t>,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layers</a:t>
            </a:r>
            <a:r>
              <a:rPr lang="da-DK" dirty="0"/>
              <a:t> and residual </a:t>
            </a:r>
            <a:r>
              <a:rPr lang="da-DK" dirty="0" err="1"/>
              <a:t>connections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88559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F07E3-F76E-0F0F-3647-D0719E85D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C693D-D7BC-A116-6919-66A3D3E85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Overlapping series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encoded</a:t>
            </a:r>
            <a:r>
              <a:rPr lang="da-DK" dirty="0"/>
              <a:t> – same segment is </a:t>
            </a:r>
            <a:r>
              <a:rPr lang="da-DK" dirty="0" err="1"/>
              <a:t>viewed</a:t>
            </a:r>
            <a:r>
              <a:rPr lang="da-DK" dirty="0"/>
              <a:t> </a:t>
            </a:r>
            <a:r>
              <a:rPr lang="da-DK" dirty="0" err="1"/>
              <a:t>through</a:t>
            </a:r>
            <a:r>
              <a:rPr lang="da-DK" dirty="0"/>
              <a:t>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contexts</a:t>
            </a:r>
            <a:endParaRPr lang="da-DK" dirty="0"/>
          </a:p>
          <a:p>
            <a:r>
              <a:rPr lang="da-DK" dirty="0"/>
              <a:t>Augment latent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Temporal negatives: </a:t>
            </a:r>
            <a:r>
              <a:rPr lang="da-DK" dirty="0" err="1"/>
              <a:t>other</a:t>
            </a:r>
            <a:r>
              <a:rPr lang="da-DK" dirty="0"/>
              <a:t> timestamps of same series</a:t>
            </a:r>
          </a:p>
          <a:p>
            <a:r>
              <a:rPr lang="da-DK" dirty="0" err="1"/>
              <a:t>Instance</a:t>
            </a:r>
            <a:r>
              <a:rPr lang="da-DK" dirty="0"/>
              <a:t> negatives: </a:t>
            </a:r>
            <a:r>
              <a:rPr lang="da-DK" dirty="0" err="1"/>
              <a:t>other</a:t>
            </a:r>
            <a:r>
              <a:rPr lang="da-DK" dirty="0"/>
              <a:t> series in the batch at the same timestamp</a:t>
            </a:r>
          </a:p>
          <a:p>
            <a:r>
              <a:rPr lang="da-DK" dirty="0" err="1"/>
              <a:t>Hierarchical</a:t>
            </a:r>
            <a:r>
              <a:rPr lang="da-DK" dirty="0"/>
              <a:t> </a:t>
            </a:r>
            <a:r>
              <a:rPr lang="da-DK" dirty="0" err="1"/>
              <a:t>contrasting</a:t>
            </a:r>
            <a:r>
              <a:rPr lang="da-DK" dirty="0"/>
              <a:t>: </a:t>
            </a:r>
            <a:r>
              <a:rPr lang="da-DK" dirty="0" err="1"/>
              <a:t>progressively</a:t>
            </a:r>
            <a:r>
              <a:rPr lang="da-DK" dirty="0"/>
              <a:t> </a:t>
            </a:r>
            <a:r>
              <a:rPr lang="da-DK" dirty="0" err="1"/>
              <a:t>coarser</a:t>
            </a:r>
            <a:r>
              <a:rPr lang="da-DK" dirty="0"/>
              <a:t> </a:t>
            </a:r>
            <a:r>
              <a:rPr lang="da-DK" dirty="0" err="1"/>
              <a:t>maxpooling</a:t>
            </a:r>
            <a:r>
              <a:rPr lang="da-DK" dirty="0"/>
              <a:t> for </a:t>
            </a:r>
            <a:r>
              <a:rPr lang="da-DK" dirty="0" err="1"/>
              <a:t>loss</a:t>
            </a:r>
            <a:r>
              <a:rPr lang="da-DK" dirty="0"/>
              <a:t> </a:t>
            </a:r>
            <a:r>
              <a:rPr lang="da-DK" dirty="0" err="1"/>
              <a:t>calculation</a:t>
            </a:r>
            <a:endParaRPr lang="da-DK" dirty="0"/>
          </a:p>
          <a:p>
            <a:r>
              <a:rPr lang="da-DK" dirty="0" err="1"/>
              <a:t>Dilated</a:t>
            </a:r>
            <a:r>
              <a:rPr lang="da-DK" dirty="0"/>
              <a:t> CNN </a:t>
            </a:r>
            <a:r>
              <a:rPr lang="da-DK" dirty="0" err="1"/>
              <a:t>network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41257415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489F15-B560-09B8-5E19-5EDD091DC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TF-C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F9C9EC-A0BE-33F8-5BDB-E141499F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9273"/>
            <a:ext cx="10515600" cy="4351338"/>
          </a:xfrm>
        </p:spPr>
        <p:txBody>
          <a:bodyPr/>
          <a:lstStyle/>
          <a:p>
            <a:r>
              <a:rPr lang="da-DK" dirty="0"/>
              <a:t>Time and </a:t>
            </a:r>
            <a:r>
              <a:rPr lang="da-DK" dirty="0" err="1"/>
              <a:t>frequency</a:t>
            </a:r>
            <a:r>
              <a:rPr lang="da-DK" dirty="0"/>
              <a:t>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Augmentations on </a:t>
            </a:r>
            <a:r>
              <a:rPr lang="da-DK" dirty="0" err="1"/>
              <a:t>raw</a:t>
            </a:r>
            <a:r>
              <a:rPr lang="da-DK" dirty="0"/>
              <a:t> data</a:t>
            </a:r>
          </a:p>
          <a:p>
            <a:r>
              <a:rPr lang="da-DK" dirty="0"/>
              <a:t>Positives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augmented</a:t>
            </a:r>
            <a:r>
              <a:rPr lang="da-DK" dirty="0"/>
              <a:t> views</a:t>
            </a:r>
          </a:p>
          <a:p>
            <a:r>
              <a:rPr lang="da-DK" dirty="0"/>
              <a:t>Negatives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series</a:t>
            </a:r>
          </a:p>
          <a:p>
            <a:r>
              <a:rPr lang="da-DK" dirty="0"/>
              <a:t>Positives (2nd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domain </a:t>
            </a:r>
            <a:r>
              <a:rPr lang="da-DK" dirty="0" err="1"/>
              <a:t>representation</a:t>
            </a:r>
            <a:endParaRPr lang="da-DK" dirty="0"/>
          </a:p>
          <a:p>
            <a:r>
              <a:rPr lang="da-DK" dirty="0"/>
              <a:t>Negatives (2nd </a:t>
            </a:r>
            <a:r>
              <a:rPr lang="da-DK" dirty="0" err="1"/>
              <a:t>level</a:t>
            </a:r>
            <a:r>
              <a:rPr lang="da-DK" dirty="0"/>
              <a:t>): augmentations</a:t>
            </a:r>
          </a:p>
          <a:p>
            <a:r>
              <a:rPr lang="da-DK" dirty="0"/>
              <a:t>Architecture: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blocks</a:t>
            </a:r>
            <a:r>
              <a:rPr lang="da-DK" dirty="0"/>
              <a:t> and </a:t>
            </a:r>
            <a:r>
              <a:rPr lang="da-DK" dirty="0" err="1"/>
              <a:t>fully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 </a:t>
            </a:r>
            <a:r>
              <a:rPr lang="da-DK" dirty="0" err="1"/>
              <a:t>layers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2873458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15B4B5-F35A-56E4-C1B8-D8B9CDF4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Datasets</a:t>
            </a:r>
          </a:p>
        </p:txBody>
      </p:sp>
      <p:graphicFrame>
        <p:nvGraphicFramePr>
          <p:cNvPr id="4" name="Datas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021220"/>
              </p:ext>
            </p:extLst>
          </p:nvPr>
        </p:nvGraphicFramePr>
        <p:xfrm>
          <a:off x="838200" y="1905000"/>
          <a:ext cx="10515600" cy="3180080"/>
        </p:xfrm>
        <a:graphic>
          <a:graphicData uri="http://schemas.openxmlformats.org/drawingml/2006/table">
            <a:tbl>
              <a:tblPr firstRow="1"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37889474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315036549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Dataset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Source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Channels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Classes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Train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Test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FordA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Engine noise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3,601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1,320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Articulary Word Recognition (AWR)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Mouth motions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25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275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300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Epilepsy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Physical activities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137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138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8,184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2,728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FD-B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60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13,559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able note"/>
          <p:cNvSpPr txBox="1"/>
          <p:nvPr/>
        </p:nvSpPr>
        <p:spPr>
          <a:xfrm>
            <a:off x="838200" y="5299392"/>
            <a:ext cx="105156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 dirty="0"/>
              <a:t>Train and test: number of series in the official splits. FD-A and FD-B: windows in the processed TF-C data.</a:t>
            </a:r>
          </a:p>
        </p:txBody>
      </p:sp>
    </p:spTree>
    <p:extLst>
      <p:ext uri="{BB962C8B-B14F-4D97-AF65-F5344CB8AC3E}">
        <p14:creationId xmlns:p14="http://schemas.microsoft.com/office/powerpoint/2010/main" val="218414500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25CD9-22F1-551B-FCB4-FADBC53C9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Experimental</a:t>
            </a:r>
            <a:r>
              <a:rPr lang="da-DK" dirty="0"/>
              <a:t> </a:t>
            </a:r>
            <a:r>
              <a:rPr lang="da-DK" dirty="0" err="1"/>
              <a:t>protocol</a:t>
            </a:r>
            <a:r>
              <a:rPr lang="da-DK" dirty="0"/>
              <a:t> – pipeline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93061-3DA4-AAC7-F7E0-53ED9EA37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1" name="Step Raw data"/>
          <p:cNvSpPr/>
          <p:nvPr/>
        </p:nvSpPr>
        <p:spPr>
          <a:xfrm>
            <a:off x="83820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Raw data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217170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3" name="Step Scaling"/>
          <p:cNvSpPr/>
          <p:nvPr/>
        </p:nvSpPr>
        <p:spPr>
          <a:xfrm>
            <a:off x="263652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Scaling</a:t>
            </a:r>
          </a:p>
        </p:txBody>
      </p:sp>
      <p:cxnSp>
        <p:nvCxnSpPr>
          <p:cNvPr id="14" name="Arrow 14"/>
          <p:cNvCxnSpPr/>
          <p:nvPr/>
        </p:nvCxnSpPr>
        <p:spPr>
          <a:xfrm>
            <a:off x="397002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5" name="Step Encoding"/>
          <p:cNvSpPr/>
          <p:nvPr/>
        </p:nvSpPr>
        <p:spPr>
          <a:xfrm>
            <a:off x="443484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15608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Encoding</a:t>
            </a:r>
          </a:p>
        </p:txBody>
      </p:sp>
      <p:cxnSp>
        <p:nvCxnSpPr>
          <p:cNvPr id="16" name="Arrow 16"/>
          <p:cNvCxnSpPr/>
          <p:nvPr/>
        </p:nvCxnSpPr>
        <p:spPr>
          <a:xfrm>
            <a:off x="576834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7" name="Step Scaling"/>
          <p:cNvSpPr/>
          <p:nvPr/>
        </p:nvSpPr>
        <p:spPr>
          <a:xfrm>
            <a:off x="623316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Scaling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7566660" y="5038328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9" name="Step Probing"/>
          <p:cNvSpPr/>
          <p:nvPr/>
        </p:nvSpPr>
        <p:spPr>
          <a:xfrm>
            <a:off x="8031480" y="4530328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Probing</a:t>
            </a:r>
          </a:p>
        </p:txBody>
      </p:sp>
      <p:sp>
        <p:nvSpPr>
          <p:cNvPr id="20" name="Step Accuracy"/>
          <p:cNvSpPr/>
          <p:nvPr/>
        </p:nvSpPr>
        <p:spPr>
          <a:xfrm>
            <a:off x="9829800" y="41747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Accuracy</a:t>
            </a:r>
          </a:p>
        </p:txBody>
      </p:sp>
      <p:sp>
        <p:nvSpPr>
          <p:cNvPr id="21" name="Step F1-score"/>
          <p:cNvSpPr/>
          <p:nvPr/>
        </p:nvSpPr>
        <p:spPr>
          <a:xfrm>
            <a:off x="9829800" y="51907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F1-score</a:t>
            </a:r>
          </a:p>
        </p:txBody>
      </p:sp>
      <p:cxnSp>
        <p:nvCxnSpPr>
          <p:cNvPr id="22" name="Arrow 22"/>
          <p:cNvCxnSpPr/>
          <p:nvPr/>
        </p:nvCxnSpPr>
        <p:spPr>
          <a:xfrm flipV="1">
            <a:off x="9364980" y="45303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23" name="Arrow 23"/>
          <p:cNvCxnSpPr/>
          <p:nvPr/>
        </p:nvCxnSpPr>
        <p:spPr>
          <a:xfrm>
            <a:off x="9364980" y="50383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30" name="Baseline Raw data"/>
          <p:cNvSpPr/>
          <p:nvPr/>
        </p:nvSpPr>
        <p:spPr>
          <a:xfrm>
            <a:off x="838200" y="2225477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Raw data</a:t>
            </a:r>
          </a:p>
        </p:txBody>
      </p:sp>
      <p:cxnSp>
        <p:nvCxnSpPr>
          <p:cNvPr id="31" name="Baseline Arrow 1"/>
          <p:cNvCxnSpPr/>
          <p:nvPr/>
        </p:nvCxnSpPr>
        <p:spPr>
          <a:xfrm>
            <a:off x="2171700" y="2733477"/>
            <a:ext cx="46482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32" name="Baseline Scaling"/>
          <p:cNvSpPr/>
          <p:nvPr/>
        </p:nvSpPr>
        <p:spPr>
          <a:xfrm>
            <a:off x="2636520" y="2225477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Scaling</a:t>
            </a:r>
          </a:p>
        </p:txBody>
      </p:sp>
      <p:cxnSp>
        <p:nvCxnSpPr>
          <p:cNvPr id="33" name="Baseline Arrow 2"/>
          <p:cNvCxnSpPr/>
          <p:nvPr/>
        </p:nvCxnSpPr>
        <p:spPr>
          <a:xfrm>
            <a:off x="3970020" y="2733477"/>
            <a:ext cx="4061460" cy="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34" name="Baseline Probing"/>
          <p:cNvSpPr/>
          <p:nvPr/>
        </p:nvSpPr>
        <p:spPr>
          <a:xfrm>
            <a:off x="8031480" y="2225477"/>
            <a:ext cx="1333500" cy="101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262626"/>
                </a:solidFill>
              </a:rPr>
              <a:t>Probing</a:t>
            </a:r>
          </a:p>
        </p:txBody>
      </p:sp>
      <p:sp>
        <p:nvSpPr>
          <p:cNvPr id="40" name="Baseline Accuracy"/>
          <p:cNvSpPr/>
          <p:nvPr/>
        </p:nvSpPr>
        <p:spPr>
          <a:xfrm>
            <a:off x="9829800" y="18633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Accuracy</a:t>
            </a:r>
          </a:p>
        </p:txBody>
      </p:sp>
      <p:sp>
        <p:nvSpPr>
          <p:cNvPr id="41" name="Baseline F1-score"/>
          <p:cNvSpPr/>
          <p:nvPr/>
        </p:nvSpPr>
        <p:spPr>
          <a:xfrm>
            <a:off x="9829800" y="2879328"/>
            <a:ext cx="152400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56082"/>
                </a:solidFill>
              </a:rPr>
              <a:t>F1-score</a:t>
            </a:r>
          </a:p>
        </p:txBody>
      </p:sp>
      <p:cxnSp>
        <p:nvCxnSpPr>
          <p:cNvPr id="42" name="Baseline Arrow 3"/>
          <p:cNvCxnSpPr/>
          <p:nvPr/>
        </p:nvCxnSpPr>
        <p:spPr>
          <a:xfrm flipV="1">
            <a:off x="9364980" y="22189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43" name="Baseline Arrow 4"/>
          <p:cNvCxnSpPr/>
          <p:nvPr/>
        </p:nvCxnSpPr>
        <p:spPr>
          <a:xfrm>
            <a:off x="9364980" y="2726928"/>
            <a:ext cx="464820" cy="508000"/>
          </a:xfrm>
          <a:prstGeom prst="bentConnector3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651629621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10EC4-26F8-70AB-EA1D-95FB9787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D3FDF9-E30F-E32D-32A9-C53CF64A6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Experimental</a:t>
            </a:r>
            <a:r>
              <a:rPr lang="da-DK" dirty="0"/>
              <a:t> </a:t>
            </a:r>
            <a:r>
              <a:rPr lang="da-DK" dirty="0" err="1"/>
              <a:t>protocol</a:t>
            </a:r>
            <a:r>
              <a:rPr lang="da-DK" dirty="0"/>
              <a:t> – </a:t>
            </a:r>
            <a:r>
              <a:rPr lang="da-DK" dirty="0" err="1"/>
              <a:t>specifications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E7F705B-6688-6427-C65A-E9568A47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da-DK" sz="2000" b="1" dirty="0"/>
              <a:t>Scaling: </a:t>
            </a:r>
            <a:r>
              <a:rPr lang="da-DK" sz="2000" dirty="0"/>
              <a:t>z-scaling, fitted on training data,</a:t>
            </a:r>
            <a:br>
              <a:rPr lang="da-DK" sz="2000" dirty="0"/>
            </a:br>
            <a:r>
              <a:rPr lang="da-DK" sz="2000" dirty="0"/>
              <a:t>per channels and representations </a:t>
            </a:r>
            <a:endParaRPr lang="da-DK" sz="1600" b="1" dirty="0"/>
          </a:p>
          <a:p>
            <a:r>
              <a:rPr lang="da-DK" sz="2000" b="1" dirty="0" err="1"/>
              <a:t>Validation</a:t>
            </a:r>
            <a:r>
              <a:rPr lang="da-DK" sz="2000" b="1" dirty="0"/>
              <a:t>: </a:t>
            </a:r>
            <a:r>
              <a:rPr lang="da-DK" sz="2000" dirty="0"/>
              <a:t>5-fold </a:t>
            </a:r>
            <a:r>
              <a:rPr lang="da-DK" sz="2000" dirty="0" err="1"/>
              <a:t>stratified</a:t>
            </a:r>
            <a:r>
              <a:rPr lang="da-DK" sz="2000" dirty="0"/>
              <a:t> CV for </a:t>
            </a:r>
            <a:r>
              <a:rPr lang="da-DK" sz="2000" dirty="0" err="1"/>
              <a:t>hyperparameter</a:t>
            </a:r>
            <a:r>
              <a:rPr lang="da-DK" sz="2000" dirty="0"/>
              <a:t> tuning (</a:t>
            </a:r>
            <a:r>
              <a:rPr lang="da-DK" sz="2000" dirty="0" err="1"/>
              <a:t>unless</a:t>
            </a:r>
            <a:r>
              <a:rPr lang="da-DK" sz="2000" dirty="0"/>
              <a:t> dataset </a:t>
            </a:r>
            <a:r>
              <a:rPr lang="da-DK" sz="2000" dirty="0" err="1"/>
              <a:t>doesn’t</a:t>
            </a:r>
            <a:r>
              <a:rPr lang="da-DK" sz="2000" dirty="0"/>
              <a:t> </a:t>
            </a:r>
            <a:r>
              <a:rPr lang="da-DK" sz="2000" dirty="0" err="1"/>
              <a:t>allow</a:t>
            </a:r>
            <a:r>
              <a:rPr lang="da-DK" sz="2000" dirty="0"/>
              <a:t>)</a:t>
            </a:r>
          </a:p>
          <a:p>
            <a:r>
              <a:rPr lang="da-DK" sz="2000" b="1" dirty="0" err="1"/>
              <a:t>Seeds</a:t>
            </a:r>
            <a:r>
              <a:rPr lang="da-DK" sz="2000" b="1" dirty="0"/>
              <a:t> (</a:t>
            </a:r>
            <a:r>
              <a:rPr lang="da-DK" sz="2000" b="1" dirty="0" err="1"/>
              <a:t>three</a:t>
            </a:r>
            <a:r>
              <a:rPr lang="da-DK" sz="2000" b="1" dirty="0"/>
              <a:t>)</a:t>
            </a:r>
            <a:endParaRPr lang="da-DK" sz="2000" dirty="0"/>
          </a:p>
          <a:p>
            <a:pPr lvl="1"/>
            <a:r>
              <a:rPr lang="da-DK" sz="1800" dirty="0"/>
              <a:t>Folds</a:t>
            </a:r>
          </a:p>
          <a:p>
            <a:pPr lvl="1"/>
            <a:r>
              <a:rPr lang="da-DK" sz="1800" dirty="0"/>
              <a:t>10% label sets</a:t>
            </a:r>
          </a:p>
          <a:p>
            <a:pPr lvl="1"/>
            <a:r>
              <a:rPr lang="da-DK" sz="1800" dirty="0" err="1"/>
              <a:t>Initialisation</a:t>
            </a:r>
            <a:endParaRPr lang="da-DK" sz="1800" dirty="0"/>
          </a:p>
          <a:p>
            <a:pPr lvl="1"/>
            <a:r>
              <a:rPr lang="da-DK" sz="1800" dirty="0" err="1"/>
              <a:t>Corruption</a:t>
            </a:r>
            <a:r>
              <a:rPr lang="da-DK" sz="1800" dirty="0"/>
              <a:t> pattern</a:t>
            </a:r>
          </a:p>
          <a:p>
            <a:pPr lvl="1"/>
            <a:r>
              <a:rPr lang="da-DK" sz="1800" dirty="0" err="1"/>
              <a:t>Probe’s</a:t>
            </a:r>
            <a:r>
              <a:rPr lang="da-DK" sz="1800" dirty="0"/>
              <a:t> </a:t>
            </a:r>
            <a:r>
              <a:rPr lang="da-DK" sz="1800" dirty="0" err="1"/>
              <a:t>random</a:t>
            </a:r>
            <a:r>
              <a:rPr lang="da-DK" sz="1800" dirty="0"/>
              <a:t> </a:t>
            </a:r>
            <a:r>
              <a:rPr lang="da-DK" sz="1800" dirty="0" err="1"/>
              <a:t>state</a:t>
            </a:r>
            <a:endParaRPr lang="da-DK" sz="1800" dirty="0"/>
          </a:p>
          <a:p>
            <a:r>
              <a:rPr lang="da-DK" sz="2200" b="1" dirty="0"/>
              <a:t>Probes: </a:t>
            </a:r>
            <a:r>
              <a:rPr lang="da-DK" sz="2200" dirty="0" err="1"/>
              <a:t>logistic</a:t>
            </a:r>
            <a:r>
              <a:rPr lang="da-DK" sz="2200" dirty="0"/>
              <a:t> regression + RBF-SVM</a:t>
            </a:r>
          </a:p>
          <a:p>
            <a:r>
              <a:rPr lang="da-DK" sz="2200" b="1" dirty="0"/>
              <a:t>Metrics: </a:t>
            </a:r>
            <a:r>
              <a:rPr lang="da-DK" sz="2200" dirty="0"/>
              <a:t>mean and std. of </a:t>
            </a:r>
            <a:r>
              <a:rPr lang="da-DK" sz="2200" dirty="0" err="1"/>
              <a:t>accuracy</a:t>
            </a:r>
            <a:r>
              <a:rPr lang="da-DK" sz="2200" dirty="0"/>
              <a:t> and </a:t>
            </a:r>
            <a:r>
              <a:rPr lang="da-DK" sz="2200" dirty="0" err="1"/>
              <a:t>macro</a:t>
            </a:r>
            <a:r>
              <a:rPr lang="da-DK" sz="2200" dirty="0"/>
              <a:t> F1-score</a:t>
            </a:r>
          </a:p>
          <a:p>
            <a:r>
              <a:rPr lang="da-DK" sz="2200" b="1" dirty="0"/>
              <a:t>Labels:</a:t>
            </a:r>
            <a:r>
              <a:rPr lang="da-DK" sz="2200" dirty="0"/>
              <a:t> 10% and 100% of labels in </a:t>
            </a:r>
            <a:r>
              <a:rPr lang="da-DK" sz="2200" dirty="0" err="1"/>
              <a:t>training</a:t>
            </a:r>
            <a:endParaRPr lang="da-DK" sz="2200" dirty="0"/>
          </a:p>
          <a:p>
            <a:r>
              <a:rPr lang="da-DK" sz="2200" b="1" dirty="0"/>
              <a:t>SSL </a:t>
            </a:r>
            <a:r>
              <a:rPr lang="da-DK" sz="2200" b="1" dirty="0" err="1"/>
              <a:t>training</a:t>
            </a:r>
            <a:r>
              <a:rPr lang="da-DK" sz="2200" b="1" dirty="0"/>
              <a:t>: </a:t>
            </a:r>
            <a:r>
              <a:rPr lang="da-DK" sz="2200" dirty="0"/>
              <a:t>all </a:t>
            </a:r>
            <a:r>
              <a:rPr lang="da-DK" sz="2200" dirty="0" err="1"/>
              <a:t>training</a:t>
            </a:r>
            <a:r>
              <a:rPr lang="da-DK" sz="2200" dirty="0"/>
              <a:t> inputs, </a:t>
            </a:r>
            <a:r>
              <a:rPr lang="da-DK" sz="2200" dirty="0" err="1"/>
              <a:t>published</a:t>
            </a:r>
            <a:r>
              <a:rPr lang="da-DK" sz="2200" dirty="0"/>
              <a:t> default </a:t>
            </a:r>
            <a:r>
              <a:rPr lang="da-DK" sz="2200" dirty="0" err="1"/>
              <a:t>settings</a:t>
            </a:r>
            <a:r>
              <a:rPr lang="da-DK" sz="2200" dirty="0"/>
              <a:t>, </a:t>
            </a:r>
            <a:r>
              <a:rPr lang="da-DK" sz="2200" dirty="0" err="1"/>
              <a:t>frozen</a:t>
            </a:r>
            <a:r>
              <a:rPr lang="da-DK" sz="2200" dirty="0"/>
              <a:t> </a:t>
            </a:r>
            <a:r>
              <a:rPr lang="da-DK" sz="2200" dirty="0" err="1"/>
              <a:t>encoder</a:t>
            </a:r>
            <a:endParaRPr lang="da-DK" sz="2200" dirty="0"/>
          </a:p>
          <a:p>
            <a:r>
              <a:rPr lang="da-DK" sz="2200" b="1" dirty="0" err="1"/>
              <a:t>Testing</a:t>
            </a:r>
            <a:r>
              <a:rPr lang="da-DK" sz="2200" b="1" dirty="0"/>
              <a:t>: </a:t>
            </a:r>
            <a:r>
              <a:rPr lang="da-DK" sz="2200" dirty="0" err="1"/>
              <a:t>only</a:t>
            </a:r>
            <a:r>
              <a:rPr lang="da-DK" sz="2200" dirty="0"/>
              <a:t> </a:t>
            </a:r>
            <a:r>
              <a:rPr lang="da-DK" sz="2200" dirty="0" err="1"/>
              <a:t>once</a:t>
            </a:r>
            <a:endParaRPr lang="da-DK" sz="2200" b="1" dirty="0"/>
          </a:p>
          <a:p>
            <a:endParaRPr lang="da-DK" sz="2200" dirty="0"/>
          </a:p>
        </p:txBody>
      </p:sp>
    </p:spTree>
    <p:extLst>
      <p:ext uri="{BB962C8B-B14F-4D97-AF65-F5344CB8AC3E}">
        <p14:creationId xmlns:p14="http://schemas.microsoft.com/office/powerpoint/2010/main" val="410445011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6DD432-C2F9-8ADA-57A7-2C436021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B</a:t>
            </a:r>
            <a:br>
              <a:rPr lang="da-DK" dirty="0"/>
            </a:br>
            <a:r>
              <a:rPr lang="da-DK" sz="2000" dirty="0"/>
              <a:t>Initial tests on raw data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E98AEFF-9C81-C28C-B71F-5FA4B0C0F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00000"/>
            <a:ext cx="10515600" cy="1300000"/>
          </a:xfrm>
        </p:spPr>
        <p:txBody>
          <a:bodyPr>
            <a:normAutofit lnSpcReduction="10000"/>
          </a:bodyPr>
          <a:lstStyle/>
          <a:p>
            <a:pPr>
              <a:spcBef>
                <a:spcPts val="600"/>
              </a:spcBef>
            </a:pPr>
            <a:r>
              <a:rPr lang="en-US" sz="1500" dirty="0"/>
              <a:t>Logistic regression fails on FordA (chance) and is weak on Epilepsy: the waveforms are not aligned in time.</a:t>
            </a:r>
          </a:p>
          <a:p>
            <a:pPr>
              <a:spcBef>
                <a:spcPts val="600"/>
              </a:spcBef>
            </a:pPr>
            <a:r>
              <a:rPr lang="en-US" sz="1500" dirty="0"/>
              <a:t>The RBF-SVM is strong with all labels.</a:t>
            </a:r>
          </a:p>
          <a:p>
            <a:pPr>
              <a:spcBef>
                <a:spcPts val="600"/>
              </a:spcBef>
            </a:pPr>
            <a:r>
              <a:rPr lang="en-US" sz="1500" dirty="0"/>
              <a:t>AWR is near-saturated for both probes.</a:t>
            </a:r>
          </a:p>
          <a:p>
            <a:pPr>
              <a:spcBef>
                <a:spcPts val="600"/>
              </a:spcBef>
            </a:pPr>
            <a:r>
              <a:rPr lang="en-US" sz="1500" dirty="0"/>
              <a:t>AWR at 10% has about one label per class, so no tuning is possible and the sklearn defaults are used: RBF-SVM C = 1 and γ = scale, i.e. 1 / (n_features · Var(X)) (logistic regression C = 1). The RBF-SVM then reaches only 0.23.</a:t>
            </a:r>
          </a:p>
        </p:txBody>
      </p:sp>
      <p:graphicFrame>
        <p:nvGraphicFramePr>
          <p:cNvPr id="10" name="Part B table"/>
          <p:cNvGraphicFramePr>
            <a:graphicFrameLocks noGrp="1"/>
          </p:cNvGraphicFramePr>
          <p:nvPr/>
        </p:nvGraphicFramePr>
        <p:xfrm>
          <a:off x="838200" y="1810688"/>
          <a:ext cx="10515600" cy="2800000"/>
        </p:xfrm>
        <a:graphic>
          <a:graphicData uri="http://schemas.openxmlformats.org/drawingml/2006/table">
            <a:tbl>
              <a:tblPr first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Dataset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Probe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Accuracy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Macro-F1 100%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Accuracy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dirty="0"/>
                        <a:t>Macro-F1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FordA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Logistic regression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0.492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0.491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0.669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0.667 ± 0.014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AWR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Logistic regression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0.828 ± 0.022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0.820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0.230 ± 0.131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0.218 ± 0.158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Epilepsy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Logistic regression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0.633 ± 0.017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0.600 ± 0.018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0.440 ± 0.071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0.374 ± 0.088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0.848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0.837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0.514 ± 0.101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/>
                        <a:t>0.480 ± 0.122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4670688"/>
            <a:ext cx="10515600" cy="30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Raw signal, standardised per channel and flattened. Mean ± sd over 3 seeds. Tuned by stratified CV on training labels only.</a:t>
            </a:r>
          </a:p>
        </p:txBody>
      </p:sp>
    </p:spTree>
    <p:extLst>
      <p:ext uri="{BB962C8B-B14F-4D97-AF65-F5344CB8AC3E}">
        <p14:creationId xmlns:p14="http://schemas.microsoft.com/office/powerpoint/2010/main" val="50031753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7D91CE-0B02-90EF-F4B0-6B9C625D9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C</a:t>
            </a:r>
            <a:br>
              <a:rPr lang="da-DK" dirty="0"/>
            </a:br>
            <a:r>
              <a:rPr lang="da-DK" sz="2000" dirty="0"/>
              <a:t>Representations from T-Loss and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A762318-5499-E39E-91E9-9FC6CE168E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8200" y="1770688"/>
            <a:ext cx="2095600" cy="43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400" dirty="0"/>
              <a:t>With logistic regression, SSL features beat even the raw RBF-SVM on FordA and Epilepsy.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No gain on AWR: the raw signal already reaches 0.97–0.98.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The advantage holds with 10% labels on FordA and Epilepsy.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T-Loss and TS2Vec are on par within the seed spread.</a:t>
            </a:r>
          </a:p>
        </p:txBody>
      </p:sp>
      <p:graphicFrame>
        <p:nvGraphicFramePr>
          <p:cNvPr id="10" name="Part C table"/>
          <p:cNvGraphicFramePr>
            <a:graphicFrameLocks noGrp="1"/>
          </p:cNvGraphicFramePr>
          <p:nvPr/>
        </p:nvGraphicFramePr>
        <p:xfrm>
          <a:off x="838200" y="1770688"/>
          <a:ext cx="8170000" cy="4476880"/>
        </p:xfrm>
        <a:graphic>
          <a:graphicData uri="http://schemas.openxmlformats.org/drawingml/2006/table">
            <a:tbl>
              <a:tblPr firstRow="1"/>
              <a:tblGrid>
                <a:gridCol w="1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Dataset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Model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Accuracy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Macro-F1 100%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Accuracy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Macro-F1 10%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FordA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0.492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0.491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0.506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0.669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0.667 ± 0.014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0.923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0.923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0.912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0.912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AWR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0.820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0.230 ± 0.131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0.218 ± 0.158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0.965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0.814 ± 0.051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0.801 ± 0.061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0.838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0.825 ± 0.027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Epilepsy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0.633 ± 0.017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0.600 ± 0.018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0.440 ± 0.071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0.374 ± 0.088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0.848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0.837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0.514 ± 0.101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0.480 ± 0.122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0.969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0.968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0.744 ± 0.023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0.741 ± 0.025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0.965 ± 0.009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0.737 ± 0.049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0.734 ± 0.047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6240688"/>
            <a:ext cx="10515600" cy="26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SSL rows: frozen encoders, 320-d, logistic regression (principal probe); RBF-SVM on SSL features in the report. Mean ± sd over 3 seeds.</a:t>
            </a:r>
          </a:p>
        </p:txBody>
      </p:sp>
    </p:spTree>
    <p:extLst>
      <p:ext uri="{BB962C8B-B14F-4D97-AF65-F5344CB8AC3E}">
        <p14:creationId xmlns:p14="http://schemas.microsoft.com/office/powerpoint/2010/main" val="324675560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063438-096A-EDB3-1FEE-4C0CD58A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a-DK" dirty="0"/>
              <a:t>Part D</a:t>
            </a:r>
            <a:br>
              <a:rPr lang="da-DK" dirty="0"/>
            </a:br>
            <a:r>
              <a:rPr lang="da-DK" sz="2000" dirty="0"/>
              <a:t>Robustness to sensor dropout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DC5AA0E-A855-877F-F279-9ABE983B3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8200" y="1770688"/>
            <a:ext cx="2095600" cy="43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400" dirty="0"/>
              <a:t>Every drop is small (≤ 0.04) and within the seed spread.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SSL features drop about as much as the raw signal, but keep a far higher accuracy on FordA and Epilepsy.</a:t>
            </a:r>
          </a:p>
          <a:p>
            <a:pPr>
              <a:spcBef>
                <a:spcPts val="600"/>
              </a:spcBef>
            </a:pPr>
            <a:r>
              <a:rPr lang="en-US" sz="1400" dirty="0"/>
              <a:t>FordA raw LogReg: +0.014 is noise at chance level.</a:t>
            </a:r>
          </a:p>
        </p:txBody>
      </p:sp>
      <p:graphicFrame>
        <p:nvGraphicFramePr>
          <p:cNvPr id="10" name="Part D table"/>
          <p:cNvGraphicFramePr>
            <a:graphicFrameLocks noGrp="1"/>
          </p:cNvGraphicFramePr>
          <p:nvPr/>
        </p:nvGraphicFramePr>
        <p:xfrm>
          <a:off x="838200" y="1770688"/>
          <a:ext cx="8170000" cy="4476880"/>
        </p:xfrm>
        <a:graphic>
          <a:graphicData uri="http://schemas.openxmlformats.org/drawingml/2006/table">
            <a:tbl>
              <a:tblPr firstRow="1"/>
              <a:tblGrid>
                <a:gridCol w="1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Dataset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Model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Clean acc.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Corrupted acc.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Δ accuracy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/>
                        <a:t>Δ macro-F1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FordA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0.492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0.506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+0.014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+0.015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0.828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0.806 ± 0.004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−0.022 ± 0.004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−0.023 ± 0.004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0.923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0.894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−0.029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−0.029 ± 0.006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0.900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AWR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0.973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0.980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0.970 ± 0.007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−0.010 ± 0.007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0.951 ± 0.016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−0.014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−0.014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0.983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0.961 ± 0.010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−0.022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−0.022 ± 0.014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/>
                        <a:t>Epilepsy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LogReg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0.633 ± 0.017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0.597 ± 0.033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−0.036 ± 0.038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0.040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Raw, RBF-SVM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0.848 ± 0.000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0.812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−0.036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−0.031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T-Loss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0.969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0.940 ± 0.023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−0.029 ± 0.019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−0.028 ± 0.019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/>
                        <a:t>TS2Vec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0.966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0.952 ± 0.018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−0.014 ± 0.013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/>
                        <a:t>−0.013 ± 0.011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6240688"/>
            <a:ext cx="10515600" cy="26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100%-label models; one contiguous 20% gap per test series, all channels, training-mean fill. Mean ± sd over 3 seeds.</a:t>
            </a:r>
          </a:p>
        </p:txBody>
      </p:sp>
    </p:spTree>
    <p:extLst>
      <p:ext uri="{BB962C8B-B14F-4D97-AF65-F5344CB8AC3E}">
        <p14:creationId xmlns:p14="http://schemas.microsoft.com/office/powerpoint/2010/main" val="144759077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026A67-C9A8-B9E6-BA58-3D096318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E</a:t>
            </a:r>
            <a:br>
              <a:rPr lang="da-DK" dirty="0"/>
            </a:br>
            <a:r>
              <a:rPr lang="da-DK" sz="2000" dirty="0"/>
              <a:t>TS2Vec masking ablation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8758FC-A4AB-1FDF-97DE-6E5C02E16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00000"/>
            <a:ext cx="10515600" cy="17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600" dirty="0"/>
              <a:t>No measurable effect: clean, corrupted and Δ all differ by ≤ 0.003, against a seed spread of about 0.01.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Continuous masking does not make TS2Vec more robust to a contiguous gap at test time.</a:t>
            </a:r>
          </a:p>
        </p:txBody>
      </p:sp>
      <p:graphicFrame>
        <p:nvGraphicFramePr>
          <p:cNvPr id="10" name="Part E table"/>
          <p:cNvGraphicFramePr>
            <a:graphicFrameLocks noGrp="1"/>
          </p:cNvGraphicFramePr>
          <p:nvPr/>
        </p:nvGraphicFramePr>
        <p:xfrm>
          <a:off x="838200" y="1840688"/>
          <a:ext cx="10515600" cy="2200000"/>
        </p:xfrm>
        <a:graphic>
          <a:graphicData uri="http://schemas.openxmlformats.org/drawingml/2006/table">
            <a:tbl>
              <a:tblPr firstRow="1"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66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666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Metric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Masking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Clean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Corrupted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Δ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Accuracy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Binomial (default)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0.900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Continuous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0.928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0.897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−0.031 ± 0.009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Macro-F1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Binomial (default)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0.927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0.900 ± 0.005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−0.028 ± 0.012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Continuous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0.928 ± 0.008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0.897 ± 0.003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−0.031 ± 0.009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able note"/>
          <p:cNvSpPr txBox="1"/>
          <p:nvPr/>
        </p:nvSpPr>
        <p:spPr>
          <a:xfrm>
            <a:off x="838200" y="4100688"/>
            <a:ext cx="10515600" cy="300000"/>
          </a:xfrm>
          <a:prstGeom prst="rect">
            <a:avLst/>
          </a:prstGeom>
          <a:noFill/>
        </p:spPr>
        <p:txBody>
          <a:bodyPr wrap="square" lIns="72000" tIns="0" rIns="0" bIns="0" rtlCol="0">
            <a:noAutofit/>
          </a:bodyPr>
          <a:lstStyle/>
          <a:p>
            <a:r>
              <a:rPr lang="en-US" sz="1200" i="1" dirty="0">
                <a:solidFill>
                  <a:srgbClr val="595959"/>
                </a:solidFill>
              </a:rPr>
              <a:t>FordA, logistic regression, 100% labels, 3 seeds. Same encoder, 600 iterations, seeds and corrupted test sets; only the training mask differs.</a:t>
            </a:r>
          </a:p>
        </p:txBody>
      </p:sp>
    </p:spTree>
    <p:extLst>
      <p:ext uri="{BB962C8B-B14F-4D97-AF65-F5344CB8AC3E}">
        <p14:creationId xmlns:p14="http://schemas.microsoft.com/office/powerpoint/2010/main" val="2259028995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38CCB-FF68-06CB-87E8-89614E03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F</a:t>
            </a:r>
            <a:br>
              <a:rPr lang="en-US" dirty="0"/>
            </a:br>
            <a:r>
              <a:rPr lang="en-US" sz="2000" dirty="0"/>
              <a:t>TF-C for transfer learning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AD4277D-350D-E260-7A02-C758CA366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70688"/>
            <a:ext cx="10515600" cy="29000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600" dirty="0"/>
              <a:t>Released code run unchanged: pretrain on 640 of 8,184 FD-A windows, fine-tune on 60 FD-B windows, test on 13,559.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The model predicts one class for every test window: 45.5% is that class's share of the test set.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Cause: the encoders collapse in pretraining. The loss settles at 8.18, its value when all embeddings are identical.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Shows the released code fails on this task and not that the paper's result or method is wrong.</a:t>
            </a:r>
          </a:p>
        </p:txBody>
      </p:sp>
      <p:graphicFrame>
        <p:nvGraphicFramePr>
          <p:cNvPr id="10" name="Part F table"/>
          <p:cNvGraphicFramePr>
            <a:graphicFrameLocks noGrp="1"/>
          </p:cNvGraphicFramePr>
          <p:nvPr/>
        </p:nvGraphicFramePr>
        <p:xfrm>
          <a:off x="838200" y="1840688"/>
          <a:ext cx="10515600" cy="1380000"/>
        </p:xfrm>
        <a:graphic>
          <a:graphicData uri="http://schemas.openxmlformats.org/drawingml/2006/table">
            <a:tbl>
              <a:tblPr firstRow="1"/>
              <a:tblGrid>
                <a:gridCol w="551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Run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Accuracy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/>
                        <a:t>Macro-F1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This run (FD-B test, seed 42)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0.455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0.209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TF-C supplement, Table 5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0.893 ± 0.038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/>
                        <a:t>0.916 ± 0.083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144079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F</a:t>
            </a:r>
            <a:br>
              <a:rPr lang="en-US" dirty="0"/>
            </a:br>
            <a:r>
              <a:rPr lang="en-US" sz="2000" dirty="0"/>
              <a:t>What the supplied pipeline does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Transfer and labels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sz="1600" b="1"/>
              <a:t>Transferred from FD-A: </a:t>
            </a:r>
            <a:r>
              <a:rPr sz="1600"/>
              <a:t>all pretrained weights: time and frequency encoders and both projectors. The classifier is new.</a:t>
            </a:r>
          </a:p>
          <a:p>
            <a:pPr>
              <a:spcBef>
                <a:spcPts val="600"/>
              </a:spcBef>
            </a:pPr>
            <a:r>
              <a:rPr sz="1600" b="1"/>
              <a:t>FD-B labels: </a:t>
            </a:r>
            <a:r>
              <a:rPr sz="1600"/>
              <a:t>enter in fine-tuning through cross-entropy on the 60 labelled windows, and select which fine-tuned model is kept.</a:t>
            </a:r>
          </a:p>
          <a:p>
            <a:pPr>
              <a:spcBef>
                <a:spcPts val="600"/>
              </a:spcBef>
            </a:pPr>
            <a:r>
              <a:rPr sz="1600" b="1"/>
              <a:t>Encoder: </a:t>
            </a:r>
            <a:r>
              <a:rPr sz="1600"/>
              <a:t>updated, not frozen. All weights are fine-tuned and the contrastive losses stay in the objective.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Released code vs. the paper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sz="1600" b="1" dirty="0"/>
              <a:t>Subset: </a:t>
            </a:r>
            <a:r>
              <a:rPr sz="1600" dirty="0"/>
              <a:t>pretraining uses 640 of 8,184 FD-A windows (7.8%), hard-coded in main.py.</a:t>
            </a:r>
          </a:p>
          <a:p>
            <a:pPr>
              <a:spcBef>
                <a:spcPts val="600"/>
              </a:spcBef>
            </a:pPr>
            <a:r>
              <a:rPr sz="1600" b="1" dirty="0"/>
              <a:t>Loss: </a:t>
            </a:r>
            <a:r>
              <a:rPr sz="1600" dirty="0"/>
              <a:t>the consistency loss L_C is computed but not </a:t>
            </a:r>
            <a:r>
              <a:rPr sz="1600" dirty="0" err="1"/>
              <a:t>optimised</a:t>
            </a:r>
            <a:r>
              <a:rPr sz="1600" dirty="0"/>
              <a:t>; an extra poly-loss term is added.</a:t>
            </a:r>
          </a:p>
          <a:p>
            <a:pPr>
              <a:spcBef>
                <a:spcPts val="600"/>
              </a:spcBef>
            </a:pPr>
            <a:r>
              <a:rPr sz="1600" b="1" dirty="0"/>
              <a:t>Validation: </a:t>
            </a:r>
            <a:r>
              <a:rPr sz="1600" dirty="0"/>
              <a:t>never loaded. The model is selected on training-batch F1.</a:t>
            </a:r>
          </a:p>
          <a:p>
            <a:pPr>
              <a:spcBef>
                <a:spcPts val="600"/>
              </a:spcBef>
            </a:pPr>
            <a:r>
              <a:rPr sz="1600" b="1" dirty="0"/>
              <a:t>Test access: </a:t>
            </a:r>
            <a:r>
              <a:rPr sz="1600" dirty="0"/>
              <a:t>test set scored after every epoch; the best test epoch is reported (no effect here: constant over 40 epochs).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7BC03-6479-038C-EABD-F683E8A60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566014-5EC4-CB71-0254-29ED2F17D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Limitations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8A3152E-E1B6-5B6B-60F7-7ACE94252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Only three seeds: small differences in results will likely not be significant.</a:t>
            </a:r>
          </a:p>
          <a:p>
            <a:r>
              <a:rPr lang="da-DK" dirty="0"/>
              <a:t>Datasets differ in size, channels, lengths, classes, and structure so no single characteristic can be identified as the cause of the results.</a:t>
            </a:r>
          </a:p>
          <a:p>
            <a:r>
              <a:rPr lang="da-DK" dirty="0"/>
              <a:t>Only one corruption type and convention were used.</a:t>
            </a:r>
          </a:p>
          <a:p>
            <a:r>
              <a:rPr lang="da-DK" dirty="0"/>
              <a:t>The 10% labels set results on AWR are based on an untuned model.</a:t>
            </a:r>
          </a:p>
          <a:p>
            <a:r>
              <a:rPr lang="da-DK"/>
              <a:t>TF-C was not run with the 2022 library version.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68165094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646033-93E5-2AF7-56EF-25309B5E2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Conclusions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9263365-6C56-D5F2-4FEF-D97D5C673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35615371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F</a:t>
            </a:r>
            <a:br>
              <a:rPr lang="en-US" dirty="0"/>
            </a:br>
            <a:r>
              <a:rPr lang="en-US" sz="2000" dirty="0"/>
              <a:t>Execution record</a:t>
            </a:r>
          </a:p>
        </p:txBody>
      </p:sp>
      <p:graphicFrame>
        <p:nvGraphicFramePr>
          <p:cNvPr id="10" name="Execution record table"/>
          <p:cNvGraphicFramePr>
            <a:graphicFrameLocks noGrp="1"/>
          </p:cNvGraphicFramePr>
          <p:nvPr/>
        </p:nvGraphicFramePr>
        <p:xfrm>
          <a:off x="841248" y="1737360"/>
          <a:ext cx="10515600" cy="3877800"/>
        </p:xfrm>
        <a:graphic>
          <a:graphicData uri="http://schemas.openxmlformats.org/drawingml/2006/table">
            <a:tbl>
              <a:tblPr firstRow="1"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Item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Value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Commands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python main.py --training_mode pre_train --pretrain_dataset FD_A --target_dataset FD_B --seed 42, then the same with --training_mode fine_tune_test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Checkout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TF-C commit 9667582, no tracked file modified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Environment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Python 3.13.11, PyTorch 2.11.0 (CUDA 12.8), NumPy 2.4.2, scikit-learn 1.8.0, Windows 11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6582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Hardware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NVIDIA RTX 4500 Ada Generation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907305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Seed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42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664927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Data consumed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Pretraining: 640 FD-A windows. Fine-tuning: 60 FD-B windows. Testing: 13,559 FD-B windows, after each of 40 epochs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945428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Training time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Pretraining 180 s; fine-tuning and testing 249 s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1512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Added outside the checkout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np.float alias (removed in NumPy 1.24), directory links to the datasets, --logs_save_dir</a:t>
                      </a:r>
                    </a:p>
                  </a:txBody>
                  <a:tcPr marL="72000" marR="72000" marT="36000" marB="36000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44658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</a:t>
            </a:r>
            <a:br>
              <a:rPr lang="en-US" dirty="0"/>
            </a:br>
            <a:r>
              <a:rPr lang="en-US" sz="2000" dirty="0"/>
              <a:t>Example waveforms from the training splits</a:t>
            </a:r>
          </a:p>
        </p:txBody>
      </p:sp>
      <p:pic>
        <p:nvPicPr>
          <p:cNvPr id="3" name="Waveforms FordA" descr="FordA: three training series per class overla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5120640" cy="2148840"/>
          </a:xfrm>
          <a:prstGeom prst="rect">
            <a:avLst/>
          </a:prstGeom>
        </p:spPr>
      </p:pic>
      <p:pic>
        <p:nvPicPr>
          <p:cNvPr id="4" name="Waveforms AWR" descr="AWR: three training series per class overlai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783080"/>
            <a:ext cx="5120640" cy="2148840"/>
          </a:xfrm>
          <a:prstGeom prst="rect">
            <a:avLst/>
          </a:prstGeom>
        </p:spPr>
      </p:pic>
      <p:pic>
        <p:nvPicPr>
          <p:cNvPr id="5" name="Waveforms Epilepsy" descr="Epilepsy: three training series per class overla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069080"/>
            <a:ext cx="5120640" cy="2148840"/>
          </a:xfrm>
          <a:prstGeom prst="rect">
            <a:avLst/>
          </a:prstGeom>
        </p:spPr>
      </p:pic>
      <p:pic>
        <p:nvPicPr>
          <p:cNvPr id="6" name="Waveforms FD-B" descr="FD-B: three training series per class overlai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4069080"/>
            <a:ext cx="5120640" cy="214884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1E17F4A-AB8A-4D8D-BB4C-2E76088A3C0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fb5438d0-de58-4bf8-a170-eecf1b7fdd7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FormConfiguration><![CDATA[{"formFields":[],"formDataEntries":[]}]]></TemplafyFormConfiguration>
</file>

<file path=customXml/item2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3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4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C5938109-F486-41EA-929F-D7DF65C5D6B1}">
  <ds:schemaRefs/>
</ds:datastoreItem>
</file>

<file path=customXml/itemProps2.xml><?xml version="1.0" encoding="utf-8"?>
<ds:datastoreItem xmlns:ds="http://schemas.openxmlformats.org/officeDocument/2006/customXml" ds:itemID="{386C9AF7-FC43-4772-BF6D-26FE95C56D62}">
  <ds:schemaRefs/>
</ds:datastoreItem>
</file>

<file path=customXml/itemProps3.xml><?xml version="1.0" encoding="utf-8"?>
<ds:datastoreItem xmlns:ds="http://schemas.openxmlformats.org/officeDocument/2006/customXml" ds:itemID="{B69ABF3A-B169-44F9-86AC-4E29FB2A2600}">
  <ds:schemaRefs/>
</ds:datastoreItem>
</file>

<file path=customXml/itemProps4.xml><?xml version="1.0" encoding="utf-8"?>
<ds:datastoreItem xmlns:ds="http://schemas.openxmlformats.org/officeDocument/2006/customXml" ds:itemID="{C60B9EDF-596D-4F67-B5E3-411D55B8E8F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1735</Words>
  <Application>Microsoft Office PowerPoint</Application>
  <PresentationFormat>Widescreen</PresentationFormat>
  <Paragraphs>359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Assignment 4</vt:lpstr>
      <vt:lpstr>SSL methods – T-Loss</vt:lpstr>
      <vt:lpstr>SSL methods – TS2Vec</vt:lpstr>
      <vt:lpstr>SSL methods – TF-C</vt:lpstr>
      <vt:lpstr>Datasets</vt:lpstr>
      <vt:lpstr>Experimental protocol – pipeline</vt:lpstr>
      <vt:lpstr>Experimental protocol – specifications</vt:lpstr>
      <vt:lpstr>Part B Initial tests on raw data</vt:lpstr>
      <vt:lpstr>Part C Representations from T-Loss and TS2Vec</vt:lpstr>
      <vt:lpstr>Part D Robustness to sensor dropout</vt:lpstr>
      <vt:lpstr>Part E TS2Vec masking ablation</vt:lpstr>
      <vt:lpstr>Part F TF-C for transfer learning</vt:lpstr>
      <vt:lpstr>Part F What the supplied pipeline does</vt:lpstr>
      <vt:lpstr>Limitations</vt:lpstr>
      <vt:lpstr>Conclusions</vt:lpstr>
      <vt:lpstr>Part F Execution record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2025-12-19T09:06:10Z</dcterms:created>
  <dcterms:modified xsi:type="dcterms:W3CDTF">2026-10-11T18:29:24Z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