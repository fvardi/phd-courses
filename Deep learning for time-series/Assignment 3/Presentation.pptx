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5"/>
  </p:notesMasterIdLst>
  <p:sldIdLst>
    <p:sldId id="256" r:id="rId6"/>
    <p:sldId id="257" r:id="rId7"/>
    <p:sldId id="272" r:id="rId8"/>
    <p:sldId id="258" r:id="rId9"/>
    <p:sldId id="271" r:id="rId10"/>
    <p:sldId id="268" r:id="rId11"/>
    <p:sldId id="269" r:id="rId12"/>
    <p:sldId id="270" r:id="rId13"/>
    <p:sldId id="263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FF3FCA-946D-4CC5-B026-9510E72B2D19}" type="datetimeFigureOut">
              <a:rPr lang="da-DK" smtClean="0"/>
              <a:t>20-05-2026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32131-F0B3-4875-A3D8-9ECFBE0873C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213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for time-series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3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EDA – FD001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4BFF62A8-9F9B-5EBF-D3DC-C80D0931A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690" y="1050000"/>
            <a:ext cx="3878970" cy="581845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62627630-0B66-5844-1C65-81F743FF8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07" y="1485089"/>
            <a:ext cx="3582176" cy="1791088"/>
          </a:xfrm>
          <a:prstGeom prst="rect">
            <a:avLst/>
          </a:prstGeom>
        </p:spPr>
      </p:pic>
      <p:sp>
        <p:nvSpPr>
          <p:cNvPr id="12" name="Tekstfelt 11">
            <a:extLst>
              <a:ext uri="{FF2B5EF4-FFF2-40B4-BE49-F238E27FC236}">
                <a16:creationId xmlns:a16="http://schemas.microsoft.com/office/drawing/2014/main" id="{626BCB5C-F761-CB5A-0C1C-397D29A8981B}"/>
              </a:ext>
            </a:extLst>
          </p:cNvPr>
          <p:cNvSpPr txBox="1"/>
          <p:nvPr/>
        </p:nvSpPr>
        <p:spPr>
          <a:xfrm>
            <a:off x="186861" y="5502354"/>
            <a:ext cx="5447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sz="1200" dirty="0"/>
              <a:t>Multiple sensor </a:t>
            </a:r>
            <a:r>
              <a:rPr lang="da-DK" sz="1200" dirty="0" err="1"/>
              <a:t>trajectories</a:t>
            </a:r>
            <a:r>
              <a:rPr lang="da-DK" sz="1200" dirty="0"/>
              <a:t> have clear (</a:t>
            </a:r>
            <a:r>
              <a:rPr lang="da-DK" sz="1200" dirty="0" err="1"/>
              <a:t>noisy</a:t>
            </a:r>
            <a:r>
              <a:rPr lang="da-DK" sz="1200" dirty="0"/>
              <a:t>) </a:t>
            </a:r>
            <a:r>
              <a:rPr lang="da-DK" sz="1200" dirty="0" err="1"/>
              <a:t>monotonic</a:t>
            </a:r>
            <a:r>
              <a:rPr lang="da-DK" sz="1200" dirty="0"/>
              <a:t> </a:t>
            </a:r>
            <a:r>
              <a:rPr lang="da-DK" sz="1200" dirty="0" err="1"/>
              <a:t>relationship</a:t>
            </a:r>
            <a:r>
              <a:rPr lang="da-DK" sz="1200" dirty="0"/>
              <a:t> with </a:t>
            </a:r>
            <a:r>
              <a:rPr lang="da-DK" sz="1200" dirty="0" err="1"/>
              <a:t>remaining</a:t>
            </a:r>
            <a:r>
              <a:rPr lang="da-DK" sz="1200" dirty="0"/>
              <a:t> </a:t>
            </a:r>
            <a:r>
              <a:rPr lang="da-DK" sz="1200" dirty="0" err="1"/>
              <a:t>cycles</a:t>
            </a:r>
            <a:endParaRPr lang="da-DK" sz="1200" dirty="0"/>
          </a:p>
          <a:p>
            <a:pPr marL="285750" indent="-285750">
              <a:buFontTx/>
              <a:buChar char="-"/>
            </a:pPr>
            <a:r>
              <a:rPr lang="da-DK" sz="1200" dirty="0"/>
              <a:t>The </a:t>
            </a:r>
            <a:r>
              <a:rPr lang="da-DK" sz="1200" dirty="0" err="1"/>
              <a:t>ending</a:t>
            </a:r>
            <a:r>
              <a:rPr lang="da-DK" sz="1200" dirty="0"/>
              <a:t> sensor </a:t>
            </a:r>
            <a:r>
              <a:rPr lang="da-DK" sz="1200" dirty="0" err="1"/>
              <a:t>values</a:t>
            </a:r>
            <a:r>
              <a:rPr lang="da-DK" sz="1200" dirty="0"/>
              <a:t> </a:t>
            </a:r>
            <a:r>
              <a:rPr lang="da-DK" sz="1200" dirty="0" err="1"/>
              <a:t>are</a:t>
            </a:r>
            <a:r>
              <a:rPr lang="da-DK" sz="1200" dirty="0"/>
              <a:t> </a:t>
            </a:r>
            <a:r>
              <a:rPr lang="da-DK" sz="1200" dirty="0" err="1"/>
              <a:t>comparable</a:t>
            </a:r>
            <a:r>
              <a:rPr lang="da-DK" sz="1200" dirty="0"/>
              <a:t> for multiple sensors</a:t>
            </a:r>
          </a:p>
          <a:p>
            <a:pPr marL="285750" indent="-285750">
              <a:buFontTx/>
              <a:buChar char="-"/>
            </a:pPr>
            <a:r>
              <a:rPr lang="da-DK" sz="1200" dirty="0" err="1"/>
              <a:t>Some</a:t>
            </a:r>
            <a:r>
              <a:rPr lang="da-DK" sz="1200" dirty="0"/>
              <a:t> sensors </a:t>
            </a:r>
            <a:r>
              <a:rPr lang="da-DK" sz="1200" dirty="0" err="1"/>
              <a:t>are</a:t>
            </a:r>
            <a:r>
              <a:rPr lang="da-DK" sz="1200" dirty="0"/>
              <a:t> </a:t>
            </a:r>
            <a:r>
              <a:rPr lang="da-DK" sz="1200" dirty="0" err="1"/>
              <a:t>clearly</a:t>
            </a:r>
            <a:r>
              <a:rPr lang="da-DK" sz="1200" dirty="0"/>
              <a:t> not informative</a:t>
            </a:r>
          </a:p>
          <a:p>
            <a:pPr marL="285750" indent="-285750">
              <a:buFontTx/>
              <a:buChar char="-"/>
            </a:pPr>
            <a:r>
              <a:rPr lang="da-DK" sz="1200" dirty="0" err="1"/>
              <a:t>Only</a:t>
            </a:r>
            <a:r>
              <a:rPr lang="da-DK" sz="1200" dirty="0"/>
              <a:t> </a:t>
            </a:r>
            <a:r>
              <a:rPr lang="da-DK" sz="1200" dirty="0" err="1"/>
              <a:t>few</a:t>
            </a:r>
            <a:r>
              <a:rPr lang="da-DK" sz="1200" dirty="0"/>
              <a:t> sensors show </a:t>
            </a:r>
            <a:r>
              <a:rPr lang="da-DK" sz="1200" dirty="0" err="1"/>
              <a:t>different</a:t>
            </a:r>
            <a:r>
              <a:rPr lang="da-DK" sz="1200" dirty="0"/>
              <a:t> </a:t>
            </a:r>
            <a:r>
              <a:rPr lang="da-DK" sz="1200" dirty="0" err="1"/>
              <a:t>behaviours</a:t>
            </a:r>
            <a:r>
              <a:rPr lang="da-DK" sz="1200" dirty="0"/>
              <a:t> </a:t>
            </a:r>
            <a:r>
              <a:rPr lang="da-DK" sz="1200" dirty="0" err="1"/>
              <a:t>accross</a:t>
            </a:r>
            <a:r>
              <a:rPr lang="da-DK" sz="1200" dirty="0"/>
              <a:t> </a:t>
            </a:r>
            <a:r>
              <a:rPr lang="da-DK" sz="1200" dirty="0" err="1"/>
              <a:t>engines</a:t>
            </a:r>
            <a:endParaRPr lang="da-DK" sz="1200" dirty="0"/>
          </a:p>
          <a:p>
            <a:pPr marL="285750" indent="-285750">
              <a:buFontTx/>
              <a:buChar char="-"/>
            </a:pPr>
            <a:r>
              <a:rPr lang="da-DK" sz="1200" dirty="0" err="1"/>
              <a:t>Spearman</a:t>
            </a:r>
            <a:r>
              <a:rPr lang="da-DK" sz="1200" dirty="0"/>
              <a:t> &gt; 0.5, </a:t>
            </a:r>
            <a:r>
              <a:rPr lang="da-DK" sz="1200" dirty="0" err="1"/>
              <a:t>std</a:t>
            </a:r>
            <a:r>
              <a:rPr lang="da-DK" sz="1200"/>
              <a:t> &lt; 0.3</a:t>
            </a:r>
            <a:endParaRPr lang="da-DK" sz="12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141B3F94-85C1-E28E-4CEB-367E428B8C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58" y="3276177"/>
            <a:ext cx="3075800" cy="2306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1475-498B-8573-0258-623686EB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A2029BAE-FD98-CC44-2B6D-2D68ADE2A5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7366744-FB55-3A2B-E715-26EC2537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EDA – FD002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E86D7A9E-A270-9015-DF00-EDC6D6F6C6ED}"/>
              </a:ext>
            </a:extLst>
          </p:cNvPr>
          <p:cNvSpPr txBox="1"/>
          <p:nvPr/>
        </p:nvSpPr>
        <p:spPr>
          <a:xfrm>
            <a:off x="648511" y="4260714"/>
            <a:ext cx="5447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sz="1400" dirty="0" err="1"/>
              <a:t>Approximately</a:t>
            </a:r>
            <a:r>
              <a:rPr lang="da-DK" sz="1400" dirty="0"/>
              <a:t> same distribution of </a:t>
            </a:r>
            <a:r>
              <a:rPr lang="da-DK" sz="1400" dirty="0" err="1"/>
              <a:t>lifetimes</a:t>
            </a:r>
            <a:r>
              <a:rPr lang="da-DK" sz="1400" dirty="0"/>
              <a:t> as for FD001</a:t>
            </a:r>
          </a:p>
          <a:p>
            <a:pPr marL="285750" indent="-285750">
              <a:buFontTx/>
              <a:buChar char="-"/>
            </a:pPr>
            <a:r>
              <a:rPr lang="da-DK" sz="1400" dirty="0"/>
              <a:t>Sensor data is </a:t>
            </a:r>
            <a:r>
              <a:rPr lang="da-DK" sz="1400" dirty="0" err="1"/>
              <a:t>meaningless</a:t>
            </a:r>
            <a:r>
              <a:rPr lang="da-DK" sz="1400" dirty="0"/>
              <a:t> </a:t>
            </a:r>
            <a:r>
              <a:rPr lang="da-DK" sz="1400" dirty="0" err="1"/>
              <a:t>without</a:t>
            </a:r>
            <a:r>
              <a:rPr lang="da-DK" sz="1400" dirty="0"/>
              <a:t> </a:t>
            </a:r>
            <a:r>
              <a:rPr lang="da-DK" sz="1400" dirty="0" err="1"/>
              <a:t>clustering</a:t>
            </a:r>
            <a:endParaRPr lang="da-DK" sz="14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3CA12DE7-78E4-F8A2-50CF-B49B4C1EC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09" y="1209631"/>
            <a:ext cx="5550617" cy="2775309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EEA37FB4-ED37-3BE6-9C3A-5AD6C4B94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002" y="1209631"/>
            <a:ext cx="3587149" cy="548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5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2437-D785-4BDA-9155-D9E887EF6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279A3086-D01D-E65E-1C19-DFA8806BDC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763813-C333-E114-9BBD-C72179EC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Data preparation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E57588CC-02A1-7B11-CEC6-E80E4946734A}"/>
              </a:ext>
            </a:extLst>
          </p:cNvPr>
          <p:cNvSpPr>
            <a:spLocks noGrp="1"/>
          </p:cNvSpPr>
          <p:nvPr/>
        </p:nvSpPr>
        <p:spPr>
          <a:xfrm>
            <a:off x="6096000" y="1200000"/>
            <a:ext cx="71338" cy="2229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C8945637-C785-B197-2332-12A1F63ACEB5}"/>
              </a:ext>
            </a:extLst>
          </p:cNvPr>
          <p:cNvSpPr txBox="1"/>
          <p:nvPr/>
        </p:nvSpPr>
        <p:spPr>
          <a:xfrm>
            <a:off x="149158" y="1335931"/>
            <a:ext cx="54474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FD001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RUL label construction: constructed as piecewise-linear with a cap of 125 cycles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Train/validation split: A classic 80/20 split by engines for train/</a:t>
            </a:r>
            <a:r>
              <a:rPr lang="en-US" sz="1400" dirty="0" err="1"/>
              <a:t>val</a:t>
            </a:r>
            <a:r>
              <a:rPr lang="en-US" sz="1400" dirty="0"/>
              <a:t> is used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Normalization: The sensor values are Z-score normalized across engines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Fixed random seed: A fixed random seed (42) is used for train/</a:t>
            </a:r>
            <a:r>
              <a:rPr lang="en-US" sz="1400" dirty="0" err="1"/>
              <a:t>val</a:t>
            </a:r>
            <a:r>
              <a:rPr lang="en-US" sz="1400" dirty="0"/>
              <a:t> split</a:t>
            </a:r>
            <a:endParaRPr lang="da-DK" sz="1400" dirty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F6CF303E-3469-A1CA-061D-DB95A1339B12}"/>
              </a:ext>
            </a:extLst>
          </p:cNvPr>
          <p:cNvSpPr txBox="1"/>
          <p:nvPr/>
        </p:nvSpPr>
        <p:spPr>
          <a:xfrm>
            <a:off x="6352162" y="1335930"/>
            <a:ext cx="5447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FD002</a:t>
            </a:r>
          </a:p>
          <a:p>
            <a:pPr marL="285750" indent="-285750">
              <a:buFontTx/>
              <a:buChar char="-"/>
            </a:pPr>
            <a:r>
              <a:rPr lang="da-DK" sz="1400" dirty="0"/>
              <a:t>K-</a:t>
            </a:r>
            <a:r>
              <a:rPr lang="da-DK" sz="1400" dirty="0" err="1"/>
              <a:t>means</a:t>
            </a:r>
            <a:r>
              <a:rPr lang="da-DK" sz="1400" dirty="0"/>
              <a:t> </a:t>
            </a:r>
            <a:r>
              <a:rPr lang="da-DK" sz="1400" dirty="0" err="1"/>
              <a:t>clutering</a:t>
            </a:r>
            <a:r>
              <a:rPr lang="da-DK" sz="1400" dirty="0"/>
              <a:t> on operating </a:t>
            </a:r>
            <a:r>
              <a:rPr lang="da-DK" sz="1400" dirty="0" err="1"/>
              <a:t>settings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da-DK" sz="1400" dirty="0" err="1"/>
              <a:t>Normalisation</a:t>
            </a:r>
            <a:r>
              <a:rPr lang="da-DK" sz="1400" dirty="0"/>
              <a:t> </a:t>
            </a:r>
            <a:r>
              <a:rPr lang="da-DK" sz="1400" dirty="0" err="1"/>
              <a:t>across</a:t>
            </a:r>
            <a:r>
              <a:rPr lang="da-DK" sz="1400" dirty="0"/>
              <a:t> </a:t>
            </a:r>
            <a:r>
              <a:rPr lang="da-DK" sz="1400" dirty="0" err="1"/>
              <a:t>engines</a:t>
            </a:r>
            <a:r>
              <a:rPr lang="da-DK" sz="1400" dirty="0"/>
              <a:t> </a:t>
            </a:r>
            <a:r>
              <a:rPr lang="da-DK" sz="1400" dirty="0" err="1"/>
              <a:t>inside</a:t>
            </a:r>
            <a:r>
              <a:rPr lang="da-DK" sz="1400" dirty="0"/>
              <a:t> </a:t>
            </a:r>
            <a:r>
              <a:rPr lang="da-DK" sz="1400" dirty="0" err="1"/>
              <a:t>each</a:t>
            </a:r>
            <a:r>
              <a:rPr lang="da-DK" sz="1400" dirty="0"/>
              <a:t> cluster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D827C52C-242D-D359-8C05-F0C1FD800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162" y="2082474"/>
            <a:ext cx="5347489" cy="4675526"/>
          </a:xfrm>
          <a:prstGeom prst="rect">
            <a:avLst/>
          </a:prstGeom>
        </p:spPr>
      </p:pic>
      <p:sp>
        <p:nvSpPr>
          <p:cNvPr id="7" name="Divider">
            <a:extLst>
              <a:ext uri="{FF2B5EF4-FFF2-40B4-BE49-F238E27FC236}">
                <a16:creationId xmlns:a16="http://schemas.microsoft.com/office/drawing/2014/main" id="{4E0E7614-B1A0-ABCA-F77B-8A4A0049C107}"/>
              </a:ext>
            </a:extLst>
          </p:cNvPr>
          <p:cNvSpPr>
            <a:spLocks noGrp="1"/>
          </p:cNvSpPr>
          <p:nvPr/>
        </p:nvSpPr>
        <p:spPr>
          <a:xfrm>
            <a:off x="269131" y="3367256"/>
            <a:ext cx="5755533" cy="617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D3555B29-FDFE-60FF-6BD8-B9E0231AA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6" y="3991041"/>
            <a:ext cx="6017726" cy="200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9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C048B-740F-BD13-89CF-EE9E9966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3BFBB904-3636-7C15-1004-9130A34D7D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321D160-947A-F98E-64C4-29AEEBC6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1.2 – Standard model configurations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F8F1DC52-3D8A-3A2D-818B-EBE322708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396" y="1273973"/>
            <a:ext cx="9403404" cy="2365673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D81787A-C947-E5F9-3816-80A62903D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397" y="3842771"/>
            <a:ext cx="9403404" cy="2373043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C03CEB2F-4CFF-CA2A-EA9F-9C2F6A7765A3}"/>
              </a:ext>
            </a:extLst>
          </p:cNvPr>
          <p:cNvSpPr txBox="1"/>
          <p:nvPr/>
        </p:nvSpPr>
        <p:spPr>
          <a:xfrm>
            <a:off x="359924" y="1368357"/>
            <a:ext cx="178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FD001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09707B31-C0B7-71E8-2FF0-F8C6E26A44D2}"/>
              </a:ext>
            </a:extLst>
          </p:cNvPr>
          <p:cNvSpPr txBox="1"/>
          <p:nvPr/>
        </p:nvSpPr>
        <p:spPr>
          <a:xfrm>
            <a:off x="359923" y="3998068"/>
            <a:ext cx="178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293087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8C05-E535-0BE1-2EDE-5BEAF54B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6B6AC8B0-CE9C-F797-08A5-D29A71156D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A9FF8EA-872E-1C32-B2C4-F67A82F5C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3.2 – Focused hyperparameter study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1AA8F407-0BF3-4467-FFB8-C7ED2E148352}"/>
              </a:ext>
            </a:extLst>
          </p:cNvPr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B846D68D-B6F4-B285-14B1-E2540788BAA3}"/>
              </a:ext>
            </a:extLst>
          </p:cNvPr>
          <p:cNvSpPr txBox="1"/>
          <p:nvPr/>
        </p:nvSpPr>
        <p:spPr>
          <a:xfrm>
            <a:off x="149158" y="1335931"/>
            <a:ext cx="54474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Architecture: LSTM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Window size w ∈ {20, 30, 50} — controls the temporal context available to the model per prediction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Hidden size h ∈ {64, 128} — controls model capacity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Learning rate </a:t>
            </a:r>
            <a:r>
              <a:rPr lang="el-GR" sz="1400" dirty="0"/>
              <a:t>η ∈ {10−4, 10−3} — </a:t>
            </a:r>
            <a:r>
              <a:rPr lang="en-US" sz="1400" dirty="0"/>
              <a:t>controls optimization step size</a:t>
            </a:r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55842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304D-0FC6-6A34-9F71-1C83AB41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0828ED1F-C984-38AF-073F-1D336B9659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64C6D8A-76AB-CC73-2524-595337624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3.2 – Focused hyperparameter study: Window approach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DE795A55-34D3-9C2B-F91B-E875E234EAF6}"/>
              </a:ext>
            </a:extLst>
          </p:cNvPr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8316F90-D2EC-B1C9-99ED-8B844B1B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9" y="1690274"/>
            <a:ext cx="5672763" cy="466045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63B5DF8F-B2E2-DE4B-0C2C-B692AB27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08" y="1690274"/>
            <a:ext cx="5692892" cy="4660452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99778C37-4BED-CE7B-BE28-F4637BCEDC20}"/>
              </a:ext>
            </a:extLst>
          </p:cNvPr>
          <p:cNvSpPr txBox="1"/>
          <p:nvPr/>
        </p:nvSpPr>
        <p:spPr>
          <a:xfrm>
            <a:off x="149158" y="1335931"/>
            <a:ext cx="5447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 dirty="0"/>
              <a:t>FD001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17C13179-1B98-9E85-FAED-275AB5450CAA}"/>
              </a:ext>
            </a:extLst>
          </p:cNvPr>
          <p:cNvSpPr txBox="1"/>
          <p:nvPr/>
        </p:nvSpPr>
        <p:spPr>
          <a:xfrm>
            <a:off x="6595353" y="1335931"/>
            <a:ext cx="5447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 dirty="0"/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24419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35F6-950D-2A14-8DF3-6D69EC51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14381E09-6605-939D-9F8B-231F95ECAA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A0FC3B0-11F1-1257-6E83-60A36FA2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3.2 – Focused hyperparameter study: Sequence approach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FA948DB3-7211-0A8A-E4BA-D74FECCC0A33}"/>
              </a:ext>
            </a:extLst>
          </p:cNvPr>
          <p:cNvSpPr>
            <a:spLocks noGrp="1"/>
          </p:cNvSpPr>
          <p:nvPr/>
        </p:nvSpPr>
        <p:spPr>
          <a:xfrm>
            <a:off x="6625161" y="115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DC1795E2-E64D-F5FD-5D87-01F37DD8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082" y="1314527"/>
            <a:ext cx="5088021" cy="4593406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BC8D3CFC-64A5-ED4D-6E60-472D5D36621B}"/>
              </a:ext>
            </a:extLst>
          </p:cNvPr>
          <p:cNvSpPr txBox="1"/>
          <p:nvPr/>
        </p:nvSpPr>
        <p:spPr>
          <a:xfrm>
            <a:off x="149158" y="1335931"/>
            <a:ext cx="54474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a-DK" sz="1400" dirty="0" err="1"/>
              <a:t>Shorter</a:t>
            </a:r>
            <a:r>
              <a:rPr lang="da-DK" sz="1400" dirty="0"/>
              <a:t> </a:t>
            </a:r>
            <a:r>
              <a:rPr lang="da-DK" sz="1400" dirty="0" err="1"/>
              <a:t>windows</a:t>
            </a:r>
            <a:r>
              <a:rPr lang="da-DK" sz="1400" dirty="0"/>
              <a:t> </a:t>
            </a:r>
            <a:r>
              <a:rPr lang="da-DK" sz="1400" dirty="0" err="1"/>
              <a:t>converge</a:t>
            </a:r>
            <a:r>
              <a:rPr lang="da-DK" sz="1400" dirty="0"/>
              <a:t> more </a:t>
            </a:r>
            <a:r>
              <a:rPr lang="da-DK" sz="1400" dirty="0" err="1"/>
              <a:t>easily</a:t>
            </a:r>
            <a:r>
              <a:rPr lang="da-DK" sz="1400" dirty="0"/>
              <a:t> and </a:t>
            </a:r>
            <a:r>
              <a:rPr lang="da-DK" sz="1400" dirty="0" err="1"/>
              <a:t>reach</a:t>
            </a:r>
            <a:r>
              <a:rPr lang="da-DK" sz="1400" dirty="0"/>
              <a:t> </a:t>
            </a:r>
            <a:r>
              <a:rPr lang="da-DK" sz="1400" dirty="0" err="1"/>
              <a:t>better</a:t>
            </a:r>
            <a:r>
              <a:rPr lang="da-DK" sz="1400" dirty="0"/>
              <a:t> RMSE</a:t>
            </a:r>
          </a:p>
          <a:p>
            <a:pPr marL="285750" indent="-285750">
              <a:buFontTx/>
              <a:buChar char="-"/>
            </a:pPr>
            <a:r>
              <a:rPr lang="da-DK" sz="1400" dirty="0"/>
              <a:t>Models </a:t>
            </a:r>
            <a:r>
              <a:rPr lang="da-DK" sz="1400" dirty="0" err="1"/>
              <a:t>train</a:t>
            </a:r>
            <a:r>
              <a:rPr lang="da-DK" sz="1400" dirty="0"/>
              <a:t> VERY </a:t>
            </a:r>
            <a:r>
              <a:rPr lang="da-DK" sz="1400" dirty="0" err="1"/>
              <a:t>slowly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da-DK" sz="1400" dirty="0"/>
              <a:t>Eta = 0.0001 </a:t>
            </a:r>
            <a:r>
              <a:rPr lang="da-DK" sz="1400" dirty="0" err="1"/>
              <a:t>collapses</a:t>
            </a:r>
            <a:r>
              <a:rPr lang="da-DK" sz="1400" dirty="0"/>
              <a:t> and/or </a:t>
            </a:r>
            <a:r>
              <a:rPr lang="da-DK" sz="1400" dirty="0" err="1"/>
              <a:t>does</a:t>
            </a:r>
            <a:r>
              <a:rPr lang="da-DK" sz="1400" dirty="0"/>
              <a:t> not </a:t>
            </a:r>
            <a:r>
              <a:rPr lang="da-DK" sz="1400" dirty="0" err="1"/>
              <a:t>converge</a:t>
            </a:r>
            <a:r>
              <a:rPr lang="da-DK" sz="1400" dirty="0"/>
              <a:t> </a:t>
            </a:r>
            <a:r>
              <a:rPr lang="da-DK" sz="1400" dirty="0" err="1"/>
              <a:t>quickly</a:t>
            </a:r>
            <a:r>
              <a:rPr lang="da-DK" sz="1400" dirty="0"/>
              <a:t> </a:t>
            </a:r>
            <a:r>
              <a:rPr lang="da-DK" sz="1400" dirty="0" err="1"/>
              <a:t>enough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da-DK" sz="1400" dirty="0"/>
              <a:t>Best models </a:t>
            </a:r>
            <a:r>
              <a:rPr lang="da-DK" sz="1400" dirty="0" err="1"/>
              <a:t>are</a:t>
            </a:r>
            <a:r>
              <a:rPr lang="da-DK" sz="1400" dirty="0"/>
              <a:t> as </a:t>
            </a:r>
            <a:r>
              <a:rPr lang="da-DK" sz="1400" dirty="0" err="1"/>
              <a:t>good</a:t>
            </a:r>
            <a:r>
              <a:rPr lang="da-DK" sz="1400" dirty="0"/>
              <a:t> or </a:t>
            </a:r>
            <a:r>
              <a:rPr lang="da-DK" sz="1400" dirty="0" err="1"/>
              <a:t>better</a:t>
            </a:r>
            <a:r>
              <a:rPr lang="da-DK" sz="1400" dirty="0"/>
              <a:t> in RMSE and NASA as </a:t>
            </a:r>
            <a:r>
              <a:rPr lang="da-DK" sz="1400" dirty="0" err="1"/>
              <a:t>XGBoost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da-DK" sz="1400" dirty="0"/>
              <a:t>Best models </a:t>
            </a:r>
            <a:r>
              <a:rPr lang="da-DK" sz="1400" dirty="0" err="1"/>
              <a:t>are</a:t>
            </a:r>
            <a:r>
              <a:rPr lang="da-DK" sz="1400" dirty="0"/>
              <a:t> </a:t>
            </a:r>
            <a:r>
              <a:rPr lang="da-DK" sz="1400" dirty="0" err="1"/>
              <a:t>slower</a:t>
            </a:r>
            <a:r>
              <a:rPr lang="da-DK" sz="1400" dirty="0"/>
              <a:t> and </a:t>
            </a:r>
            <a:r>
              <a:rPr lang="da-DK" sz="1400" dirty="0" err="1"/>
              <a:t>harder</a:t>
            </a:r>
            <a:r>
              <a:rPr lang="da-DK" sz="1400" dirty="0"/>
              <a:t> to </a:t>
            </a:r>
            <a:r>
              <a:rPr lang="da-DK" sz="1400" dirty="0" err="1"/>
              <a:t>train</a:t>
            </a:r>
            <a:r>
              <a:rPr lang="da-DK" sz="1400" dirty="0"/>
              <a:t> and more </a:t>
            </a:r>
            <a:r>
              <a:rPr lang="da-DK" sz="1400" dirty="0" err="1"/>
              <a:t>unstable</a:t>
            </a:r>
            <a:r>
              <a:rPr lang="da-DK" sz="1400" dirty="0"/>
              <a:t> </a:t>
            </a:r>
            <a:r>
              <a:rPr lang="da-DK" sz="1400" dirty="0" err="1"/>
              <a:t>than</a:t>
            </a:r>
            <a:r>
              <a:rPr lang="da-DK" sz="1400" dirty="0"/>
              <a:t> </a:t>
            </a:r>
            <a:r>
              <a:rPr lang="da-DK" sz="1400" dirty="0" err="1"/>
              <a:t>XGBoost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da-DK" sz="1400" dirty="0"/>
              <a:t>Best </a:t>
            </a:r>
            <a:r>
              <a:rPr lang="da-DK" sz="1400" dirty="0" err="1"/>
              <a:t>hyperparameters</a:t>
            </a:r>
            <a:r>
              <a:rPr lang="da-DK" sz="1400" dirty="0"/>
              <a:t> </a:t>
            </a:r>
            <a:r>
              <a:rPr lang="da-DK" sz="1400" dirty="0" err="1"/>
              <a:t>are</a:t>
            </a:r>
            <a:r>
              <a:rPr lang="da-DK" sz="1400" dirty="0"/>
              <a:t> at the </a:t>
            </a:r>
            <a:r>
              <a:rPr lang="da-DK" sz="1400" dirty="0" err="1"/>
              <a:t>edge</a:t>
            </a:r>
            <a:r>
              <a:rPr lang="da-DK" sz="1400" dirty="0"/>
              <a:t> of the </a:t>
            </a:r>
            <a:r>
              <a:rPr lang="da-DK" sz="1400" dirty="0" err="1"/>
              <a:t>grid</a:t>
            </a:r>
            <a:r>
              <a:rPr lang="da-DK" sz="1400" dirty="0"/>
              <a:t> – </a:t>
            </a:r>
            <a:r>
              <a:rPr lang="da-DK" sz="1400" dirty="0" err="1"/>
              <a:t>larger</a:t>
            </a:r>
            <a:r>
              <a:rPr lang="da-DK" sz="1400" dirty="0"/>
              <a:t> </a:t>
            </a:r>
            <a:r>
              <a:rPr lang="da-DK" sz="1400" dirty="0" err="1"/>
              <a:t>study</a:t>
            </a:r>
            <a:r>
              <a:rPr lang="da-DK" sz="1400" dirty="0"/>
              <a:t> </a:t>
            </a:r>
            <a:r>
              <a:rPr lang="da-DK" sz="1400" dirty="0" err="1"/>
              <a:t>needed</a:t>
            </a:r>
            <a:endParaRPr lang="da-DK" sz="1400" dirty="0"/>
          </a:p>
        </p:txBody>
      </p:sp>
      <p:sp>
        <p:nvSpPr>
          <p:cNvPr id="12" name="Divider">
            <a:extLst>
              <a:ext uri="{FF2B5EF4-FFF2-40B4-BE49-F238E27FC236}">
                <a16:creationId xmlns:a16="http://schemas.microsoft.com/office/drawing/2014/main" id="{2EB32FF8-1E96-EB82-B21E-154E02399BE6}"/>
              </a:ext>
            </a:extLst>
          </p:cNvPr>
          <p:cNvSpPr>
            <a:spLocks noGrp="1"/>
          </p:cNvSpPr>
          <p:nvPr/>
        </p:nvSpPr>
        <p:spPr>
          <a:xfrm>
            <a:off x="457200" y="4441324"/>
            <a:ext cx="5894961" cy="51881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BB8B903F-23C1-7419-B8F2-73E0F7CC4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7" y="4682247"/>
            <a:ext cx="6443753" cy="10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8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58C4F-CED8-9A06-CE6D-0EEAB381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>
            <a:extLst>
              <a:ext uri="{FF2B5EF4-FFF2-40B4-BE49-F238E27FC236}">
                <a16:creationId xmlns:a16="http://schemas.microsoft.com/office/drawing/2014/main" id="{0468FF89-AC47-FCC8-CB00-D13F24A1E1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749FFF1-EA08-115D-F47B-FC3B5F9D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000"/>
            <a:ext cx="11277600" cy="850000"/>
          </a:xfrm>
        </p:spPr>
        <p:txBody>
          <a:bodyPr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Comparative analyses</a:t>
            </a:r>
          </a:p>
        </p:txBody>
      </p:sp>
      <p:sp>
        <p:nvSpPr>
          <p:cNvPr id="11" name="Divider">
            <a:extLst>
              <a:ext uri="{FF2B5EF4-FFF2-40B4-BE49-F238E27FC236}">
                <a16:creationId xmlns:a16="http://schemas.microsoft.com/office/drawing/2014/main" id="{17815D29-1919-67DA-B9D4-DF3C93C56D06}"/>
              </a:ext>
            </a:extLst>
          </p:cNvPr>
          <p:cNvSpPr>
            <a:spLocks noGrp="1"/>
          </p:cNvSpPr>
          <p:nvPr/>
        </p:nvSpPr>
        <p:spPr>
          <a:xfrm>
            <a:off x="6096000" y="1200000"/>
            <a:ext cx="50000" cy="530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1B460F1F-868E-A75B-6696-6CC0D5DD53E2}"/>
              </a:ext>
            </a:extLst>
          </p:cNvPr>
          <p:cNvSpPr txBox="1"/>
          <p:nvPr/>
        </p:nvSpPr>
        <p:spPr>
          <a:xfrm>
            <a:off x="149158" y="1335931"/>
            <a:ext cx="54474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 err="1"/>
              <a:t>Within</a:t>
            </a:r>
            <a:r>
              <a:rPr lang="da-DK" sz="1200" b="1" dirty="0"/>
              <a:t> </a:t>
            </a:r>
            <a:r>
              <a:rPr lang="da-DK" sz="1200" b="1" dirty="0" err="1"/>
              <a:t>raw</a:t>
            </a:r>
            <a:r>
              <a:rPr lang="da-DK" sz="1200" b="1" dirty="0"/>
              <a:t> </a:t>
            </a:r>
            <a:r>
              <a:rPr lang="da-DK" sz="1200" b="1" dirty="0" err="1"/>
              <a:t>window</a:t>
            </a:r>
            <a:endParaRPr lang="da-DK" sz="1200" b="1" dirty="0"/>
          </a:p>
          <a:p>
            <a:pPr marL="285750" indent="-285750">
              <a:buFontTx/>
              <a:buChar char="-"/>
            </a:pPr>
            <a:r>
              <a:rPr lang="da-DK" sz="1200" dirty="0"/>
              <a:t>LSTM </a:t>
            </a:r>
            <a:r>
              <a:rPr lang="da-DK" sz="1200" dirty="0" err="1"/>
              <a:t>best</a:t>
            </a:r>
            <a:r>
              <a:rPr lang="da-DK" sz="1200" dirty="0"/>
              <a:t> in </a:t>
            </a:r>
            <a:r>
              <a:rPr lang="da-DK" sz="1200" dirty="0" err="1"/>
              <a:t>mean</a:t>
            </a:r>
            <a:endParaRPr lang="da-DK" sz="1200" dirty="0"/>
          </a:p>
          <a:p>
            <a:endParaRPr lang="da-DK" sz="1200" dirty="0"/>
          </a:p>
          <a:p>
            <a:r>
              <a:rPr lang="da-DK" sz="1200" b="1" dirty="0" err="1"/>
              <a:t>Within</a:t>
            </a:r>
            <a:r>
              <a:rPr lang="da-DK" sz="1200" b="1" dirty="0"/>
              <a:t> </a:t>
            </a:r>
            <a:r>
              <a:rPr lang="da-DK" sz="1200" b="1" dirty="0" err="1"/>
              <a:t>sequence</a:t>
            </a:r>
            <a:endParaRPr lang="da-DK" sz="1200" b="1" dirty="0"/>
          </a:p>
          <a:p>
            <a:pPr marL="285750" indent="-285750">
              <a:buFontTx/>
              <a:buChar char="-"/>
            </a:pPr>
            <a:r>
              <a:rPr lang="da-DK" sz="1200" dirty="0"/>
              <a:t>TCN: low </a:t>
            </a:r>
            <a:r>
              <a:rPr lang="da-DK" sz="1200" dirty="0" err="1"/>
              <a:t>variance</a:t>
            </a:r>
            <a:r>
              <a:rPr lang="da-DK" sz="1200" dirty="0"/>
              <a:t>, </a:t>
            </a:r>
            <a:r>
              <a:rPr lang="da-DK" sz="1200" dirty="0" err="1"/>
              <a:t>consistent</a:t>
            </a:r>
            <a:r>
              <a:rPr lang="da-DK" sz="1200" dirty="0"/>
              <a:t> </a:t>
            </a:r>
            <a:r>
              <a:rPr lang="da-DK" sz="1200" dirty="0" err="1"/>
              <a:t>convergence</a:t>
            </a:r>
            <a:endParaRPr lang="da-DK" sz="1200" dirty="0"/>
          </a:p>
          <a:p>
            <a:pPr marL="285750" indent="-285750">
              <a:buFontTx/>
              <a:buChar char="-"/>
            </a:pPr>
            <a:r>
              <a:rPr lang="da-DK" sz="1200" dirty="0"/>
              <a:t>RNN: </a:t>
            </a:r>
            <a:r>
              <a:rPr lang="da-DK" sz="1200" dirty="0" err="1"/>
              <a:t>worse</a:t>
            </a:r>
            <a:r>
              <a:rPr lang="da-DK" sz="1200" dirty="0"/>
              <a:t> </a:t>
            </a:r>
            <a:r>
              <a:rPr lang="da-DK" sz="1200" dirty="0" err="1"/>
              <a:t>than</a:t>
            </a:r>
            <a:r>
              <a:rPr lang="da-DK" sz="1200" dirty="0"/>
              <a:t> TCN and more </a:t>
            </a:r>
            <a:r>
              <a:rPr lang="da-DK" sz="1200" dirty="0" err="1"/>
              <a:t>unstable</a:t>
            </a:r>
            <a:endParaRPr lang="da-DK" sz="1200" dirty="0"/>
          </a:p>
          <a:p>
            <a:pPr marL="285750" indent="-285750">
              <a:buFontTx/>
              <a:buChar char="-"/>
            </a:pPr>
            <a:r>
              <a:rPr lang="da-DK" sz="1200" dirty="0"/>
              <a:t>LSTM: </a:t>
            </a:r>
            <a:r>
              <a:rPr lang="da-DK" sz="1200" dirty="0" err="1"/>
              <a:t>highly</a:t>
            </a:r>
            <a:r>
              <a:rPr lang="da-DK" sz="1200" dirty="0"/>
              <a:t> </a:t>
            </a:r>
            <a:r>
              <a:rPr lang="da-DK" sz="1200" dirty="0" err="1"/>
              <a:t>unstable</a:t>
            </a:r>
            <a:r>
              <a:rPr lang="da-DK" sz="1200" dirty="0"/>
              <a:t>, sensitive to hypeparameters, </a:t>
            </a:r>
            <a:r>
              <a:rPr lang="da-DK" sz="1200" dirty="0" err="1"/>
              <a:t>maybe</a:t>
            </a:r>
            <a:r>
              <a:rPr lang="da-DK" sz="1200" dirty="0"/>
              <a:t> </a:t>
            </a:r>
            <a:r>
              <a:rPr lang="da-DK" sz="1200" dirty="0" err="1"/>
              <a:t>forget</a:t>
            </a:r>
            <a:r>
              <a:rPr lang="da-DK" sz="1200" dirty="0"/>
              <a:t> gate </a:t>
            </a:r>
            <a:r>
              <a:rPr lang="da-DK" sz="1200" dirty="0" err="1"/>
              <a:t>collapse</a:t>
            </a:r>
            <a:r>
              <a:rPr lang="da-DK" sz="1200" dirty="0"/>
              <a:t>?</a:t>
            </a:r>
          </a:p>
          <a:p>
            <a:pPr marL="285750" indent="-285750">
              <a:buFontTx/>
              <a:buChar char="-"/>
            </a:pPr>
            <a:r>
              <a:rPr lang="da-DK" sz="1200" dirty="0" err="1"/>
              <a:t>Tuned</a:t>
            </a:r>
            <a:r>
              <a:rPr lang="da-DK" sz="1200" dirty="0"/>
              <a:t> </a:t>
            </a:r>
            <a:r>
              <a:rPr lang="da-DK" sz="1200" dirty="0" err="1"/>
              <a:t>XGBoost</a:t>
            </a:r>
            <a:r>
              <a:rPr lang="da-DK" sz="1200" dirty="0"/>
              <a:t> </a:t>
            </a:r>
            <a:r>
              <a:rPr lang="da-DK" sz="1200" dirty="0" err="1"/>
              <a:t>best</a:t>
            </a:r>
            <a:endParaRPr lang="da-DK" sz="1200" dirty="0"/>
          </a:p>
          <a:p>
            <a:endParaRPr lang="da-DK" sz="1200" dirty="0"/>
          </a:p>
          <a:p>
            <a:r>
              <a:rPr lang="da-DK" sz="1200" b="1" dirty="0" err="1"/>
              <a:t>Between</a:t>
            </a:r>
            <a:r>
              <a:rPr lang="da-DK" sz="1200" b="1" dirty="0"/>
              <a:t> approach</a:t>
            </a:r>
          </a:p>
          <a:p>
            <a:pPr marL="285750" indent="-285750">
              <a:buFontTx/>
              <a:buChar char="-"/>
            </a:pPr>
            <a:r>
              <a:rPr lang="da-DK" sz="1200" dirty="0"/>
              <a:t>RNN: </a:t>
            </a:r>
            <a:r>
              <a:rPr lang="da-DK" sz="1200" dirty="0" err="1"/>
              <a:t>windowed</a:t>
            </a:r>
            <a:r>
              <a:rPr lang="da-DK" sz="1200" dirty="0"/>
              <a:t> </a:t>
            </a:r>
            <a:r>
              <a:rPr lang="da-DK" sz="1200" dirty="0" err="1"/>
              <a:t>best</a:t>
            </a:r>
            <a:r>
              <a:rPr lang="da-DK" sz="1200" dirty="0"/>
              <a:t> on FD001, </a:t>
            </a:r>
            <a:r>
              <a:rPr lang="da-DK" sz="1200" dirty="0" err="1"/>
              <a:t>sequence</a:t>
            </a:r>
            <a:r>
              <a:rPr lang="da-DK" sz="1200" dirty="0"/>
              <a:t> on FD002 – more </a:t>
            </a:r>
            <a:r>
              <a:rPr lang="da-DK" sz="1200" dirty="0" err="1"/>
              <a:t>training</a:t>
            </a:r>
            <a:r>
              <a:rPr lang="da-DK" sz="1200" dirty="0"/>
              <a:t>?</a:t>
            </a:r>
          </a:p>
          <a:p>
            <a:pPr marL="285750" indent="-285750">
              <a:buFontTx/>
              <a:buChar char="-"/>
            </a:pPr>
            <a:r>
              <a:rPr lang="da-DK" sz="1200" dirty="0"/>
              <a:t>TCN: </a:t>
            </a:r>
            <a:r>
              <a:rPr lang="da-DK" sz="1200" dirty="0" err="1"/>
              <a:t>Similar</a:t>
            </a:r>
            <a:r>
              <a:rPr lang="da-DK" sz="1200" dirty="0"/>
              <a:t>. </a:t>
            </a:r>
            <a:r>
              <a:rPr lang="da-DK" sz="1200" dirty="0" err="1"/>
              <a:t>Does</a:t>
            </a:r>
            <a:r>
              <a:rPr lang="da-DK" sz="1200" dirty="0"/>
              <a:t> not </a:t>
            </a:r>
            <a:r>
              <a:rPr lang="da-DK" sz="1200" dirty="0" err="1"/>
              <a:t>see</a:t>
            </a:r>
            <a:r>
              <a:rPr lang="da-DK" sz="1200" dirty="0"/>
              <a:t> </a:t>
            </a:r>
            <a:r>
              <a:rPr lang="da-DK" sz="1200" dirty="0" err="1"/>
              <a:t>whole</a:t>
            </a:r>
            <a:r>
              <a:rPr lang="da-DK" sz="1200" dirty="0"/>
              <a:t> </a:t>
            </a:r>
            <a:r>
              <a:rPr lang="da-DK" sz="1200" dirty="0" err="1"/>
              <a:t>sequence</a:t>
            </a:r>
            <a:r>
              <a:rPr lang="da-DK" sz="1200" dirty="0"/>
              <a:t> </a:t>
            </a:r>
            <a:r>
              <a:rPr lang="da-DK" sz="1200" dirty="0" err="1"/>
              <a:t>history</a:t>
            </a:r>
            <a:r>
              <a:rPr lang="da-DK" sz="1200" dirty="0"/>
              <a:t>.</a:t>
            </a:r>
          </a:p>
          <a:p>
            <a:pPr marL="285750" indent="-285750">
              <a:buFontTx/>
              <a:buChar char="-"/>
            </a:pPr>
            <a:r>
              <a:rPr lang="da-DK" sz="1200" dirty="0"/>
              <a:t>LSTM: </a:t>
            </a:r>
            <a:r>
              <a:rPr lang="da-DK" sz="1200" dirty="0" err="1"/>
              <a:t>Unstable</a:t>
            </a:r>
            <a:r>
              <a:rPr lang="da-DK" sz="1200" dirty="0"/>
              <a:t> for </a:t>
            </a:r>
            <a:r>
              <a:rPr lang="da-DK" sz="1200" dirty="0" err="1"/>
              <a:t>both</a:t>
            </a:r>
            <a:r>
              <a:rPr lang="da-DK" sz="1200" dirty="0"/>
              <a:t> </a:t>
            </a:r>
            <a:r>
              <a:rPr lang="da-DK" sz="1200" dirty="0" err="1"/>
              <a:t>sequence</a:t>
            </a:r>
            <a:r>
              <a:rPr lang="da-DK" sz="1200" dirty="0"/>
              <a:t> cases</a:t>
            </a:r>
          </a:p>
          <a:p>
            <a:pPr marL="285750" indent="-285750">
              <a:buFontTx/>
              <a:buChar char="-"/>
            </a:pPr>
            <a:r>
              <a:rPr lang="da-DK" sz="1200" dirty="0" err="1"/>
              <a:t>Tuned</a:t>
            </a:r>
            <a:r>
              <a:rPr lang="da-DK" sz="1200" dirty="0"/>
              <a:t> </a:t>
            </a:r>
            <a:r>
              <a:rPr lang="da-DK" sz="1200" dirty="0" err="1"/>
              <a:t>XGBoost</a:t>
            </a:r>
            <a:r>
              <a:rPr lang="da-DK" sz="1200" dirty="0"/>
              <a:t> still </a:t>
            </a:r>
            <a:r>
              <a:rPr lang="da-DK" sz="1200" dirty="0" err="1"/>
              <a:t>best</a:t>
            </a:r>
            <a:endParaRPr lang="da-DK" sz="1200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3DD5540-2760-1E5C-34A6-88960AC18333}"/>
              </a:ext>
            </a:extLst>
          </p:cNvPr>
          <p:cNvSpPr txBox="1"/>
          <p:nvPr/>
        </p:nvSpPr>
        <p:spPr>
          <a:xfrm>
            <a:off x="6358648" y="1335931"/>
            <a:ext cx="54474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b="1" dirty="0"/>
              <a:t>Deep learning vs. </a:t>
            </a:r>
            <a:r>
              <a:rPr lang="da-DK" sz="1200" b="1" dirty="0" err="1"/>
              <a:t>XGBoost</a:t>
            </a:r>
            <a:endParaRPr lang="da-DK" sz="1200" b="1" dirty="0"/>
          </a:p>
          <a:p>
            <a:pPr marL="285750" indent="-285750">
              <a:buFontTx/>
              <a:buChar char="-"/>
            </a:pPr>
            <a:r>
              <a:rPr lang="da-DK" sz="1200" dirty="0" err="1"/>
              <a:t>Tuned</a:t>
            </a:r>
            <a:r>
              <a:rPr lang="da-DK" sz="1200" dirty="0"/>
              <a:t> </a:t>
            </a:r>
            <a:r>
              <a:rPr lang="da-DK" sz="1200" dirty="0" err="1"/>
              <a:t>Xgboost</a:t>
            </a:r>
            <a:r>
              <a:rPr lang="da-DK" sz="1200" dirty="0"/>
              <a:t> </a:t>
            </a:r>
            <a:r>
              <a:rPr lang="da-DK" sz="1200" dirty="0" err="1"/>
              <a:t>wins</a:t>
            </a:r>
            <a:r>
              <a:rPr lang="da-DK" sz="1200" dirty="0"/>
              <a:t> in the </a:t>
            </a:r>
            <a:r>
              <a:rPr lang="da-DK" sz="1200" dirty="0" err="1"/>
              <a:t>beginning</a:t>
            </a:r>
            <a:endParaRPr lang="da-DK" sz="1200" dirty="0"/>
          </a:p>
          <a:p>
            <a:pPr marL="285750" indent="-285750">
              <a:buFontTx/>
              <a:buChar char="-"/>
            </a:pPr>
            <a:r>
              <a:rPr lang="da-DK" sz="1200" dirty="0" err="1"/>
              <a:t>Tuned</a:t>
            </a:r>
            <a:r>
              <a:rPr lang="da-DK" sz="1200" dirty="0"/>
              <a:t> LSTM </a:t>
            </a:r>
            <a:r>
              <a:rPr lang="da-DK" sz="1200" dirty="0" err="1"/>
              <a:t>approaches</a:t>
            </a:r>
            <a:r>
              <a:rPr lang="da-DK" sz="1200" dirty="0"/>
              <a:t> on FD001 and </a:t>
            </a:r>
            <a:r>
              <a:rPr lang="da-DK" sz="1200" dirty="0" err="1"/>
              <a:t>wins</a:t>
            </a:r>
            <a:r>
              <a:rPr lang="da-DK" sz="1200" dirty="0"/>
              <a:t> on FD002</a:t>
            </a:r>
          </a:p>
          <a:p>
            <a:pPr marL="285750" indent="-285750">
              <a:buFontTx/>
              <a:buChar char="-"/>
            </a:pPr>
            <a:r>
              <a:rPr lang="da-DK" sz="1200" dirty="0"/>
              <a:t>A single </a:t>
            </a:r>
            <a:r>
              <a:rPr lang="da-DK" sz="1200" dirty="0" err="1"/>
              <a:t>window</a:t>
            </a:r>
            <a:r>
              <a:rPr lang="da-DK" sz="1200" dirty="0"/>
              <a:t> of features </a:t>
            </a:r>
            <a:r>
              <a:rPr lang="da-DK" sz="1200" dirty="0" err="1"/>
              <a:t>captures</a:t>
            </a:r>
            <a:r>
              <a:rPr lang="da-DK" sz="1200" dirty="0"/>
              <a:t> a </a:t>
            </a:r>
            <a:r>
              <a:rPr lang="da-DK" sz="1200" dirty="0" err="1"/>
              <a:t>lot</a:t>
            </a:r>
            <a:r>
              <a:rPr lang="da-DK" sz="1200" dirty="0"/>
              <a:t> of information</a:t>
            </a:r>
          </a:p>
          <a:p>
            <a:pPr marL="285750" indent="-285750">
              <a:buFontTx/>
              <a:buChar char="-"/>
            </a:pPr>
            <a:r>
              <a:rPr lang="da-DK" sz="1200" dirty="0" err="1"/>
              <a:t>Hyperparameters</a:t>
            </a:r>
            <a:r>
              <a:rPr lang="da-DK" sz="1200" dirty="0"/>
              <a:t> </a:t>
            </a:r>
            <a:r>
              <a:rPr lang="da-DK" sz="1200" dirty="0" err="1"/>
              <a:t>are</a:t>
            </a:r>
            <a:r>
              <a:rPr lang="da-DK" sz="1200" dirty="0"/>
              <a:t> </a:t>
            </a:r>
            <a:r>
              <a:rPr lang="da-DK" sz="1200" dirty="0" err="1"/>
              <a:t>very</a:t>
            </a:r>
            <a:r>
              <a:rPr lang="da-DK" sz="1200" dirty="0"/>
              <a:t> </a:t>
            </a:r>
            <a:r>
              <a:rPr lang="da-DK" sz="1200" dirty="0" err="1"/>
              <a:t>important</a:t>
            </a:r>
            <a:r>
              <a:rPr lang="da-DK" sz="1200" dirty="0"/>
              <a:t> and more </a:t>
            </a:r>
            <a:r>
              <a:rPr lang="da-DK" sz="1200" dirty="0" err="1"/>
              <a:t>can</a:t>
            </a:r>
            <a:r>
              <a:rPr lang="da-DK" sz="1200" dirty="0"/>
              <a:t> </a:t>
            </a:r>
            <a:r>
              <a:rPr lang="da-DK" sz="1200" dirty="0" err="1"/>
              <a:t>be</a:t>
            </a:r>
            <a:r>
              <a:rPr lang="da-DK" sz="1200" dirty="0"/>
              <a:t> </a:t>
            </a:r>
            <a:r>
              <a:rPr lang="da-DK" sz="1200" dirty="0" err="1"/>
              <a:t>gained</a:t>
            </a:r>
            <a:endParaRPr lang="da-DK" sz="1200" dirty="0"/>
          </a:p>
          <a:p>
            <a:endParaRPr lang="da-DK" sz="1200" dirty="0"/>
          </a:p>
          <a:p>
            <a:r>
              <a:rPr lang="da-DK" sz="1200" b="1" dirty="0"/>
              <a:t>FD001 vs. FD002</a:t>
            </a:r>
          </a:p>
          <a:p>
            <a:pPr marL="171450" indent="-171450">
              <a:buFontTx/>
              <a:buChar char="-"/>
            </a:pPr>
            <a:r>
              <a:rPr lang="da-DK" sz="1200" dirty="0"/>
              <a:t>No big </a:t>
            </a:r>
            <a:r>
              <a:rPr lang="da-DK" sz="1200" dirty="0" err="1"/>
              <a:t>changes</a:t>
            </a:r>
            <a:r>
              <a:rPr lang="da-DK" sz="1200" dirty="0"/>
              <a:t> in RMSE or NASES – suggests </a:t>
            </a:r>
            <a:r>
              <a:rPr lang="da-DK" sz="1200" dirty="0" err="1"/>
              <a:t>that</a:t>
            </a:r>
            <a:r>
              <a:rPr lang="da-DK" sz="1200" dirty="0"/>
              <a:t> per-cluster-and-sensor </a:t>
            </a:r>
            <a:r>
              <a:rPr lang="da-DK" sz="1200" dirty="0" err="1"/>
              <a:t>normalization</a:t>
            </a:r>
            <a:r>
              <a:rPr lang="da-DK" sz="1200" dirty="0"/>
              <a:t> </a:t>
            </a:r>
            <a:r>
              <a:rPr lang="da-DK" sz="1200" dirty="0" err="1"/>
              <a:t>works</a:t>
            </a:r>
            <a:endParaRPr lang="da-DK" sz="1200" dirty="0"/>
          </a:p>
          <a:p>
            <a:endParaRPr lang="da-DK" sz="1200" dirty="0"/>
          </a:p>
          <a:p>
            <a:r>
              <a:rPr lang="da-DK" sz="1200" b="1" dirty="0"/>
              <a:t>RMSE vs. NASA</a:t>
            </a:r>
          </a:p>
          <a:p>
            <a:pPr marL="171450" indent="-171450">
              <a:buFontTx/>
              <a:buChar char="-"/>
            </a:pPr>
            <a:r>
              <a:rPr lang="da-DK" sz="1200" dirty="0" err="1"/>
              <a:t>Agree</a:t>
            </a:r>
            <a:r>
              <a:rPr lang="da-DK" sz="1200" dirty="0"/>
              <a:t> in most cases. The LSTM </a:t>
            </a:r>
            <a:r>
              <a:rPr lang="da-DK" sz="1200" dirty="0" err="1"/>
              <a:t>collapses</a:t>
            </a:r>
            <a:r>
              <a:rPr lang="da-DK" sz="1200" dirty="0"/>
              <a:t> </a:t>
            </a:r>
            <a:r>
              <a:rPr lang="da-DK" sz="1200" dirty="0" err="1"/>
              <a:t>inflate</a:t>
            </a:r>
            <a:r>
              <a:rPr lang="da-DK" sz="1200" dirty="0"/>
              <a:t> the scores</a:t>
            </a:r>
          </a:p>
        </p:txBody>
      </p:sp>
    </p:spTree>
    <p:extLst>
      <p:ext uri="{BB962C8B-B14F-4D97-AF65-F5344CB8AC3E}">
        <p14:creationId xmlns:p14="http://schemas.microsoft.com/office/powerpoint/2010/main" val="27077414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B69ABF3A-B169-44F9-86AC-4E29FB2A2600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386C9AF7-FC43-4772-BF6D-26FE95C56D62}">
  <ds:schemaRefs/>
</ds:datastoreItem>
</file>

<file path=customXml/itemProps4.xml><?xml version="1.0" encoding="utf-8"?>
<ds:datastoreItem xmlns:ds="http://schemas.openxmlformats.org/officeDocument/2006/customXml" ds:itemID="{C60B9EDF-596D-4F67-B5E3-411D55B8E8F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444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Deep learning for time-series</vt:lpstr>
      <vt:lpstr>EDA – FD001</vt:lpstr>
      <vt:lpstr>EDA – FD002</vt:lpstr>
      <vt:lpstr>Data preparation</vt:lpstr>
      <vt:lpstr>1.2 – Standard model configurations</vt:lpstr>
      <vt:lpstr>3.2 – Focused hyperparameter study</vt:lpstr>
      <vt:lpstr>3.2 – Focused hyperparameter study: Window approach</vt:lpstr>
      <vt:lpstr>3.2 – Focused hyperparameter study: Sequence approach</vt:lpstr>
      <vt:lpstr>Comparative analyses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Frederik Appel Vardinghus-Nielsen</dc:creator>
  <cp:keywords/>
  <dc:description/>
  <cp:lastModifiedBy>Frederik Appel Vardinghus-Nielsen</cp:lastModifiedBy>
  <cp:revision>28</cp:revision>
  <dcterms:created xsi:type="dcterms:W3CDTF">2025-12-19T09:06:10Z</dcterms:created>
  <dcterms:modified xsi:type="dcterms:W3CDTF">2026-05-20T10:37:22Z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1290988692440090427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</Properties>
</file>