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18"/>
  </p:notesMasterIdLst>
  <p:sldIdLst>
    <p:sldId id="256" r:id="rId6"/>
    <p:sldId id="257" r:id="rId7"/>
    <p:sldId id="258" r:id="rId8"/>
    <p:sldId id="259" r:id="rId9"/>
    <p:sldId id="262" r:id="rId10"/>
    <p:sldId id="260" r:id="rId11"/>
    <p:sldId id="261" r:id="rId12"/>
    <p:sldId id="263" r:id="rId13"/>
    <p:sldId id="264" r:id="rId14"/>
    <p:sldId id="265" r:id="rId15"/>
    <p:sldId id="266" r:id="rId16"/>
    <p:sldId id="267" r:id="rId17"/>
  </p:sldIdLst>
  <p:sldSz cx="12192000" cy="6858000"/>
  <p:notesSz cx="6858000" cy="9144000"/>
  <p:custDataLst>
    <p:tags r:id="rId1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54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tags" Target="tags/tag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FF3FCA-946D-4CC5-B026-9510E72B2D19}" type="datetimeFigureOut">
              <a:rPr lang="da-DK" smtClean="0"/>
              <a:t>18-05-2026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A32131-F0B3-4875-A3D8-9ECFBE0873C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52138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Deep learning for time-series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Assignment 3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1.1 - EDA</a:t>
            </a:r>
          </a:p>
        </p:txBody>
      </p:sp>
      <p:pic>
        <p:nvPicPr>
          <p:cNvPr id="7" name="Billede 6">
            <a:extLst>
              <a:ext uri="{FF2B5EF4-FFF2-40B4-BE49-F238E27FC236}">
                <a16:creationId xmlns:a16="http://schemas.microsoft.com/office/drawing/2014/main" id="{4BFF62A8-9F9B-5EBF-D3DC-C80D0931AD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3690" y="1050000"/>
            <a:ext cx="3878970" cy="5818455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62627630-0B66-5844-1C65-81F743FF8D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63" y="1183918"/>
            <a:ext cx="5550617" cy="2775309"/>
          </a:xfrm>
          <a:prstGeom prst="rect">
            <a:avLst/>
          </a:prstGeom>
        </p:spPr>
      </p:pic>
      <p:sp>
        <p:nvSpPr>
          <p:cNvPr id="12" name="Tekstfelt 11">
            <a:extLst>
              <a:ext uri="{FF2B5EF4-FFF2-40B4-BE49-F238E27FC236}">
                <a16:creationId xmlns:a16="http://schemas.microsoft.com/office/drawing/2014/main" id="{626BCB5C-F761-CB5A-0C1C-397D29A8981B}"/>
              </a:ext>
            </a:extLst>
          </p:cNvPr>
          <p:cNvSpPr txBox="1"/>
          <p:nvPr/>
        </p:nvSpPr>
        <p:spPr>
          <a:xfrm>
            <a:off x="648511" y="4260714"/>
            <a:ext cx="544748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a-DK" sz="1400" dirty="0"/>
              <a:t>Multiple sensor </a:t>
            </a:r>
            <a:r>
              <a:rPr lang="da-DK" sz="1400" dirty="0" err="1"/>
              <a:t>trajectories</a:t>
            </a:r>
            <a:r>
              <a:rPr lang="da-DK" sz="1400" dirty="0"/>
              <a:t> have clear (</a:t>
            </a:r>
            <a:r>
              <a:rPr lang="da-DK" sz="1400" dirty="0" err="1"/>
              <a:t>noisy</a:t>
            </a:r>
            <a:r>
              <a:rPr lang="da-DK" sz="1400" dirty="0"/>
              <a:t>) </a:t>
            </a:r>
            <a:r>
              <a:rPr lang="da-DK" sz="1400" dirty="0" err="1"/>
              <a:t>monotonic</a:t>
            </a:r>
            <a:r>
              <a:rPr lang="da-DK" sz="1400" dirty="0"/>
              <a:t> </a:t>
            </a:r>
            <a:r>
              <a:rPr lang="da-DK" sz="1400" dirty="0" err="1"/>
              <a:t>relationship</a:t>
            </a:r>
            <a:r>
              <a:rPr lang="da-DK" sz="1400" dirty="0"/>
              <a:t> with </a:t>
            </a:r>
            <a:r>
              <a:rPr lang="da-DK" sz="1400" dirty="0" err="1"/>
              <a:t>remaining</a:t>
            </a:r>
            <a:r>
              <a:rPr lang="da-DK" sz="1400" dirty="0"/>
              <a:t> </a:t>
            </a:r>
            <a:r>
              <a:rPr lang="da-DK" sz="1400" dirty="0" err="1"/>
              <a:t>cycles</a:t>
            </a:r>
            <a:endParaRPr lang="da-DK" sz="1400" dirty="0"/>
          </a:p>
          <a:p>
            <a:pPr marL="285750" indent="-285750">
              <a:buFontTx/>
              <a:buChar char="-"/>
            </a:pPr>
            <a:r>
              <a:rPr lang="da-DK" sz="1400" dirty="0"/>
              <a:t>The </a:t>
            </a:r>
            <a:r>
              <a:rPr lang="da-DK" sz="1400" dirty="0" err="1"/>
              <a:t>ending</a:t>
            </a:r>
            <a:r>
              <a:rPr lang="da-DK" sz="1400" dirty="0"/>
              <a:t> sensor </a:t>
            </a:r>
            <a:r>
              <a:rPr lang="da-DK" sz="1400" dirty="0" err="1"/>
              <a:t>values</a:t>
            </a:r>
            <a:r>
              <a:rPr lang="da-DK" sz="1400" dirty="0"/>
              <a:t> </a:t>
            </a:r>
            <a:r>
              <a:rPr lang="da-DK" sz="1400" dirty="0" err="1"/>
              <a:t>are</a:t>
            </a:r>
            <a:r>
              <a:rPr lang="da-DK" sz="1400" dirty="0"/>
              <a:t> </a:t>
            </a:r>
            <a:r>
              <a:rPr lang="da-DK" sz="1400" dirty="0" err="1"/>
              <a:t>comparable</a:t>
            </a:r>
            <a:r>
              <a:rPr lang="da-DK" sz="1400" dirty="0"/>
              <a:t> for multiple sensors</a:t>
            </a:r>
          </a:p>
          <a:p>
            <a:pPr marL="285750" indent="-285750">
              <a:buFontTx/>
              <a:buChar char="-"/>
            </a:pPr>
            <a:r>
              <a:rPr lang="da-DK" sz="1400" dirty="0" err="1"/>
              <a:t>Some</a:t>
            </a:r>
            <a:r>
              <a:rPr lang="da-DK" sz="1400" dirty="0"/>
              <a:t> sensors </a:t>
            </a:r>
            <a:r>
              <a:rPr lang="da-DK" sz="1400" dirty="0" err="1"/>
              <a:t>are</a:t>
            </a:r>
            <a:r>
              <a:rPr lang="da-DK" sz="1400" dirty="0"/>
              <a:t> </a:t>
            </a:r>
            <a:r>
              <a:rPr lang="da-DK" sz="1400" dirty="0" err="1"/>
              <a:t>clearly</a:t>
            </a:r>
            <a:r>
              <a:rPr lang="da-DK" sz="1400" dirty="0"/>
              <a:t> not informative</a:t>
            </a:r>
          </a:p>
          <a:p>
            <a:pPr marL="285750" indent="-285750">
              <a:buFontTx/>
              <a:buChar char="-"/>
            </a:pPr>
            <a:r>
              <a:rPr lang="da-DK" sz="1400" dirty="0" err="1"/>
              <a:t>Only</a:t>
            </a:r>
            <a:r>
              <a:rPr lang="da-DK" sz="1400" dirty="0"/>
              <a:t> </a:t>
            </a:r>
            <a:r>
              <a:rPr lang="da-DK" sz="1400" dirty="0" err="1"/>
              <a:t>few</a:t>
            </a:r>
            <a:r>
              <a:rPr lang="da-DK" sz="1400" dirty="0"/>
              <a:t> sensors show </a:t>
            </a:r>
            <a:r>
              <a:rPr lang="da-DK" sz="1400" dirty="0" err="1"/>
              <a:t>different</a:t>
            </a:r>
            <a:r>
              <a:rPr lang="da-DK" sz="1400" dirty="0"/>
              <a:t> </a:t>
            </a:r>
            <a:r>
              <a:rPr lang="da-DK" sz="1400" dirty="0" err="1"/>
              <a:t>behaviours</a:t>
            </a:r>
            <a:r>
              <a:rPr lang="da-DK" sz="1400" dirty="0"/>
              <a:t> </a:t>
            </a:r>
            <a:r>
              <a:rPr lang="da-DK" sz="1400" dirty="0" err="1"/>
              <a:t>accross</a:t>
            </a:r>
            <a:r>
              <a:rPr lang="da-DK" sz="1400" dirty="0"/>
              <a:t> </a:t>
            </a:r>
            <a:r>
              <a:rPr lang="da-DK" sz="1400" dirty="0" err="1"/>
              <a:t>engines</a:t>
            </a:r>
            <a:endParaRPr lang="da-DK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2437-D785-4BDA-9155-D9E887EF6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279A3086-D01D-E65E-1C19-DFA8806BDC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1763813-C333-E114-9BBD-C72179ECA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1.2 – Data preparation</a:t>
            </a: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E57588CC-02A1-7B11-CEC6-E80E4946734A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ekstfelt 4">
            <a:extLst>
              <a:ext uri="{FF2B5EF4-FFF2-40B4-BE49-F238E27FC236}">
                <a16:creationId xmlns:a16="http://schemas.microsoft.com/office/drawing/2014/main" id="{C8945637-C785-B197-2332-12A1F63ACEB5}"/>
              </a:ext>
            </a:extLst>
          </p:cNvPr>
          <p:cNvSpPr txBox="1"/>
          <p:nvPr/>
        </p:nvSpPr>
        <p:spPr>
          <a:xfrm>
            <a:off x="149158" y="1335931"/>
            <a:ext cx="544748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/>
              <a:t> RUL label construction: constructed as piecewise-linear with a cap of 125 cycles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Train/validation split: A classic 80/20 split by engines for train/</a:t>
            </a:r>
            <a:r>
              <a:rPr lang="en-US" sz="1400" dirty="0" err="1"/>
              <a:t>val</a:t>
            </a:r>
            <a:r>
              <a:rPr lang="en-US" sz="1400" dirty="0"/>
              <a:t> is used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Normalization: The sensor values are Z-score normalized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Fixed random seed: A fixed random seed (42) is </a:t>
            </a:r>
            <a:r>
              <a:rPr lang="en-US" sz="1400"/>
              <a:t>used for train</a:t>
            </a:r>
            <a:r>
              <a:rPr lang="en-US" sz="1400" dirty="0"/>
              <a:t>/</a:t>
            </a:r>
            <a:r>
              <a:rPr lang="en-US" sz="1400" dirty="0" err="1"/>
              <a:t>val</a:t>
            </a:r>
            <a:r>
              <a:rPr lang="en-US" sz="1400" dirty="0"/>
              <a:t> split</a:t>
            </a:r>
            <a:endParaRPr lang="da-DK" sz="1400" dirty="0"/>
          </a:p>
        </p:txBody>
      </p:sp>
    </p:spTree>
    <p:extLst>
      <p:ext uri="{BB962C8B-B14F-4D97-AF65-F5344CB8AC3E}">
        <p14:creationId xmlns:p14="http://schemas.microsoft.com/office/powerpoint/2010/main" val="2365891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A6182-0E2F-50F6-6794-41A1CFCE9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25C34D19-47A7-6167-384E-C96EB4EF5D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90F5BC8-DF1E-BAE4-BA31-8E758B957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1.7 </a:t>
            </a:r>
            <a:r>
              <a:rPr lang="en-US" sz="3200" b="1" dirty="0" err="1">
                <a:solidFill>
                  <a:srgbClr val="FFFFFF"/>
                </a:solidFill>
                <a:latin typeface="Calibri"/>
              </a:rPr>
              <a:t>XGBoost</a:t>
            </a:r>
            <a:r>
              <a:rPr lang="en-US" sz="3200" b="1" dirty="0">
                <a:solidFill>
                  <a:srgbClr val="FFFFFF"/>
                </a:solidFill>
                <a:latin typeface="Calibri"/>
              </a:rPr>
              <a:t> baseline</a:t>
            </a: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93A239DB-65A9-0D30-D8C0-C17F51E2B7D4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9520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57F21-5A3F-440C-1794-1193B5148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D6C2B300-4D0C-311E-163C-0C002E59B5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E2D0684-807F-8C46-0439-6C2C9910A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Results from FD001</a:t>
            </a: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C914FC1A-33FC-F270-F322-DD854BCEBFAB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21580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6FCE7-1E20-91A1-B593-50B56F625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0BEAC4E8-BD24-0D3D-CC7F-05384B24C4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047F7E-D484-F18E-C88E-B4EC87F1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3.2 – Analysis of focused hyperparameter study</a:t>
            </a: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F557ADAA-B742-18BF-AF26-418610B5F9FC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61500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88459-4719-8623-737F-554AF40DD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13DF1528-1945-F997-3E7C-A894DC5126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74FA989-1981-4823-59E7-437D8C9D2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Results from FD002</a:t>
            </a: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BB135F7A-3BA5-EE50-44DD-87F9164DA7DB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54275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8C4F-CED8-9A06-CE6D-0EEAB3813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0468FF89-AC47-FCC8-CB00-D13F24A1E1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749FFF1-EA08-115D-F47B-FC3B5F9D2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Comparative analyses – within approach</a:t>
            </a: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17815D29-1919-67DA-B9D4-DF3C93C56D06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7741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8C52C-0335-12FB-4303-E4B944E84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E5DC9FD6-2C8A-5E06-AFAD-009F533639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86DF3D8-F5B1-C86E-0661-B52061280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Comparative analyses – between approach</a:t>
            </a: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5D43C47A-A940-D5DB-4992-BE7B17FDDF78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1119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1F7A0-846A-D42A-4A9A-431AB849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058665F2-079A-5F5F-FBE2-507EBFBF6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670E946-C411-0421-7CB2-CB3E1811D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Comparative analyses – deep learning vs </a:t>
            </a:r>
            <a:r>
              <a:rPr lang="en-US" sz="3200" b="1" dirty="0" err="1">
                <a:solidFill>
                  <a:srgbClr val="FFFFFF"/>
                </a:solidFill>
                <a:latin typeface="Calibri"/>
              </a:rPr>
              <a:t>XGBoost</a:t>
            </a:r>
            <a:endParaRPr lang="en-US" sz="3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F4CF4BC1-1228-016C-4734-45DB99045B82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50873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5BE02-7B39-7929-79FC-7882F84F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E64E61B7-DDAF-6877-B721-148F49EBDB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4622FE6-7EAC-5D6A-2FCC-F330FF460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Comparative analyses – FD001 vs FD002</a:t>
            </a: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9F5E259F-452F-4537-EA35-6F3C07C898C0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667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B2842-7614-6BF1-A7EA-764FBF65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CAC734B2-88BB-7833-47F0-92E2AB5911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E7AE8E0-7EAD-2BAE-2817-75242117B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Comparative analyses – RMSE vs NASA score</a:t>
            </a:r>
          </a:p>
        </p:txBody>
      </p:sp>
      <p:sp>
        <p:nvSpPr>
          <p:cNvPr id="11" name="Divider">
            <a:extLst>
              <a:ext uri="{FF2B5EF4-FFF2-40B4-BE49-F238E27FC236}">
                <a16:creationId xmlns:a16="http://schemas.microsoft.com/office/drawing/2014/main" id="{407C2D20-5CFB-BEE9-80AC-8D2F0AFC2D11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89900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FormConfiguration><![CDATA[{"formFields":[],"formDataEntries":[]}]]></TemplafyFormConfiguration>
</file>

<file path=customXml/item4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Props1.xml><?xml version="1.0" encoding="utf-8"?>
<ds:datastoreItem xmlns:ds="http://schemas.openxmlformats.org/officeDocument/2006/customXml" ds:itemID="{B69ABF3A-B169-44F9-86AC-4E29FB2A2600}">
  <ds:schemaRefs/>
</ds:datastoreItem>
</file>

<file path=customXml/itemProps2.xml><?xml version="1.0" encoding="utf-8"?>
<ds:datastoreItem xmlns:ds="http://schemas.openxmlformats.org/officeDocument/2006/customXml" ds:itemID="{C60B9EDF-596D-4F67-B5E3-411D55B8E8FC}">
  <ds:schemaRefs/>
</ds:datastoreItem>
</file>

<file path=customXml/itemProps3.xml><?xml version="1.0" encoding="utf-8"?>
<ds:datastoreItem xmlns:ds="http://schemas.openxmlformats.org/officeDocument/2006/customXml" ds:itemID="{C5938109-F486-41EA-929F-D7DF65C5D6B1}">
  <ds:schemaRefs/>
</ds:datastoreItem>
</file>

<file path=customXml/itemProps4.xml><?xml version="1.0" encoding="utf-8"?>
<ds:datastoreItem xmlns:ds="http://schemas.openxmlformats.org/officeDocument/2006/customXml" ds:itemID="{386C9AF7-FC43-4772-BF6D-26FE95C56D62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570</TotalTime>
  <Words>152</Words>
  <Application>Microsoft Office PowerPoint</Application>
  <PresentationFormat>Widescreen</PresentationFormat>
  <Paragraphs>21</Paragraphs>
  <Slides>12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Deep learning for time-series</vt:lpstr>
      <vt:lpstr>1.1 - EDA</vt:lpstr>
      <vt:lpstr>1.2 – Data preparation</vt:lpstr>
      <vt:lpstr>1.7 XGBoost baseline</vt:lpstr>
      <vt:lpstr>Results from FD001</vt:lpstr>
      <vt:lpstr>3.2 – Analysis of focused hyperparameter study</vt:lpstr>
      <vt:lpstr>Results from FD002</vt:lpstr>
      <vt:lpstr>Comparative analyses – within approach</vt:lpstr>
      <vt:lpstr>Comparative analyses – between approach</vt:lpstr>
      <vt:lpstr>Comparative analyses – deep learning vs XGBoost</vt:lpstr>
      <vt:lpstr>Comparative analyses – FD001 vs FD002</vt:lpstr>
      <vt:lpstr>Comparative analyses – RMSE vs NASA score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Frederik Appel Vardinghus-Nielsen</dc:creator>
  <cp:keywords/>
  <dc:description/>
  <cp:lastModifiedBy>Frederik Appel Vardinghus-Nielsen</cp:lastModifiedBy>
  <cp:revision>25</cp:revision>
  <dcterms:created xsi:type="dcterms:W3CDTF">2025-12-19T09:06:10Z</dcterms:created>
  <dcterms:modified xsi:type="dcterms:W3CDTF">2026-05-18T11:09:34Z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