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62" r:id="rId8"/>
    <p:sldId id="259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90" y="-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2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02 – Missing Data &amp; Imputation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ightColumn"/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House quality filter</a:t>
            </a:r>
          </a:p>
          <a:p>
            <a:pPr>
              <a:lnSpc>
                <a:spcPts val="1400"/>
              </a:lnSpc>
            </a:pPr>
            <a:r>
              <a:rPr lang="en-US" sz="1400" dirty="0">
                <a:latin typeface="Calibri"/>
              </a:rPr>
              <a:t>Drop household if either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more than 10% of values are missing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a gap is longer than 48 hours (aggressive)</a:t>
            </a:r>
            <a:endParaRPr lang="en-US" sz="1400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sz="1400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Seasonal mean imputation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>Energy demand follows strong daily and weaker weekly cycles. Seasonal (48 slots) mean preserves the daily pattern, avoiding the flat plateau introduced by forward-fill.</a:t>
            </a:r>
            <a:br>
              <a:rPr lang="en-US" sz="1400" dirty="0">
                <a:latin typeface="Calibri"/>
              </a:rPr>
            </a:br>
            <a:br>
              <a:rPr lang="en-US" sz="1400" dirty="0">
                <a:latin typeface="Calibri"/>
              </a:rPr>
            </a:br>
            <a:r>
              <a:rPr lang="en-US" sz="1400" dirty="0" err="1">
                <a:latin typeface="Calibri"/>
              </a:rPr>
              <a:t>NaN</a:t>
            </a:r>
            <a:r>
              <a:rPr lang="en-US" sz="1400" dirty="0">
                <a:latin typeface="Calibri"/>
              </a:rPr>
              <a:t>-values are filled with mean of </a:t>
            </a:r>
            <a:r>
              <a:rPr lang="en-US" sz="1400" i="1" dirty="0">
                <a:latin typeface="Calibri"/>
              </a:rPr>
              <a:t>all</a:t>
            </a:r>
            <a:r>
              <a:rPr lang="en-US" sz="1400" dirty="0">
                <a:latin typeface="Calibri"/>
              </a:rPr>
              <a:t> previous values at 48-slots intervals. Could be improved with rolling window since the PACF shows drop-off.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08F337-270D-84C4-644A-8B03B2CC5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371" y="1059144"/>
            <a:ext cx="3971829" cy="5727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Stationarity &amp; Trend Analysis</a:t>
            </a:r>
          </a:p>
        </p:txBody>
      </p:sp>
      <p:sp>
        <p:nvSpPr>
          <p:cNvPr id="3" name="ADF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ADF Stationarity Test (p &lt; 0.05)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>All 5 households stationary </a:t>
            </a:r>
            <a:r>
              <a:rPr lang="en-US" sz="1400" dirty="0">
                <a:latin typeface="Calibri"/>
              </a:rPr>
              <a:t>across all regression types (c, ct, ctt)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MAC000002: ADF = −10.11,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MAC000003: ADF = −6.63,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MAC000004: ADF = −12.92,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MAC000005: ADF = −13.36,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MAC000006: ADF = −9.11, p = 0.000 ✓</a:t>
            </a:r>
          </a:p>
          <a:p>
            <a:pPr>
              <a:lnSpc>
                <a:spcPts val="1300"/>
              </a:lnSpc>
            </a:pPr>
            <a:endParaRPr lang="en-US" sz="13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Mann-Kendall Trend Test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(p=0.876)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(p=0.341)</a:t>
            </a:r>
          </a:p>
          <a:p>
            <a:pPr>
              <a:lnSpc>
                <a:spcPts val="1300"/>
              </a:lnSpc>
            </a:pPr>
            <a:endParaRPr lang="en-US" sz="12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White Test (Heteroscedasticity)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LM=20,916,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LM=32,059,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LM=28,532,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LM=27,357,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LM=33,301,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  <a:spcBef>
                <a:spcPts val="400"/>
              </a:spcBef>
            </a:pPr>
            <a:r>
              <a:rPr lang="en-US" sz="1200" i="1" dirty="0">
                <a:solidFill>
                  <a:srgbClr val="444444"/>
                </a:solidFill>
                <a:latin typeface="Calibri"/>
              </a:rPr>
              <a:t>All households show non-constant variance — log-transform recommended.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3" name="HouseholdSplitsImg">
            <a:extLst>
              <a:ext uri="{FF2B5EF4-FFF2-40B4-BE49-F238E27FC236}">
                <a16:creationId xmlns:a16="http://schemas.microsoft.com/office/drawing/2014/main" id="{48E7F763-C8BC-6196-E80D-EE31BDA0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295" y="1200000"/>
            <a:ext cx="5528371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Diagnostics &amp;Transforms</a:t>
            </a:r>
          </a:p>
        </p:txBody>
      </p:sp>
      <p:sp>
        <p:nvSpPr>
          <p:cNvPr id="8" name="RightColumn">
            <a:extLst>
              <a:ext uri="{FF2B5EF4-FFF2-40B4-BE49-F238E27FC236}">
                <a16:creationId xmlns:a16="http://schemas.microsoft.com/office/drawing/2014/main" id="{BA12037A-8CC1-5891-1D38-207F4EE6B735}"/>
              </a:ext>
            </a:extLst>
          </p:cNvPr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Diagnostics and transforms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ADF shows significant periodicity – seasonal 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solidFill>
                  <a:srgbClr val="1E2761"/>
                </a:solidFill>
                <a:latin typeface="Calibri"/>
              </a:rPr>
              <a:t>White test shows heteroskedasticity and OLS shows left skewed residuals – log-transform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solidFill>
                  <a:srgbClr val="1E2761"/>
                </a:solidFill>
                <a:latin typeface="Calibri"/>
              </a:rPr>
              <a:t>Mann-Kendall trend tests shows significant trends, but they are deemed spurious.</a:t>
            </a:r>
          </a:p>
        </p:txBody>
      </p:sp>
      <p:sp>
        <p:nvSpPr>
          <p:cNvPr id="9" name="Divider">
            <a:extLst>
              <a:ext uri="{FF2B5EF4-FFF2-40B4-BE49-F238E27FC236}">
                <a16:creationId xmlns:a16="http://schemas.microsoft.com/office/drawing/2014/main" id="{821229E4-CDD7-BB1E-C1B3-BD439F021AC0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90EC93-4F23-03B0-762D-2EBFD4985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472" y="1220424"/>
            <a:ext cx="5477848" cy="5423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06 – Local Model: Single Household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8633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Model Selection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Six models compared: </a:t>
            </a:r>
            <a:r>
              <a:rPr lang="en-US" sz="1050" dirty="0" err="1">
                <a:latin typeface="Calibri"/>
              </a:rPr>
              <a:t>LinearRegression</a:t>
            </a:r>
            <a:r>
              <a:rPr lang="en-US" sz="1050" dirty="0">
                <a:latin typeface="Calibri"/>
              </a:rPr>
              <a:t>, Ridge(a=1.0), Lasso(a=0.01), </a:t>
            </a:r>
            <a:r>
              <a:rPr lang="en-US" sz="1050" dirty="0" err="1">
                <a:latin typeface="Calibri"/>
              </a:rPr>
              <a:t>DecisionTree</a:t>
            </a:r>
            <a:r>
              <a:rPr lang="en-US" sz="1050" dirty="0">
                <a:latin typeface="Calibri"/>
              </a:rPr>
              <a:t>(d=8), </a:t>
            </a:r>
            <a:r>
              <a:rPr lang="en-US" sz="1050" dirty="0" err="1">
                <a:latin typeface="Calibri"/>
              </a:rPr>
              <a:t>RandomForest</a:t>
            </a:r>
            <a:r>
              <a:rPr lang="en-US" sz="1050" dirty="0">
                <a:latin typeface="Calibri"/>
              </a:rPr>
              <a:t>, </a:t>
            </a:r>
            <a:r>
              <a:rPr lang="en-US" sz="1050" dirty="0" err="1">
                <a:latin typeface="Calibri"/>
              </a:rPr>
              <a:t>LightGBM</a:t>
            </a:r>
            <a:r>
              <a:rPr lang="en-US" sz="1050" dirty="0">
                <a:latin typeface="Calibri"/>
              </a:rPr>
              <a:t>(l=63)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Transform: Log-</a:t>
            </a:r>
            <a:r>
              <a:rPr lang="en-US" sz="1050" dirty="0" err="1">
                <a:latin typeface="Calibri"/>
              </a:rPr>
              <a:t>deseasonalising</a:t>
            </a:r>
            <a:r>
              <a:rPr lang="en-US" sz="1050" dirty="0">
                <a:latin typeface="Calibri"/>
              </a:rPr>
              <a:t> (period=48), reversible — residuals modelled, inverse-transform applied at inference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>
                <a:latin typeface="Calibri"/>
              </a:rPr>
              <a:t>Best model: </a:t>
            </a:r>
            <a:r>
              <a:rPr lang="en-US" sz="1050" dirty="0">
                <a:latin typeface="Calibri"/>
              </a:rPr>
              <a:t>LightGBM(l=63)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0.550 | Test MASE: 0.568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MAE: 0.085 | Test MAE: 0.088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ACF lag-1: -0.126 (significant)</a:t>
            </a:r>
          </a:p>
        </p:txBody>
      </p:sp>
      <p:pic>
        <p:nvPicPr>
          <p:cNvPr id="4" name="ResidualAnalysis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1200000"/>
            <a:ext cx="7415060" cy="4200000"/>
          </a:xfrm>
          <a:prstGeom prst="rect">
            <a:avLst/>
          </a:prstGeom>
        </p:spPr>
      </p:pic>
      <p:sp>
        <p:nvSpPr>
          <p:cNvPr id="5" name="ImgCaption"/>
          <p:cNvSpPr>
            <a:spLocks noGrp="1"/>
          </p:cNvSpPr>
          <p:nvPr/>
        </p:nvSpPr>
        <p:spPr>
          <a:xfrm>
            <a:off x="6200000" y="5450000"/>
            <a:ext cx="55356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6: Residual analysis — LightGBM on household MAC000002 after log-deseasonalising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07 – Local Cohort Analysis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625602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Cohort-Level 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Same LightGBM + log-deseasonalising pipeline applied to the full cohort (50 households)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Cohort mean test MASE: 0.711 | std: 0.187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ACORN Subgroup Analysis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Households split by ACORN classification (Affluent, Comfortable, Adversity)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No strong subgroup effect observed — individual household variance dominates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Easy households (low consumption variance): mean MASE: 0.44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Hard households (erratic patterns): mean MASE: 1.11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Key Finding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Forecasting difficulty is driven more by household behavioural variance than by demographic group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Local per-household models are necessary: pooling would sacrifice accuracy on stable households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2246F-8710-D38A-2742-014C00D6E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08179"/>
            <a:ext cx="3802380" cy="26918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6E17FF-3BEA-71D8-10DF-FA260822E0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220" y="1172986"/>
            <a:ext cx="5280660" cy="4485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08 – Global vs Local Models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55000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Global Forecasting Model (GFM)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One LightGBM trained on ALL households simultaneously (pooled data)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Learns shared patterns across the population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Head-to-Head Comparison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models (Task 7)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MASE 0.726 | Test MASE 0.711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RMSE 0.223 | Test RMSE 0.219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 (Task 8)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MASE 0.721 | Test MASE 0.703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RMSE 0.225 | Test RMSE 0.221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Interpretation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Global models win slightly in MASE but not in RMSE. Interpreted as a better understanding of general trends but less sensitive to household specific patterns and the model is therefore underfitted to outliers.</a:t>
            </a:r>
            <a:endParaRPr lang="en-US" sz="1400" i="1" dirty="0"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AE98D6-90DC-1566-8DB5-065E04EA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771" y="1050000"/>
            <a:ext cx="4774469" cy="475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09 – Global Model with Meta-Features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43586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Motivation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The GFM (Task 8) treats all households identically; adding meta-features allows it to specialise by demographic group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Meta-features available: stdorToU (pricing plan), Acorn (20-category), Acorn_grouped (5-category)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Encoding Variants Tested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a_baseline: no meta-features (Task 8 GFM)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b_ohe: one-hot encoding of Acorn_grouped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c_count: count encoding of Acorn (category -&gt; frequency)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d_target_enc: target encoding of Acorn (category -&gt; mean consumption)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 err="1">
                <a:latin typeface="Calibri"/>
              </a:rPr>
              <a:t>Best:One</a:t>
            </a:r>
            <a:r>
              <a:rPr lang="en-US" sz="1050" b="1" dirty="0">
                <a:latin typeface="Calibri"/>
              </a:rPr>
              <a:t> hot encoding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0.7187 | Test MASE: 0.7013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Marginal improvement over baseline (0.7033 → 0.7013)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All encodings perform similarly — meta-features give modest signal.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Since there is not a lot of variance between groups (</a:t>
            </a:r>
            <a:r>
              <a:rPr lang="en-US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Kruskall</a:t>
            </a: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-Wallis test) there is no big difference in the encoding of the groups.</a:t>
            </a:r>
          </a:p>
        </p:txBody>
      </p:sp>
      <p:pic>
        <p:nvPicPr>
          <p:cNvPr id="4" name="EncodingCompariso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499780"/>
            <a:ext cx="7459980" cy="3900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Hyperparameter Tuning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64998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Search Strategies Compared</a:t>
            </a: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Tuning summary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=================================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Strategy	configs	Val MASE	Wall time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Grid	27	0.5887	101.3s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Random	5	0.5852    	21.3s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Bayesian	5	0.5808    	23.0s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1398BE-48B0-D885-9414-CACB05597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179" y="1345840"/>
            <a:ext cx="7682619" cy="4399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Final Results &amp; Conclusions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Full Model Progression (test)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Seasonal naive baseline: </a:t>
            </a:r>
            <a:r>
              <a:rPr lang="en-US" sz="1400" dirty="0">
                <a:latin typeface="Calibri"/>
              </a:rPr>
              <a:t>MASE = 1.000 (reference)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 (Tasks 6): </a:t>
            </a:r>
            <a:r>
              <a:rPr lang="en-US" sz="1400" dirty="0">
                <a:latin typeface="Calibri"/>
              </a:rPr>
              <a:t>MASE: 0.568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Cohort model (Task 7):</a:t>
            </a:r>
            <a:r>
              <a:rPr lang="en-US" sz="1400" dirty="0">
                <a:latin typeface="Calibri"/>
              </a:rPr>
              <a:t> MASE: 0.711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model, no meta (Task 8): </a:t>
            </a:r>
            <a:r>
              <a:rPr lang="en-US" sz="1400" dirty="0">
                <a:latin typeface="Calibri"/>
              </a:rPr>
              <a:t>MASE 0.703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+ count encoding (Task 9):</a:t>
            </a:r>
            <a:r>
              <a:rPr lang="en-US" sz="1400" dirty="0">
                <a:latin typeface="Calibri"/>
              </a:rPr>
              <a:t> MASE: 0.701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Grid: </a:t>
            </a:r>
            <a:r>
              <a:rPr lang="en-US" sz="1400" dirty="0">
                <a:latin typeface="Calibri"/>
              </a:rPr>
              <a:t>MASE = 0.566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Random: </a:t>
            </a:r>
            <a:r>
              <a:rPr lang="en-US" sz="1400" dirty="0">
                <a:latin typeface="Calibri"/>
              </a:rPr>
              <a:t>MASE = 0.565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Bayesian (Optuna): </a:t>
            </a:r>
            <a:r>
              <a:rPr lang="en-US" sz="1400" b="1" dirty="0">
                <a:solidFill>
                  <a:srgbClr val="027A48"/>
                </a:solidFill>
                <a:latin typeface="Calibri"/>
              </a:rPr>
              <a:t>MASE = 0.561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3DD0E-48E0-8E1B-4BCD-7DD8FCE24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" y="3211262"/>
            <a:ext cx="9380220" cy="3309083"/>
          </a:xfrm>
          <a:prstGeom prst="rect">
            <a:avLst/>
          </a:prstGeom>
        </p:spPr>
      </p:pic>
      <p:sp>
        <p:nvSpPr>
          <p:cNvPr id="8" name="LeftContent">
            <a:extLst>
              <a:ext uri="{FF2B5EF4-FFF2-40B4-BE49-F238E27FC236}">
                <a16:creationId xmlns:a16="http://schemas.microsoft.com/office/drawing/2014/main" id="{4FBC65D4-7F61-6C91-3DCD-61FD50DCD808}"/>
              </a:ext>
            </a:extLst>
          </p:cNvPr>
          <p:cNvSpPr>
            <a:spLocks noGrp="1"/>
          </p:cNvSpPr>
          <p:nvPr/>
        </p:nvSpPr>
        <p:spPr>
          <a:xfrm>
            <a:off x="5791200" y="1199999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Key Takeaways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Bayesian tuning delivers the best model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Tuning matters more than local-vs-global choice: tuned GFM beats untuned local models (0.684 vs 0.721)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400" i="1" dirty="0">
              <a:latin typeface="Calibri"/>
            </a:endParaRP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i="1" dirty="0">
                <a:latin typeface="Calibri"/>
              </a:rPr>
              <a:t>Final recommendation: a tuned global LightGBM with one hot encoded meta-features — scalable to all 5,566 households without per-household retraining.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3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4.xml><?xml version="1.0" encoding="utf-8"?>
<TemplafyFormConfiguration><![CDATA[{"formFields":[],"formDataEntries":[]}]]></TemplafyFormConfiguration>
</file>

<file path=customXml/itemProps1.xml><?xml version="1.0" encoding="utf-8"?>
<ds:datastoreItem xmlns:ds="http://schemas.openxmlformats.org/officeDocument/2006/customXml" ds:itemID="{C60B9EDF-596D-4F67-B5E3-411D55B8E8FC}">
  <ds:schemaRefs/>
</ds:datastoreItem>
</file>

<file path=customXml/itemProps2.xml><?xml version="1.0" encoding="utf-8"?>
<ds:datastoreItem xmlns:ds="http://schemas.openxmlformats.org/officeDocument/2006/customXml" ds:itemID="{B69ABF3A-B169-44F9-86AC-4E29FB2A2600}">
  <ds:schemaRefs/>
</ds:datastoreItem>
</file>

<file path=customXml/itemProps3.xml><?xml version="1.0" encoding="utf-8"?>
<ds:datastoreItem xmlns:ds="http://schemas.openxmlformats.org/officeDocument/2006/customXml" ds:itemID="{386C9AF7-FC43-4772-BF6D-26FE95C56D62}">
  <ds:schemaRefs/>
</ds:datastoreItem>
</file>

<file path=customXml/itemProps4.xml><?xml version="1.0" encoding="utf-8"?>
<ds:datastoreItem xmlns:ds="http://schemas.openxmlformats.org/officeDocument/2006/customXml" ds:itemID="{C5938109-F486-41EA-929F-D7DF65C5D6B1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1008</Words>
  <Application>Microsoft Office PowerPoint</Application>
  <PresentationFormat>Widescreen</PresentationFormat>
  <Paragraphs>118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Deep learning for time-series</vt:lpstr>
      <vt:lpstr>Task 02 – Missing Data &amp; Imputation</vt:lpstr>
      <vt:lpstr>Task 04 – Stationarity &amp; Trend Analysis</vt:lpstr>
      <vt:lpstr>Task 04 – Diagnostics &amp;Transforms</vt:lpstr>
      <vt:lpstr>Task 06 – Local Model: Single Household</vt:lpstr>
      <vt:lpstr>Task 07 – Local Cohort Analysis</vt:lpstr>
      <vt:lpstr>Task 08 – Global vs Local Models</vt:lpstr>
      <vt:lpstr>Task 09 – Global Model with Meta-Features</vt:lpstr>
      <vt:lpstr>Task 10 – Hyperparameter Tuning</vt:lpstr>
      <vt:lpstr>Task 10 – Final Results &amp; 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14</cp:revision>
  <dcterms:created xsi:type="dcterms:W3CDTF">2025-12-19T09:06:10Z</dcterms:created>
  <dcterms:modified xsi:type="dcterms:W3CDTF">2026-04-23T12:33:46Z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