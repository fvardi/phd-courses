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17"/>
  </p:notesMasterIdLst>
  <p:sldIdLst>
    <p:sldId id="256" r:id="rId6"/>
    <p:sldId id="257" r:id="rId7"/>
    <p:sldId id="262" r:id="rId8"/>
    <p:sldId id="259" r:id="rId9"/>
    <p:sldId id="265" r:id="rId10"/>
    <p:sldId id="266" r:id="rId11"/>
    <p:sldId id="267" r:id="rId12"/>
    <p:sldId id="268" r:id="rId13"/>
    <p:sldId id="269" r:id="rId14"/>
    <p:sldId id="270" r:id="rId15"/>
    <p:sldId id="272" r:id="rId16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1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FF3FCA-946D-4CC5-B026-9510E72B2D19}" type="datetimeFigureOut">
              <a:rPr lang="da-DK" smtClean="0"/>
              <a:t>01-05-2026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A32131-F0B3-4875-A3D8-9ECFBE0873C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52138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32131-F0B3-4875-A3D8-9ECFBE0873C6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12611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63F7-EF8D-1442-2805-F90D13F7F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B73C6-4021-68D5-1099-5B1540F6C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FE5C-42F5-ED25-BFA5-92006F0F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8D708-28BE-2B4D-76EA-65C5F9F1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89D1B-E6BF-1F61-350B-A416EBB7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9175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7F94-F949-C9D2-64CD-B62B7DC7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5FE4-1DC9-4259-BC3F-AAA35F553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BD69D-53F3-11C2-CD61-58145ADE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27DC1-FAE3-D580-F35F-401162D2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CA33-9D26-98B6-E85B-DDD04508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120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BDCC-CCDE-89ED-215B-A5C7B94C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A45BD-B998-CDFD-1526-FDD92DF3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13C8F-2C17-07EA-C35A-A35FBFF6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E90C3-7845-28AD-B4AB-4E25141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ABC6B-8C7F-938E-F069-4B918234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47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2F3A-0938-B89E-F4AB-85FEE180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60B9D-3512-C97D-CC45-A43A179A5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026FA-4782-12C8-2CC1-2C7509451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9C04-0833-1C4B-D8A2-3712684F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AB21E-0157-D95F-9FCC-4B063351B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D5F7A-AE0A-B266-6D5F-8DCFAF7C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3900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F502-0597-DE6F-EFAA-91FE7CBC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B2D51-88C7-8166-7DF4-05B2412EE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D9031-D1F7-2CE0-3119-FE2D72314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84C981-6167-2D0E-C5BB-60431E345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FAC50-58D5-0FF1-CA9C-ADFF4B70C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834AD-3601-067D-72FB-6D29B190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6F7D6-4AD1-81C2-9724-6BD00205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19DA6-2F99-B552-267C-700E7BCB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6630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FD68-AAAD-B847-FEDE-8097587B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AE93F-DDAA-4DD3-F594-609BC950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BD2A4-363A-DAA0-622F-DD627BA8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BABE-D66C-7F7F-7ABA-8A59FDD2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4500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D7050-3A86-DB26-84B4-1380B38A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E70D8-9614-140C-81C8-4A5C6A3B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678B-AC33-BD31-7B81-62828144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6859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7EB7-7A36-D8E2-02CC-749D8CB3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83CD-C860-00EB-932A-D31384975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020D6-2495-A29C-DAC2-F0076F184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F7D8A-A545-AF69-94BF-B59A3010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4F846-93A0-440A-DF82-A698055FA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D9461-0EED-10DF-5196-A303CB95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8450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58D1-A1EA-0634-FAC2-90E4D720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24B92-4BA2-E8CE-A1AE-B26577865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59854-B0B7-287F-B832-2C9C0A998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E5A84-FE53-EC4F-4180-C28245FD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90BC5-7018-2B6D-B9F7-2475E1AF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76DC6-615A-374B-A4E6-15D9BD75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879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4915-0AA5-88A7-550C-EDDA6626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7B0AC-256A-DD5C-1FB2-5A51ABFB7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13A8-DC61-DCAC-BADE-CE9BA1EE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1CA6-2AA6-85A0-F736-1DE71D24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0E3D0-868A-15DA-2C55-94052974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09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D8FEF-8EEC-1D16-8F69-5FF3DA5EC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F4F87-CA82-C826-169C-6FB5E8F98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8FAE7-3CBB-7B80-6765-1E483D9B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F97FD-BF40-F2B8-A174-8202C552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56C77-356C-3228-9EE8-7AC8DFA4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3407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813B5-2A41-5C27-B7E0-D603DEF4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43182-73AD-0D40-3DCC-23A18443D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9043-2191-16F3-BF2E-3BC4C2360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86069-5185-423F-843D-C2F3A033B902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4536C-B9BE-F920-FD20-E3C829D7C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E17EA-46F5-6E05-831C-C882CC57D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0520-D0AF-3FCE-F7DE-415E0961D3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Deep learning for time-series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8E16F6-0E05-2C96-F30B-C782475003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Assignment 2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732982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r"/>
          <p:cNvSpPr>
            <a:spLocks noGrp="1"/>
          </p:cNvSpPr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00000"/>
            <a:ext cx="11277600" cy="85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</a:rPr>
              <a:t>Task 02 – Missing Data &amp; Imputation</a:t>
            </a:r>
          </a:p>
        </p:txBody>
      </p:sp>
      <p:sp>
        <p:nvSpPr>
          <p:cNvPr id="11" name="Divider"/>
          <p:cNvSpPr>
            <a:spLocks noGrp="1"/>
          </p:cNvSpPr>
          <p:nvPr/>
        </p:nvSpPr>
        <p:spPr>
          <a:xfrm>
            <a:off x="6096000" y="1200000"/>
            <a:ext cx="50000" cy="530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ightColumn"/>
          <p:cNvSpPr>
            <a:spLocks noGrp="1"/>
          </p:cNvSpPr>
          <p:nvPr/>
        </p:nvSpPr>
        <p:spPr>
          <a:xfrm>
            <a:off x="237528" y="1220424"/>
            <a:ext cx="5600000" cy="53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1E2761"/>
                </a:solidFill>
                <a:latin typeface="Calibri"/>
              </a:rPr>
              <a:t>House quality filter</a:t>
            </a:r>
          </a:p>
          <a:p>
            <a:pPr>
              <a:lnSpc>
                <a:spcPts val="1400"/>
              </a:lnSpc>
            </a:pPr>
            <a:r>
              <a:rPr lang="en-US" sz="1400" dirty="0">
                <a:latin typeface="Calibri"/>
              </a:rPr>
              <a:t>Drop household if either</a:t>
            </a:r>
            <a:br>
              <a:rPr lang="en-US" sz="1400" dirty="0">
                <a:latin typeface="Calibri"/>
              </a:rPr>
            </a:br>
            <a:r>
              <a:rPr lang="en-US" sz="1400" dirty="0">
                <a:latin typeface="Calibri"/>
              </a:rPr>
              <a:t>- more than 10% of values are missing</a:t>
            </a:r>
            <a:br>
              <a:rPr lang="en-US" sz="1400" dirty="0">
                <a:latin typeface="Calibri"/>
              </a:rPr>
            </a:br>
            <a:r>
              <a:rPr lang="en-US" sz="1400" dirty="0">
                <a:latin typeface="Calibri"/>
              </a:rPr>
              <a:t>- a gap is longer than 48 hours (aggressive)</a:t>
            </a:r>
            <a:endParaRPr lang="en-US" sz="1400" b="1" dirty="0">
              <a:solidFill>
                <a:srgbClr val="1E2761"/>
              </a:solidFill>
              <a:latin typeface="Calibri"/>
            </a:endParaRPr>
          </a:p>
          <a:p>
            <a:pPr>
              <a:lnSpc>
                <a:spcPts val="1400"/>
              </a:lnSpc>
              <a:spcBef>
                <a:spcPts val="0"/>
              </a:spcBef>
            </a:pPr>
            <a:endParaRPr lang="en-US" sz="1400" dirty="0">
              <a:solidFill>
                <a:srgbClr val="1E2761"/>
              </a:solidFill>
              <a:latin typeface="Calibri"/>
            </a:endParaRPr>
          </a:p>
          <a:p>
            <a:pPr>
              <a:lnSpc>
                <a:spcPts val="1400"/>
              </a:lnSpc>
              <a:spcBef>
                <a:spcPts val="0"/>
              </a:spcBef>
            </a:pPr>
            <a:endParaRPr lang="en-US" b="1" dirty="0">
              <a:solidFill>
                <a:srgbClr val="1E2761"/>
              </a:solidFill>
              <a:latin typeface="Calibri"/>
            </a:endParaRP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1E2761"/>
                </a:solidFill>
                <a:latin typeface="Calibri"/>
              </a:rPr>
              <a:t>Seasonal mean imputation</a:t>
            </a:r>
          </a:p>
          <a:p>
            <a:pPr>
              <a:lnSpc>
                <a:spcPts val="1300"/>
              </a:lnSpc>
              <a:spcBef>
                <a:spcPts val="300"/>
              </a:spcBef>
            </a:pPr>
            <a:r>
              <a:rPr lang="en-US" sz="1400" dirty="0">
                <a:latin typeface="Calibri"/>
              </a:rPr>
              <a:t>Energy demand follows strong daily and weaker weekly cycles.</a:t>
            </a:r>
            <a:br>
              <a:rPr lang="en-US" sz="1400" dirty="0">
                <a:latin typeface="Calibri"/>
              </a:rPr>
            </a:br>
            <a:r>
              <a:rPr lang="en-US" sz="1400" dirty="0">
                <a:latin typeface="Calibri"/>
              </a:rPr>
              <a:t>Seasonal (48 slots) mean preserves the daily pattern; plateau would be introduced by forward-fill.</a:t>
            </a:r>
            <a:br>
              <a:rPr lang="en-US" sz="1400" dirty="0">
                <a:latin typeface="Calibri"/>
              </a:rPr>
            </a:br>
            <a:br>
              <a:rPr lang="en-US" sz="1400" dirty="0">
                <a:latin typeface="Calibri"/>
              </a:rPr>
            </a:br>
            <a:r>
              <a:rPr lang="en-US" sz="1400" dirty="0" err="1">
                <a:latin typeface="Calibri"/>
              </a:rPr>
              <a:t>NaN</a:t>
            </a:r>
            <a:r>
              <a:rPr lang="en-US" sz="1400" dirty="0">
                <a:latin typeface="Calibri"/>
              </a:rPr>
              <a:t>-values are filled with mean of </a:t>
            </a:r>
            <a:r>
              <a:rPr lang="en-US" sz="1400" i="1" dirty="0">
                <a:latin typeface="Calibri"/>
              </a:rPr>
              <a:t>all</a:t>
            </a:r>
            <a:r>
              <a:rPr lang="en-US" sz="1400" dirty="0">
                <a:latin typeface="Calibri"/>
              </a:rPr>
              <a:t> previous values at 48-slots intervals. Could be improved with rolling window since the PACF shows drop-off.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08F337-270D-84C4-644A-8B03B2CC5A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371" y="1059144"/>
            <a:ext cx="3971829" cy="57279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r"/>
          <p:cNvSpPr>
            <a:spLocks noGrp="1"/>
          </p:cNvSpPr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00000"/>
            <a:ext cx="11277600" cy="85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</a:rPr>
              <a:t>Task 04 – Stationarity &amp; Trend Analysis</a:t>
            </a:r>
          </a:p>
        </p:txBody>
      </p:sp>
      <p:sp>
        <p:nvSpPr>
          <p:cNvPr id="3" name="ADFColumn"/>
          <p:cNvSpPr>
            <a:spLocks noGrp="1"/>
          </p:cNvSpPr>
          <p:nvPr/>
        </p:nvSpPr>
        <p:spPr>
          <a:xfrm>
            <a:off x="457200" y="1200000"/>
            <a:ext cx="5486400" cy="53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1E2761"/>
                </a:solidFill>
                <a:latin typeface="Calibri"/>
              </a:rPr>
              <a:t>ADF Stationarity Test (p &lt; 0.05)</a:t>
            </a:r>
          </a:p>
          <a:p>
            <a:pPr>
              <a:lnSpc>
                <a:spcPts val="1300"/>
              </a:lnSpc>
              <a:spcBef>
                <a:spcPts val="300"/>
              </a:spcBef>
            </a:pPr>
            <a:r>
              <a:rPr lang="en-US" sz="1400" b="1" dirty="0">
                <a:latin typeface="Calibri"/>
              </a:rPr>
              <a:t>All 5 households stationary </a:t>
            </a:r>
            <a:r>
              <a:rPr lang="en-US" sz="1400" dirty="0">
                <a:latin typeface="Calibri"/>
              </a:rPr>
              <a:t>across all regression types (c, ct, </a:t>
            </a:r>
            <a:r>
              <a:rPr lang="en-US" sz="1400" dirty="0" err="1">
                <a:latin typeface="Calibri"/>
              </a:rPr>
              <a:t>ctt</a:t>
            </a:r>
            <a:r>
              <a:rPr lang="en-US" sz="1400" dirty="0">
                <a:latin typeface="Calibri"/>
              </a:rPr>
              <a:t>)</a:t>
            </a:r>
          </a:p>
          <a:p>
            <a:pPr>
              <a:lnSpc>
                <a:spcPts val="1300"/>
              </a:lnSpc>
              <a:spcBef>
                <a:spcPts val="300"/>
              </a:spcBef>
            </a:pPr>
            <a:endParaRPr lang="en-US" sz="1300" i="1" dirty="0">
              <a:solidFill>
                <a:srgbClr val="444444"/>
              </a:solidFill>
              <a:latin typeface="Calibri"/>
            </a:endParaRP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sz="1600" b="1" dirty="0">
                <a:solidFill>
                  <a:srgbClr val="1E2761"/>
                </a:solidFill>
                <a:latin typeface="Calibri"/>
              </a:rPr>
              <a:t>Mann-Kendall Trend Test</a:t>
            </a:r>
          </a:p>
          <a:p>
            <a:pPr>
              <a:lnSpc>
                <a:spcPts val="1300"/>
              </a:lnSpc>
              <a:spcBef>
                <a:spcPts val="300"/>
              </a:spcBef>
            </a:pPr>
            <a:r>
              <a:rPr lang="en-US" sz="1200" dirty="0">
                <a:latin typeface="Calibri"/>
              </a:rPr>
              <a:t>MAC000002: </a:t>
            </a:r>
            <a:r>
              <a:rPr lang="en-US" sz="1200" b="1" dirty="0">
                <a:solidFill>
                  <a:srgbClr val="C0392B"/>
                </a:solidFill>
                <a:latin typeface="Calibri"/>
              </a:rPr>
              <a:t>Decreasing trend</a:t>
            </a:r>
            <a:r>
              <a:rPr lang="en-US" sz="1200" dirty="0">
                <a:latin typeface="Calibri"/>
              </a:rPr>
              <a:t> (p=0.000)</a:t>
            </a:r>
          </a:p>
          <a:p>
            <a:pPr>
              <a:lnSpc>
                <a:spcPts val="1300"/>
              </a:lnSpc>
            </a:pPr>
            <a:r>
              <a:rPr lang="en-US" sz="1200" dirty="0">
                <a:latin typeface="Calibri"/>
              </a:rPr>
              <a:t>MAC000003: </a:t>
            </a:r>
            <a:r>
              <a:rPr lang="en-US" sz="1200" b="1" dirty="0">
                <a:solidFill>
                  <a:srgbClr val="C0392B"/>
                </a:solidFill>
                <a:latin typeface="Calibri"/>
              </a:rPr>
              <a:t>Decreasing trend</a:t>
            </a:r>
            <a:r>
              <a:rPr lang="en-US" sz="1200" dirty="0">
                <a:latin typeface="Calibri"/>
              </a:rPr>
              <a:t> (p=0.000)</a:t>
            </a:r>
          </a:p>
          <a:p>
            <a:pPr>
              <a:lnSpc>
                <a:spcPts val="1300"/>
              </a:lnSpc>
            </a:pPr>
            <a:r>
              <a:rPr lang="en-US" sz="1200" dirty="0">
                <a:latin typeface="Calibri"/>
              </a:rPr>
              <a:t>MAC000004: </a:t>
            </a:r>
            <a:r>
              <a:rPr lang="en-US" sz="1200" b="1" dirty="0">
                <a:solidFill>
                  <a:srgbClr val="27AE60"/>
                </a:solidFill>
                <a:latin typeface="Calibri"/>
              </a:rPr>
              <a:t>No trend</a:t>
            </a:r>
            <a:r>
              <a:rPr lang="en-US" sz="1200" dirty="0">
                <a:latin typeface="Calibri"/>
              </a:rPr>
              <a:t> (p=0.876)</a:t>
            </a:r>
          </a:p>
          <a:p>
            <a:pPr>
              <a:lnSpc>
                <a:spcPts val="1300"/>
              </a:lnSpc>
            </a:pPr>
            <a:r>
              <a:rPr lang="en-US" sz="1200" dirty="0">
                <a:latin typeface="Calibri"/>
              </a:rPr>
              <a:t>MAC000005: </a:t>
            </a:r>
            <a:r>
              <a:rPr lang="en-US" sz="1200" b="1" dirty="0">
                <a:solidFill>
                  <a:srgbClr val="C0392B"/>
                </a:solidFill>
                <a:latin typeface="Calibri"/>
              </a:rPr>
              <a:t>Decreasing trend</a:t>
            </a:r>
            <a:r>
              <a:rPr lang="en-US" sz="1200" dirty="0">
                <a:latin typeface="Calibri"/>
              </a:rPr>
              <a:t> (p=0.000)</a:t>
            </a:r>
          </a:p>
          <a:p>
            <a:pPr>
              <a:lnSpc>
                <a:spcPts val="1300"/>
              </a:lnSpc>
            </a:pPr>
            <a:r>
              <a:rPr lang="en-US" sz="1200" dirty="0">
                <a:latin typeface="Calibri"/>
              </a:rPr>
              <a:t>MAC000006: </a:t>
            </a:r>
            <a:r>
              <a:rPr lang="en-US" sz="1200" b="1" dirty="0">
                <a:solidFill>
                  <a:srgbClr val="27AE60"/>
                </a:solidFill>
                <a:latin typeface="Calibri"/>
              </a:rPr>
              <a:t>No trend</a:t>
            </a:r>
            <a:r>
              <a:rPr lang="en-US" sz="1200" dirty="0">
                <a:latin typeface="Calibri"/>
              </a:rPr>
              <a:t> (p=0.341)</a:t>
            </a:r>
          </a:p>
          <a:p>
            <a:pPr>
              <a:lnSpc>
                <a:spcPts val="1300"/>
              </a:lnSpc>
            </a:pPr>
            <a:endParaRPr lang="en-US" sz="1200" i="1" dirty="0">
              <a:solidFill>
                <a:srgbClr val="444444"/>
              </a:solidFill>
              <a:latin typeface="Calibri"/>
            </a:endParaRP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sz="1600" b="1" dirty="0">
                <a:solidFill>
                  <a:srgbClr val="1E2761"/>
                </a:solidFill>
                <a:latin typeface="Calibri"/>
              </a:rPr>
              <a:t>White Test (Heteroscedasticity)</a:t>
            </a:r>
          </a:p>
          <a:p>
            <a:pPr>
              <a:lnSpc>
                <a:spcPts val="1300"/>
              </a:lnSpc>
              <a:spcBef>
                <a:spcPts val="300"/>
              </a:spcBef>
            </a:pPr>
            <a:r>
              <a:rPr lang="en-US" sz="1200" dirty="0">
                <a:latin typeface="Calibri"/>
              </a:rPr>
              <a:t>MAC000002: LM=20,916, p=0.000 — </a:t>
            </a:r>
            <a:r>
              <a:rPr lang="en-US" sz="1200" b="1" dirty="0">
                <a:solidFill>
                  <a:srgbClr val="C0392B"/>
                </a:solidFill>
                <a:latin typeface="Calibri"/>
              </a:rPr>
              <a:t>Heteroskedastic</a:t>
            </a:r>
          </a:p>
          <a:p>
            <a:pPr>
              <a:lnSpc>
                <a:spcPts val="1300"/>
              </a:lnSpc>
            </a:pPr>
            <a:r>
              <a:rPr lang="en-US" sz="1200" dirty="0">
                <a:latin typeface="Calibri"/>
              </a:rPr>
              <a:t>MAC000003: LM=32,059, p=0.000 — </a:t>
            </a:r>
            <a:r>
              <a:rPr lang="en-US" sz="1200" b="1" dirty="0">
                <a:solidFill>
                  <a:srgbClr val="C0392B"/>
                </a:solidFill>
                <a:latin typeface="Calibri"/>
              </a:rPr>
              <a:t>Heteroskedastic</a:t>
            </a:r>
          </a:p>
          <a:p>
            <a:pPr>
              <a:lnSpc>
                <a:spcPts val="1300"/>
              </a:lnSpc>
            </a:pPr>
            <a:r>
              <a:rPr lang="en-US" sz="1200" dirty="0">
                <a:latin typeface="Calibri"/>
              </a:rPr>
              <a:t>MAC000004: LM=28,532, p=0.000 — </a:t>
            </a:r>
            <a:r>
              <a:rPr lang="en-US" sz="1200" b="1" dirty="0">
                <a:solidFill>
                  <a:srgbClr val="C0392B"/>
                </a:solidFill>
                <a:latin typeface="Calibri"/>
              </a:rPr>
              <a:t>Heteroskedastic</a:t>
            </a:r>
          </a:p>
          <a:p>
            <a:pPr>
              <a:lnSpc>
                <a:spcPts val="1300"/>
              </a:lnSpc>
            </a:pPr>
            <a:r>
              <a:rPr lang="en-US" sz="1200" dirty="0">
                <a:latin typeface="Calibri"/>
              </a:rPr>
              <a:t>MAC000005: LM=27,357, p=0.000 — </a:t>
            </a:r>
            <a:r>
              <a:rPr lang="en-US" sz="1200" b="1" dirty="0">
                <a:solidFill>
                  <a:srgbClr val="C0392B"/>
                </a:solidFill>
                <a:latin typeface="Calibri"/>
              </a:rPr>
              <a:t>Heteroskedastic</a:t>
            </a:r>
          </a:p>
          <a:p>
            <a:pPr>
              <a:lnSpc>
                <a:spcPts val="1300"/>
              </a:lnSpc>
            </a:pPr>
            <a:r>
              <a:rPr lang="en-US" sz="1200" dirty="0">
                <a:latin typeface="Calibri"/>
              </a:rPr>
              <a:t>MAC000006: LM=33,301, p=0.000 — </a:t>
            </a:r>
            <a:r>
              <a:rPr lang="en-US" sz="1200" b="1" dirty="0">
                <a:solidFill>
                  <a:srgbClr val="C0392B"/>
                </a:solidFill>
                <a:latin typeface="Calibri"/>
              </a:rPr>
              <a:t>Heteroskedastic</a:t>
            </a:r>
          </a:p>
        </p:txBody>
      </p:sp>
      <p:sp>
        <p:nvSpPr>
          <p:cNvPr id="11" name="Divider"/>
          <p:cNvSpPr>
            <a:spLocks noGrp="1"/>
          </p:cNvSpPr>
          <p:nvPr/>
        </p:nvSpPr>
        <p:spPr>
          <a:xfrm>
            <a:off x="6096000" y="1200000"/>
            <a:ext cx="50000" cy="530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3" name="HouseholdSplitsImg">
            <a:extLst>
              <a:ext uri="{FF2B5EF4-FFF2-40B4-BE49-F238E27FC236}">
                <a16:creationId xmlns:a16="http://schemas.microsoft.com/office/drawing/2014/main" id="{48E7F763-C8BC-6196-E80D-EE31BDA0F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295" y="1200000"/>
            <a:ext cx="5528371" cy="53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r"/>
          <p:cNvSpPr>
            <a:spLocks noGrp="1"/>
          </p:cNvSpPr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00000"/>
            <a:ext cx="11277600" cy="85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</a:rPr>
              <a:t>Task 04 – Diagnostics &amp;Transforms</a:t>
            </a:r>
          </a:p>
        </p:txBody>
      </p:sp>
      <p:sp>
        <p:nvSpPr>
          <p:cNvPr id="8" name="RightColumn">
            <a:extLst>
              <a:ext uri="{FF2B5EF4-FFF2-40B4-BE49-F238E27FC236}">
                <a16:creationId xmlns:a16="http://schemas.microsoft.com/office/drawing/2014/main" id="{BA12037A-8CC1-5891-1D38-207F4EE6B735}"/>
              </a:ext>
            </a:extLst>
          </p:cNvPr>
          <p:cNvSpPr>
            <a:spLocks noGrp="1"/>
          </p:cNvSpPr>
          <p:nvPr/>
        </p:nvSpPr>
        <p:spPr>
          <a:xfrm>
            <a:off x="237528" y="1220424"/>
            <a:ext cx="5600000" cy="53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1E2761"/>
                </a:solidFill>
                <a:latin typeface="Calibri"/>
              </a:rPr>
              <a:t>Diagnostics and transforms</a:t>
            </a:r>
          </a:p>
          <a:p>
            <a:pPr marL="285750" indent="-285750">
              <a:lnSpc>
                <a:spcPts val="1400"/>
              </a:lnSpc>
              <a:buFontTx/>
              <a:buChar char="-"/>
            </a:pPr>
            <a:r>
              <a:rPr lang="en-US" sz="1400" dirty="0">
                <a:latin typeface="Calibri"/>
              </a:rPr>
              <a:t>ACF shows significant periodicity – seasonal transform is fitting</a:t>
            </a:r>
          </a:p>
          <a:p>
            <a:pPr marL="285750" indent="-285750">
              <a:lnSpc>
                <a:spcPts val="1400"/>
              </a:lnSpc>
              <a:buFontTx/>
              <a:buChar char="-"/>
            </a:pPr>
            <a:r>
              <a:rPr lang="en-US" sz="1400" dirty="0">
                <a:latin typeface="Calibri"/>
              </a:rPr>
              <a:t>White test shows heteroskedasticity and OLS shows left skewed residuals – log-transform and robust errors might be fitting for models other than tree-based.</a:t>
            </a:r>
          </a:p>
          <a:p>
            <a:pPr marL="285750" indent="-285750">
              <a:lnSpc>
                <a:spcPts val="1400"/>
              </a:lnSpc>
              <a:buFontTx/>
              <a:buChar char="-"/>
            </a:pPr>
            <a:r>
              <a:rPr lang="en-US" sz="1400" dirty="0">
                <a:latin typeface="Calibri"/>
              </a:rPr>
              <a:t>Mann-Kendall trend tests shows significant trends, but they are deemed spurious.</a:t>
            </a:r>
          </a:p>
        </p:txBody>
      </p:sp>
      <p:sp>
        <p:nvSpPr>
          <p:cNvPr id="9" name="Divider">
            <a:extLst>
              <a:ext uri="{FF2B5EF4-FFF2-40B4-BE49-F238E27FC236}">
                <a16:creationId xmlns:a16="http://schemas.microsoft.com/office/drawing/2014/main" id="{821229E4-CDD7-BB1E-C1B3-BD439F021AC0}"/>
              </a:ext>
            </a:extLst>
          </p:cNvPr>
          <p:cNvSpPr>
            <a:spLocks noGrp="1"/>
          </p:cNvSpPr>
          <p:nvPr/>
        </p:nvSpPr>
        <p:spPr>
          <a:xfrm>
            <a:off x="6096000" y="1200000"/>
            <a:ext cx="50000" cy="530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90EC93-4F23-03B0-762D-2EBFD4985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472" y="1220424"/>
            <a:ext cx="5477848" cy="54238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r"/>
          <p:cNvSpPr>
            <a:spLocks noGrp="1"/>
          </p:cNvSpPr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00000"/>
            <a:ext cx="11277600" cy="85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</a:rPr>
              <a:t>Task 06 – Local Model: Single Household</a:t>
            </a:r>
          </a:p>
        </p:txBody>
      </p:sp>
      <p:sp>
        <p:nvSpPr>
          <p:cNvPr id="3" name="LeftContent"/>
          <p:cNvSpPr>
            <a:spLocks noGrp="1"/>
          </p:cNvSpPr>
          <p:nvPr/>
        </p:nvSpPr>
        <p:spPr>
          <a:xfrm>
            <a:off x="457200" y="1200000"/>
            <a:ext cx="3863340" cy="52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sz="1600" b="1" dirty="0">
                <a:solidFill>
                  <a:srgbClr val="1E2761"/>
                </a:solidFill>
                <a:latin typeface="Calibri"/>
              </a:rPr>
              <a:t>Model Selection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lang="en-US" sz="1200" dirty="0">
                <a:latin typeface="Calibri"/>
              </a:rPr>
              <a:t>Six models compared:</a:t>
            </a: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Tx/>
              <a:buChar char="-"/>
            </a:pPr>
            <a:r>
              <a:rPr lang="en-US" sz="1200" dirty="0" err="1">
                <a:latin typeface="Calibri"/>
              </a:rPr>
              <a:t>LinearRegression</a:t>
            </a:r>
            <a:endParaRPr lang="en-US" sz="1200" dirty="0">
              <a:latin typeface="Calibri"/>
            </a:endParaRP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Tx/>
              <a:buChar char="-"/>
            </a:pPr>
            <a:r>
              <a:rPr lang="en-US" sz="1200" dirty="0">
                <a:latin typeface="Calibri"/>
              </a:rPr>
              <a:t>Ridge(a=1.0)</a:t>
            </a: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Tx/>
              <a:buChar char="-"/>
            </a:pPr>
            <a:r>
              <a:rPr lang="en-US" sz="1200" dirty="0">
                <a:latin typeface="Calibri"/>
              </a:rPr>
              <a:t>Lasso(a=0.01)</a:t>
            </a: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Tx/>
              <a:buChar char="-"/>
            </a:pPr>
            <a:r>
              <a:rPr lang="en-US" sz="1200" dirty="0" err="1">
                <a:latin typeface="Calibri"/>
              </a:rPr>
              <a:t>DecisionTree</a:t>
            </a:r>
            <a:r>
              <a:rPr lang="en-US" sz="1200" dirty="0">
                <a:latin typeface="Calibri"/>
              </a:rPr>
              <a:t>(d=8)</a:t>
            </a: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Tx/>
              <a:buChar char="-"/>
            </a:pPr>
            <a:r>
              <a:rPr lang="en-US" sz="1200" dirty="0" err="1">
                <a:latin typeface="Calibri"/>
              </a:rPr>
              <a:t>RandomForest</a:t>
            </a:r>
            <a:endParaRPr lang="en-US" sz="1200" dirty="0">
              <a:latin typeface="Calibri"/>
            </a:endParaRP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Tx/>
              <a:buChar char="-"/>
            </a:pPr>
            <a:r>
              <a:rPr lang="en-US" sz="1200" dirty="0" err="1">
                <a:latin typeface="Calibri"/>
              </a:rPr>
              <a:t>LightGBM</a:t>
            </a:r>
            <a:r>
              <a:rPr lang="en-US" sz="1200" dirty="0">
                <a:latin typeface="Calibri"/>
              </a:rPr>
              <a:t>(l=63)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endParaRPr lang="en-US" sz="1200" dirty="0">
              <a:latin typeface="Calibri"/>
            </a:endParaRPr>
          </a:p>
          <a:p>
            <a:pPr>
              <a:lnSpc>
                <a:spcPts val="1300"/>
              </a:lnSpc>
            </a:pPr>
            <a:r>
              <a:rPr lang="en-US" sz="1200" dirty="0">
                <a:latin typeface="Calibri"/>
              </a:rPr>
              <a:t>Transform: Log + </a:t>
            </a:r>
            <a:r>
              <a:rPr lang="en-US" sz="1200" dirty="0" err="1">
                <a:latin typeface="Calibri"/>
              </a:rPr>
              <a:t>deseasonalising</a:t>
            </a:r>
            <a:r>
              <a:rPr lang="en-US" sz="1200" dirty="0">
                <a:latin typeface="Calibri"/>
              </a:rPr>
              <a:t> (period=48)</a:t>
            </a:r>
          </a:p>
          <a:p>
            <a:pPr>
              <a:lnSpc>
                <a:spcPts val="1300"/>
              </a:lnSpc>
            </a:pPr>
            <a:endParaRPr lang="en-US" sz="1200" dirty="0">
              <a:latin typeface="Calibri"/>
            </a:endParaRPr>
          </a:p>
          <a:p>
            <a:pPr>
              <a:lnSpc>
                <a:spcPts val="1400"/>
              </a:lnSpc>
              <a:spcBef>
                <a:spcPts val="500"/>
              </a:spcBef>
            </a:pPr>
            <a:r>
              <a:rPr lang="en-US" sz="1600" b="1" dirty="0">
                <a:solidFill>
                  <a:srgbClr val="1E2761"/>
                </a:solidFill>
                <a:latin typeface="Calibri"/>
              </a:rPr>
              <a:t>Results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lang="en-US" sz="1200" b="1" dirty="0">
                <a:latin typeface="Calibri"/>
              </a:rPr>
              <a:t>Best model: </a:t>
            </a:r>
            <a:r>
              <a:rPr lang="en-US" sz="1200" dirty="0">
                <a:latin typeface="Calibri"/>
              </a:rPr>
              <a:t>LightGBM(l=63)</a:t>
            </a:r>
          </a:p>
          <a:p>
            <a:pPr>
              <a:lnSpc>
                <a:spcPts val="1300"/>
              </a:lnSpc>
            </a:pPr>
            <a:r>
              <a:rPr lang="en-US" sz="1200" dirty="0">
                <a:latin typeface="Calibri"/>
              </a:rPr>
              <a:t>Val MASE: 	0.550 | Test MASE: 	0.568</a:t>
            </a:r>
          </a:p>
          <a:p>
            <a:pPr>
              <a:lnSpc>
                <a:spcPts val="1300"/>
              </a:lnSpc>
            </a:pPr>
            <a:r>
              <a:rPr lang="en-US" sz="1200" dirty="0">
                <a:latin typeface="Calibri"/>
              </a:rPr>
              <a:t>Val MAE:	0.085 | Test MAE: 	0.088</a:t>
            </a:r>
          </a:p>
          <a:p>
            <a:pPr>
              <a:lnSpc>
                <a:spcPts val="1300"/>
              </a:lnSpc>
            </a:pPr>
            <a:r>
              <a:rPr lang="en-US" sz="1200" dirty="0">
                <a:latin typeface="Calibri"/>
              </a:rPr>
              <a:t>ACF lag-1: -0.126 (significant, does not completely capture autocorrelation)</a:t>
            </a:r>
          </a:p>
        </p:txBody>
      </p:sp>
      <p:pic>
        <p:nvPicPr>
          <p:cNvPr id="4" name="ResidualAnalysis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1200000"/>
            <a:ext cx="7415060" cy="4200000"/>
          </a:xfrm>
          <a:prstGeom prst="rect">
            <a:avLst/>
          </a:prstGeom>
        </p:spPr>
      </p:pic>
      <p:sp>
        <p:nvSpPr>
          <p:cNvPr id="5" name="ImgCaption"/>
          <p:cNvSpPr>
            <a:spLocks noGrp="1"/>
          </p:cNvSpPr>
          <p:nvPr/>
        </p:nvSpPr>
        <p:spPr>
          <a:xfrm>
            <a:off x="6200000" y="5450000"/>
            <a:ext cx="5535600" cy="457200"/>
          </a:xfrm>
          <a:prstGeom prst="rect">
            <a:avLst/>
          </a:prstGeom>
          <a:noFill/>
        </p:spPr>
        <p:txBody>
          <a:bodyPr anchor="t"/>
          <a:lstStyle/>
          <a:p>
            <a:pPr algn="ctr"/>
            <a:r>
              <a:rPr lang="en-US" sz="1000" i="1" dirty="0">
                <a:solidFill>
                  <a:srgbClr val="666666"/>
                </a:solidFill>
                <a:latin typeface="Calibri"/>
              </a:rPr>
              <a:t>Fig 6: Residual analysis — LightGBM on household MAC000002 after log-deseasonalising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r"/>
          <p:cNvSpPr>
            <a:spLocks noGrp="1"/>
          </p:cNvSpPr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00000"/>
            <a:ext cx="11277600" cy="85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</a:rPr>
              <a:t>Task 07 – Local Cohort Analysis</a:t>
            </a:r>
          </a:p>
        </p:txBody>
      </p:sp>
      <p:sp>
        <p:nvSpPr>
          <p:cNvPr id="3" name="LeftContent"/>
          <p:cNvSpPr>
            <a:spLocks noGrp="1"/>
          </p:cNvSpPr>
          <p:nvPr/>
        </p:nvSpPr>
        <p:spPr>
          <a:xfrm>
            <a:off x="457200" y="1200000"/>
            <a:ext cx="6256020" cy="52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sz="1400" b="1" dirty="0">
                <a:solidFill>
                  <a:srgbClr val="1E2761"/>
                </a:solidFill>
                <a:latin typeface="Calibri"/>
              </a:rPr>
              <a:t>Cohort-Level Results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lang="en-US" sz="1100" dirty="0">
                <a:latin typeface="Calibri"/>
              </a:rPr>
              <a:t>Same LightGBM + log-</a:t>
            </a:r>
            <a:r>
              <a:rPr lang="en-US" sz="1100" dirty="0" err="1">
                <a:latin typeface="Calibri"/>
              </a:rPr>
              <a:t>deseasonalising</a:t>
            </a:r>
            <a:r>
              <a:rPr lang="en-US" sz="1100" dirty="0">
                <a:latin typeface="Calibri"/>
              </a:rPr>
              <a:t> pipeline applied to the full cohort (50 households)</a:t>
            </a:r>
          </a:p>
          <a:p>
            <a:pPr>
              <a:lnSpc>
                <a:spcPts val="1300"/>
              </a:lnSpc>
            </a:pPr>
            <a:r>
              <a:rPr lang="en-US" sz="1100" dirty="0">
                <a:latin typeface="Calibri"/>
              </a:rPr>
              <a:t>Cohort mean test MASE: 0.711 | std: 0.187</a:t>
            </a:r>
          </a:p>
          <a:p>
            <a:pPr>
              <a:lnSpc>
                <a:spcPts val="1300"/>
              </a:lnSpc>
            </a:pPr>
            <a:endParaRPr lang="en-US" sz="1100" dirty="0">
              <a:latin typeface="Calibri"/>
            </a:endParaRPr>
          </a:p>
          <a:p>
            <a:pPr>
              <a:lnSpc>
                <a:spcPts val="1400"/>
              </a:lnSpc>
              <a:spcBef>
                <a:spcPts val="500"/>
              </a:spcBef>
            </a:pPr>
            <a:r>
              <a:rPr lang="en-US" sz="1400" b="1" dirty="0">
                <a:solidFill>
                  <a:srgbClr val="1E2761"/>
                </a:solidFill>
                <a:latin typeface="Calibri"/>
              </a:rPr>
              <a:t>ACORN Subgroup Analysis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lang="en-US" sz="1100" dirty="0">
                <a:latin typeface="Calibri"/>
              </a:rPr>
              <a:t>Households split by ACORN classification (Affluent, Comfortable, Adversity)</a:t>
            </a:r>
          </a:p>
          <a:p>
            <a:pPr>
              <a:lnSpc>
                <a:spcPts val="1300"/>
              </a:lnSpc>
            </a:pPr>
            <a:r>
              <a:rPr lang="en-US" sz="1100" dirty="0">
                <a:latin typeface="Calibri"/>
              </a:rPr>
              <a:t>No strong subgroup effect observed (Kruskal-Wallis) — individual household variance dominates</a:t>
            </a:r>
          </a:p>
          <a:p>
            <a:pPr>
              <a:lnSpc>
                <a:spcPts val="1300"/>
              </a:lnSpc>
            </a:pPr>
            <a:r>
              <a:rPr lang="en-US" sz="1100" dirty="0">
                <a:latin typeface="Calibri"/>
              </a:rPr>
              <a:t>Easy households (low consumption variance): mean MASE: 0.44</a:t>
            </a:r>
          </a:p>
          <a:p>
            <a:pPr>
              <a:lnSpc>
                <a:spcPts val="1300"/>
              </a:lnSpc>
            </a:pPr>
            <a:r>
              <a:rPr lang="en-US" sz="1100" dirty="0">
                <a:latin typeface="Calibri"/>
              </a:rPr>
              <a:t>Hard households (erratic patterns): mean MASE: 1.11</a:t>
            </a:r>
          </a:p>
          <a:p>
            <a:pPr>
              <a:lnSpc>
                <a:spcPts val="1300"/>
              </a:lnSpc>
            </a:pPr>
            <a:endParaRPr lang="en-US" sz="1100" dirty="0">
              <a:latin typeface="Calibri"/>
            </a:endParaRPr>
          </a:p>
          <a:p>
            <a:pPr>
              <a:lnSpc>
                <a:spcPts val="1400"/>
              </a:lnSpc>
              <a:spcBef>
                <a:spcPts val="500"/>
              </a:spcBef>
            </a:pPr>
            <a:r>
              <a:rPr lang="en-US" sz="1400" b="1" dirty="0">
                <a:solidFill>
                  <a:srgbClr val="1E2761"/>
                </a:solidFill>
                <a:latin typeface="Calibri"/>
              </a:rPr>
              <a:t>Key Finding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lang="en-US" sz="1100" dirty="0">
                <a:latin typeface="Calibri"/>
              </a:rPr>
              <a:t>Forecasting difficulty is driven more by household behavioural variance than by demographic group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C2246F-8710-D38A-2742-014C00D6E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708179"/>
            <a:ext cx="3802380" cy="26918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6E17FF-3BEA-71D8-10DF-FA260822E0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3220" y="1172986"/>
            <a:ext cx="5280660" cy="44850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r"/>
          <p:cNvSpPr>
            <a:spLocks noGrp="1"/>
          </p:cNvSpPr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00000"/>
            <a:ext cx="11277600" cy="85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</a:rPr>
              <a:t>Task 08 – Global vs Local Models</a:t>
            </a:r>
          </a:p>
        </p:txBody>
      </p:sp>
      <p:sp>
        <p:nvSpPr>
          <p:cNvPr id="3" name="LeftContent"/>
          <p:cNvSpPr>
            <a:spLocks noGrp="1"/>
          </p:cNvSpPr>
          <p:nvPr/>
        </p:nvSpPr>
        <p:spPr>
          <a:xfrm>
            <a:off x="457200" y="1200000"/>
            <a:ext cx="5500000" cy="52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1E2761"/>
                </a:solidFill>
                <a:latin typeface="Calibri"/>
              </a:rPr>
              <a:t>Global Forecasting Model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lang="en-US" sz="1400" dirty="0">
                <a:latin typeface="Calibri"/>
              </a:rPr>
              <a:t>One LightGBM trained on ALL households simultaneously (pooled data)</a:t>
            </a:r>
          </a:p>
          <a:p>
            <a:pPr>
              <a:lnSpc>
                <a:spcPts val="1300"/>
              </a:lnSpc>
            </a:pPr>
            <a:r>
              <a:rPr lang="en-US" sz="1400" dirty="0">
                <a:latin typeface="Calibri"/>
              </a:rPr>
              <a:t>Learns shared patterns across the population</a:t>
            </a:r>
          </a:p>
          <a:p>
            <a:pPr>
              <a:lnSpc>
                <a:spcPts val="1300"/>
              </a:lnSpc>
            </a:pPr>
            <a:endParaRPr lang="en-US" sz="1400" dirty="0">
              <a:latin typeface="Calibri"/>
            </a:endParaRPr>
          </a:p>
          <a:p>
            <a:pPr>
              <a:lnSpc>
                <a:spcPts val="1400"/>
              </a:lnSpc>
              <a:spcBef>
                <a:spcPts val="500"/>
              </a:spcBef>
            </a:pPr>
            <a:r>
              <a:rPr lang="en-US" sz="1800" b="1" dirty="0">
                <a:solidFill>
                  <a:srgbClr val="1E2761"/>
                </a:solidFill>
                <a:latin typeface="Calibri"/>
              </a:rPr>
              <a:t>Head-to-Head Comparison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lang="en-US" sz="1400" b="1" dirty="0">
                <a:latin typeface="Calibri"/>
              </a:rPr>
              <a:t>Local models (Task 7)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lang="en-US" sz="1400" dirty="0">
                <a:latin typeface="Calibri"/>
              </a:rPr>
              <a:t>Val MASE 0.726 | Test MASE 0.711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lang="en-US" sz="1400" dirty="0">
                <a:latin typeface="Calibri"/>
              </a:rPr>
              <a:t>Val RMSE 0.223 | Test RMSE 0.219</a:t>
            </a:r>
          </a:p>
          <a:p>
            <a:pPr>
              <a:lnSpc>
                <a:spcPts val="1300"/>
              </a:lnSpc>
            </a:pPr>
            <a:r>
              <a:rPr lang="en-US" sz="1400" b="1" dirty="0">
                <a:latin typeface="Calibri"/>
              </a:rPr>
              <a:t>Global model (Task 8)</a:t>
            </a:r>
          </a:p>
          <a:p>
            <a:pPr>
              <a:lnSpc>
                <a:spcPts val="1300"/>
              </a:lnSpc>
            </a:pPr>
            <a:r>
              <a:rPr lang="en-US" sz="1400" dirty="0">
                <a:latin typeface="Calibri"/>
              </a:rPr>
              <a:t>Val MASE 0.721 | Test MASE 0.703</a:t>
            </a:r>
          </a:p>
          <a:p>
            <a:pPr>
              <a:lnSpc>
                <a:spcPts val="1300"/>
              </a:lnSpc>
            </a:pPr>
            <a:r>
              <a:rPr lang="en-US" sz="1400" dirty="0">
                <a:latin typeface="Calibri"/>
              </a:rPr>
              <a:t>Val RMSE 0.225 | Test RMSE 0.221</a:t>
            </a:r>
          </a:p>
          <a:p>
            <a:pPr>
              <a:lnSpc>
                <a:spcPts val="1300"/>
              </a:lnSpc>
            </a:pPr>
            <a:endParaRPr lang="en-US" sz="1400" dirty="0">
              <a:latin typeface="Calibri"/>
            </a:endParaRPr>
          </a:p>
          <a:p>
            <a:pPr>
              <a:lnSpc>
                <a:spcPts val="1400"/>
              </a:lnSpc>
              <a:spcBef>
                <a:spcPts val="500"/>
              </a:spcBef>
            </a:pPr>
            <a:r>
              <a:rPr lang="en-US" sz="1800" b="1" dirty="0">
                <a:solidFill>
                  <a:srgbClr val="1E2761"/>
                </a:solidFill>
                <a:latin typeface="Calibri"/>
              </a:rPr>
              <a:t>Interpretation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lang="en-US" sz="1400" dirty="0">
                <a:latin typeface="Calibri"/>
              </a:rPr>
              <a:t>Global models win slightly in MASE but not in RMSE. Interpreted as a better understanding of general trends but less sensitive to household specific patterns and the model is therefore underfitted to outliers.</a:t>
            </a:r>
            <a:endParaRPr lang="en-US" sz="1400" i="1" dirty="0">
              <a:latin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AE98D6-90DC-1566-8DB5-065E04EAB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771" y="1050000"/>
            <a:ext cx="4774469" cy="47582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r"/>
          <p:cNvSpPr>
            <a:spLocks noGrp="1"/>
          </p:cNvSpPr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00000"/>
            <a:ext cx="11277600" cy="85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</a:rPr>
              <a:t>Task 09 – Global Model with Meta-Features</a:t>
            </a:r>
          </a:p>
        </p:txBody>
      </p:sp>
      <p:sp>
        <p:nvSpPr>
          <p:cNvPr id="3" name="LeftContent"/>
          <p:cNvSpPr>
            <a:spLocks noGrp="1"/>
          </p:cNvSpPr>
          <p:nvPr/>
        </p:nvSpPr>
        <p:spPr>
          <a:xfrm>
            <a:off x="457200" y="1200000"/>
            <a:ext cx="4358640" cy="52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sz="1200" b="1" dirty="0">
                <a:solidFill>
                  <a:srgbClr val="1E2761"/>
                </a:solidFill>
                <a:latin typeface="Calibri"/>
              </a:rPr>
              <a:t>Motivation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lang="en-US" sz="1050" dirty="0">
                <a:latin typeface="Calibri"/>
              </a:rPr>
              <a:t>The GFM (Task 8) treats all households identically; adding meta-features allows it to specialise by demographic group</a:t>
            </a:r>
          </a:p>
          <a:p>
            <a:pPr>
              <a:lnSpc>
                <a:spcPts val="1300"/>
              </a:lnSpc>
            </a:pPr>
            <a:r>
              <a:rPr lang="en-US" sz="1050" dirty="0">
                <a:latin typeface="Calibri"/>
              </a:rPr>
              <a:t>Meta-features available: stdorToU (pricing plan), Acorn (20-category), Acorn_grouped (5-category)</a:t>
            </a:r>
          </a:p>
          <a:p>
            <a:pPr>
              <a:lnSpc>
                <a:spcPts val="1300"/>
              </a:lnSpc>
            </a:pPr>
            <a:endParaRPr lang="en-US" sz="1050" dirty="0">
              <a:latin typeface="Calibri"/>
            </a:endParaRPr>
          </a:p>
          <a:p>
            <a:pPr>
              <a:lnSpc>
                <a:spcPts val="1400"/>
              </a:lnSpc>
              <a:spcBef>
                <a:spcPts val="500"/>
              </a:spcBef>
            </a:pPr>
            <a:r>
              <a:rPr lang="en-US" sz="1200" b="1" dirty="0">
                <a:solidFill>
                  <a:srgbClr val="1E2761"/>
                </a:solidFill>
                <a:latin typeface="Calibri"/>
              </a:rPr>
              <a:t>Encoding Variants Tested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lang="en-US" sz="1050" dirty="0">
                <a:latin typeface="Calibri"/>
              </a:rPr>
              <a:t>a_baseline: no meta-features (Task 8 GFM)</a:t>
            </a:r>
          </a:p>
          <a:p>
            <a:pPr>
              <a:lnSpc>
                <a:spcPts val="1300"/>
              </a:lnSpc>
            </a:pPr>
            <a:r>
              <a:rPr lang="en-US" sz="1050" dirty="0">
                <a:latin typeface="Calibri"/>
              </a:rPr>
              <a:t>b_ohe: one-hot encoding of Acorn_grouped</a:t>
            </a:r>
          </a:p>
          <a:p>
            <a:pPr>
              <a:lnSpc>
                <a:spcPts val="1300"/>
              </a:lnSpc>
            </a:pPr>
            <a:r>
              <a:rPr lang="en-US" sz="1050" dirty="0">
                <a:latin typeface="Calibri"/>
              </a:rPr>
              <a:t>c_count: count encoding of Acorn (category -&gt; frequency)</a:t>
            </a:r>
          </a:p>
          <a:p>
            <a:pPr>
              <a:lnSpc>
                <a:spcPts val="1300"/>
              </a:lnSpc>
            </a:pPr>
            <a:r>
              <a:rPr lang="en-US" sz="1050" dirty="0">
                <a:latin typeface="Calibri"/>
              </a:rPr>
              <a:t>d_target_enc: target encoding of Acorn (category -&gt; mean consumption)</a:t>
            </a:r>
          </a:p>
          <a:p>
            <a:pPr>
              <a:lnSpc>
                <a:spcPts val="1300"/>
              </a:lnSpc>
            </a:pPr>
            <a:endParaRPr lang="en-US" sz="1050" dirty="0">
              <a:latin typeface="Calibri"/>
            </a:endParaRPr>
          </a:p>
          <a:p>
            <a:pPr>
              <a:lnSpc>
                <a:spcPts val="1400"/>
              </a:lnSpc>
              <a:spcBef>
                <a:spcPts val="500"/>
              </a:spcBef>
            </a:pPr>
            <a:r>
              <a:rPr lang="en-US" sz="1200" b="1" dirty="0">
                <a:solidFill>
                  <a:srgbClr val="1E2761"/>
                </a:solidFill>
                <a:latin typeface="Calibri"/>
              </a:rPr>
              <a:t>Results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lang="en-US" sz="1050" b="1" dirty="0">
                <a:latin typeface="Calibri"/>
              </a:rPr>
              <a:t>Best: one hot encoding</a:t>
            </a:r>
          </a:p>
          <a:p>
            <a:pPr>
              <a:lnSpc>
                <a:spcPts val="1300"/>
              </a:lnSpc>
            </a:pPr>
            <a:r>
              <a:rPr lang="en-US" sz="1050" dirty="0">
                <a:latin typeface="Calibri"/>
              </a:rPr>
              <a:t>Val MASE: 0.7187 | Test MASE: 0.7013</a:t>
            </a:r>
          </a:p>
          <a:p>
            <a:pPr>
              <a:lnSpc>
                <a:spcPts val="1300"/>
              </a:lnSpc>
            </a:pPr>
            <a:r>
              <a:rPr lang="en-US" sz="1050" dirty="0">
                <a:latin typeface="Calibri"/>
              </a:rPr>
              <a:t>Marginal improvement over baseline (0.7033 → 0.7013)</a:t>
            </a:r>
          </a:p>
          <a:p>
            <a:pPr>
              <a:lnSpc>
                <a:spcPts val="1300"/>
              </a:lnSpc>
            </a:pPr>
            <a:endParaRPr lang="en-US" sz="1050" dirty="0">
              <a:latin typeface="Calibri"/>
            </a:endParaRPr>
          </a:p>
          <a:p>
            <a:pPr>
              <a:lnSpc>
                <a:spcPts val="1300"/>
              </a:lnSpc>
            </a:pPr>
            <a:r>
              <a:rPr lang="en-US" sz="1050" dirty="0">
                <a:latin typeface="Calibri"/>
              </a:rPr>
              <a:t>All encodings perform similarly — meta-features give modest signal.</a:t>
            </a:r>
          </a:p>
          <a:p>
            <a:pPr>
              <a:lnSpc>
                <a:spcPts val="1300"/>
              </a:lnSpc>
            </a:pPr>
            <a:r>
              <a:rPr lang="en-US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 there is not a lot of variance between groups (</a:t>
            </a:r>
            <a:r>
              <a:rPr lang="en-US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Kruskall</a:t>
            </a:r>
            <a:r>
              <a:rPr lang="en-US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-Wallis test) there is no big difference in the encoding of the groups.</a:t>
            </a:r>
          </a:p>
        </p:txBody>
      </p:sp>
      <p:pic>
        <p:nvPicPr>
          <p:cNvPr id="4" name="EncodingComparison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499780"/>
            <a:ext cx="7459980" cy="39002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r"/>
          <p:cNvSpPr>
            <a:spLocks noGrp="1"/>
          </p:cNvSpPr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00000"/>
            <a:ext cx="11277600" cy="85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</a:rPr>
              <a:t>Task 10 – Hyperparameter Tuning</a:t>
            </a:r>
          </a:p>
        </p:txBody>
      </p:sp>
      <p:sp>
        <p:nvSpPr>
          <p:cNvPr id="3" name="LeftContent"/>
          <p:cNvSpPr>
            <a:spLocks noGrp="1"/>
          </p:cNvSpPr>
          <p:nvPr/>
        </p:nvSpPr>
        <p:spPr>
          <a:xfrm>
            <a:off x="457200" y="1200000"/>
            <a:ext cx="3649980" cy="52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1E2761"/>
                </a:solidFill>
                <a:latin typeface="Calibri"/>
              </a:rPr>
              <a:t>Search Strategies Compared</a:t>
            </a:r>
            <a:endParaRPr lang="en-US" b="1" dirty="0">
              <a:solidFill>
                <a:srgbClr val="1E2761"/>
              </a:solidFill>
              <a:latin typeface="Calibri"/>
            </a:endParaRP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sz="1400" dirty="0">
                <a:latin typeface="Calibri"/>
              </a:rPr>
              <a:t>Tuning summary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sz="1400" dirty="0">
                <a:latin typeface="Calibri"/>
              </a:rPr>
              <a:t>=================================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sz="1400" dirty="0">
                <a:latin typeface="Calibri"/>
              </a:rPr>
              <a:t>Strategy	configs	Val MASE	Wall time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sz="1400" dirty="0">
                <a:latin typeface="Calibri"/>
              </a:rPr>
              <a:t>Grid	27	0.5887	101.3s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sz="1400" dirty="0">
                <a:latin typeface="Calibri"/>
              </a:rPr>
              <a:t>Random	5	0.5852    	21.3s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sz="1400" dirty="0">
                <a:latin typeface="Calibri"/>
              </a:rPr>
              <a:t>Bayesian	5	0.5808    	23.0s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1398BE-48B0-D885-9414-CACB05597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179" y="1345840"/>
            <a:ext cx="7682619" cy="43996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r"/>
          <p:cNvSpPr>
            <a:spLocks noGrp="1"/>
          </p:cNvSpPr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00000"/>
            <a:ext cx="11277600" cy="85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</a:rPr>
              <a:t>Task 10 – Final Results &amp; Conclusions</a:t>
            </a:r>
          </a:p>
        </p:txBody>
      </p:sp>
      <p:sp>
        <p:nvSpPr>
          <p:cNvPr id="3" name="LeftContent"/>
          <p:cNvSpPr>
            <a:spLocks noGrp="1"/>
          </p:cNvSpPr>
          <p:nvPr/>
        </p:nvSpPr>
        <p:spPr>
          <a:xfrm>
            <a:off x="457200" y="1200000"/>
            <a:ext cx="3924300" cy="52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1E2761"/>
                </a:solidFill>
                <a:latin typeface="Calibri"/>
              </a:rPr>
              <a:t>Full Model Progression (test)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lang="en-US" sz="1400" b="1" dirty="0">
                <a:latin typeface="Calibri"/>
              </a:rPr>
              <a:t>Seasonal naive baseline: </a:t>
            </a:r>
            <a:r>
              <a:rPr lang="en-US" sz="1400" dirty="0">
                <a:latin typeface="Calibri"/>
              </a:rPr>
              <a:t>MASE = 1.000 (reference)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lang="en-US" sz="1400" b="1" dirty="0">
                <a:latin typeface="Calibri"/>
              </a:rPr>
              <a:t>Local model (Tasks 6): </a:t>
            </a:r>
            <a:r>
              <a:rPr lang="en-US" sz="1400" dirty="0">
                <a:latin typeface="Calibri"/>
              </a:rPr>
              <a:t>MASE: 0.568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lang="en-US" sz="1400" b="1" dirty="0">
                <a:latin typeface="Calibri"/>
              </a:rPr>
              <a:t>Cohort model (Task 7):</a:t>
            </a:r>
            <a:r>
              <a:rPr lang="en-US" sz="1400" dirty="0">
                <a:latin typeface="Calibri"/>
              </a:rPr>
              <a:t> MASE: 0.711</a:t>
            </a:r>
          </a:p>
          <a:p>
            <a:pPr>
              <a:lnSpc>
                <a:spcPts val="1300"/>
              </a:lnSpc>
            </a:pPr>
            <a:r>
              <a:rPr lang="en-US" sz="1400" b="1" dirty="0">
                <a:latin typeface="Calibri"/>
              </a:rPr>
              <a:t>Global model, no meta (Task 8): </a:t>
            </a:r>
            <a:r>
              <a:rPr lang="en-US" sz="1400" dirty="0">
                <a:latin typeface="Calibri"/>
              </a:rPr>
              <a:t>MASE 0.703</a:t>
            </a:r>
          </a:p>
          <a:p>
            <a:pPr>
              <a:lnSpc>
                <a:spcPts val="1300"/>
              </a:lnSpc>
            </a:pPr>
            <a:r>
              <a:rPr lang="en-US" sz="1400" b="1" dirty="0">
                <a:latin typeface="Calibri"/>
              </a:rPr>
              <a:t>Global + count encoding (Task 9):</a:t>
            </a:r>
            <a:r>
              <a:rPr lang="en-US" sz="1400" dirty="0">
                <a:latin typeface="Calibri"/>
              </a:rPr>
              <a:t> MASE: 0.701</a:t>
            </a:r>
          </a:p>
          <a:p>
            <a:pPr>
              <a:lnSpc>
                <a:spcPts val="1300"/>
              </a:lnSpc>
            </a:pPr>
            <a:r>
              <a:rPr lang="en-US" sz="1400" b="1" dirty="0">
                <a:latin typeface="Calibri"/>
              </a:rPr>
              <a:t>Tuned GFM — Grid: </a:t>
            </a:r>
            <a:r>
              <a:rPr lang="en-US" sz="1400" dirty="0">
                <a:latin typeface="Calibri"/>
              </a:rPr>
              <a:t>MASE = 0.566</a:t>
            </a:r>
          </a:p>
          <a:p>
            <a:pPr>
              <a:lnSpc>
                <a:spcPts val="1300"/>
              </a:lnSpc>
            </a:pPr>
            <a:r>
              <a:rPr lang="en-US" sz="1400" b="1" dirty="0">
                <a:latin typeface="Calibri"/>
              </a:rPr>
              <a:t>Tuned GFM — Random: </a:t>
            </a:r>
            <a:r>
              <a:rPr lang="en-US" sz="1400" dirty="0">
                <a:latin typeface="Calibri"/>
              </a:rPr>
              <a:t>MASE = 0.565</a:t>
            </a:r>
          </a:p>
          <a:p>
            <a:pPr>
              <a:lnSpc>
                <a:spcPts val="1300"/>
              </a:lnSpc>
            </a:pPr>
            <a:r>
              <a:rPr lang="en-US" sz="1400" b="1" dirty="0">
                <a:latin typeface="Calibri"/>
              </a:rPr>
              <a:t>Tuned GFM — Bayesian (Optuna): </a:t>
            </a:r>
            <a:r>
              <a:rPr lang="en-US" sz="1400" b="1" dirty="0">
                <a:solidFill>
                  <a:srgbClr val="027A48"/>
                </a:solidFill>
                <a:latin typeface="Calibri"/>
              </a:rPr>
              <a:t>MASE = 0.561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3DD0E-48E0-8E1B-4BCD-7DD8FCE24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60" y="3211262"/>
            <a:ext cx="9380220" cy="3309083"/>
          </a:xfrm>
          <a:prstGeom prst="rect">
            <a:avLst/>
          </a:prstGeom>
        </p:spPr>
      </p:pic>
      <p:sp>
        <p:nvSpPr>
          <p:cNvPr id="8" name="LeftContent">
            <a:extLst>
              <a:ext uri="{FF2B5EF4-FFF2-40B4-BE49-F238E27FC236}">
                <a16:creationId xmlns:a16="http://schemas.microsoft.com/office/drawing/2014/main" id="{4FBC65D4-7F61-6C91-3DCD-61FD50DCD808}"/>
              </a:ext>
            </a:extLst>
          </p:cNvPr>
          <p:cNvSpPr>
            <a:spLocks noGrp="1"/>
          </p:cNvSpPr>
          <p:nvPr/>
        </p:nvSpPr>
        <p:spPr>
          <a:xfrm>
            <a:off x="4507149" y="1200000"/>
            <a:ext cx="3924300" cy="52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lnSpc>
                <a:spcPts val="1400"/>
              </a:lnSpc>
              <a:spcBef>
                <a:spcPts val="500"/>
              </a:spcBef>
            </a:pPr>
            <a:r>
              <a:rPr lang="en-US" sz="1800" b="1" dirty="0">
                <a:solidFill>
                  <a:srgbClr val="1E2761"/>
                </a:solidFill>
                <a:latin typeface="Calibri"/>
              </a:rPr>
              <a:t>Key Takeaways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lang="en-US" sz="1400" dirty="0">
                <a:latin typeface="Calibri"/>
              </a:rPr>
              <a:t>- Bayesian tuning delivers the best model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lang="en-US" sz="1400" dirty="0">
                <a:latin typeface="Calibri"/>
              </a:rPr>
              <a:t>- Tuning matters more than local-vs-global choice: tuned GFM beats untuned local models (0.684 vs 0.721)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endParaRPr lang="en-US" sz="1400" i="1" dirty="0">
              <a:latin typeface="Calibri"/>
            </a:endParaRP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lang="en-US" sz="1400" i="1" dirty="0">
                <a:latin typeface="Calibri"/>
              </a:rPr>
              <a:t>Final recommendation: a tuned global LightGBM with one hot encoded meta-features — scalable to all 5,566 households without per-household retraining.</a:t>
            </a:r>
          </a:p>
        </p:txBody>
      </p:sp>
      <p:sp>
        <p:nvSpPr>
          <p:cNvPr id="4" name="LeftContent">
            <a:extLst>
              <a:ext uri="{FF2B5EF4-FFF2-40B4-BE49-F238E27FC236}">
                <a16:creationId xmlns:a16="http://schemas.microsoft.com/office/drawing/2014/main" id="{3703A6E3-B07B-D7C6-91D9-2758955B6CA2}"/>
              </a:ext>
            </a:extLst>
          </p:cNvPr>
          <p:cNvSpPr>
            <a:spLocks noGrp="1"/>
          </p:cNvSpPr>
          <p:nvPr/>
        </p:nvSpPr>
        <p:spPr>
          <a:xfrm>
            <a:off x="9105900" y="1200000"/>
            <a:ext cx="3924300" cy="52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r>
              <a:rPr lang="da-DK" sz="1200" dirty="0" err="1"/>
              <a:t>num_leaves</a:t>
            </a:r>
            <a:r>
              <a:rPr lang="da-DK" sz="1200" dirty="0"/>
              <a:t>:		88</a:t>
            </a:r>
          </a:p>
          <a:p>
            <a:r>
              <a:rPr lang="da-DK" sz="1200" dirty="0" err="1"/>
              <a:t>objective</a:t>
            </a:r>
            <a:r>
              <a:rPr lang="da-DK" sz="1200" dirty="0"/>
              <a:t>		regression_l1</a:t>
            </a:r>
          </a:p>
          <a:p>
            <a:r>
              <a:rPr lang="da-DK" sz="1200" dirty="0" err="1"/>
              <a:t>colsample_bytree</a:t>
            </a:r>
            <a:r>
              <a:rPr lang="da-DK" sz="1200" dirty="0"/>
              <a:t>	0.979</a:t>
            </a:r>
          </a:p>
          <a:p>
            <a:r>
              <a:rPr lang="da-DK" sz="1200" dirty="0"/>
              <a:t>lambda_l1		8.324</a:t>
            </a:r>
          </a:p>
          <a:p>
            <a:r>
              <a:rPr lang="da-DK" sz="1200" dirty="0"/>
              <a:t>lambda_l2		2.123</a:t>
            </a:r>
          </a:p>
          <a:p>
            <a:r>
              <a:rPr lang="da-DK" sz="1200" dirty="0" err="1"/>
              <a:t>n_estimators</a:t>
            </a:r>
            <a:r>
              <a:rPr lang="da-DK" sz="1200" dirty="0"/>
              <a:t>		500</a:t>
            </a:r>
          </a:p>
          <a:p>
            <a:r>
              <a:rPr lang="da-DK" sz="1200" dirty="0" err="1"/>
              <a:t>learning_rate</a:t>
            </a:r>
            <a:r>
              <a:rPr lang="da-DK" sz="1200" dirty="0"/>
              <a:t>		0.05</a:t>
            </a:r>
          </a:p>
          <a:p>
            <a:r>
              <a:rPr lang="da-DK" sz="1200" dirty="0" err="1"/>
              <a:t>min_child_samples</a:t>
            </a:r>
            <a:r>
              <a:rPr lang="da-DK" sz="1200" dirty="0"/>
              <a:t>	20</a:t>
            </a:r>
          </a:p>
          <a:p>
            <a:r>
              <a:rPr lang="da-DK" sz="1200" dirty="0"/>
              <a:t>subsample		0.8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167C3-BB73-5C54-36C0-DEE799321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r">
            <a:extLst>
              <a:ext uri="{FF2B5EF4-FFF2-40B4-BE49-F238E27FC236}">
                <a16:creationId xmlns:a16="http://schemas.microsoft.com/office/drawing/2014/main" id="{E65F9EE1-3554-E291-7E78-000FBEB669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E39B64-A8D0-F2B3-5FF5-882983FDD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0000"/>
            <a:ext cx="11277600" cy="85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</a:rPr>
              <a:t>Prediction visualization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4F471-B71E-7FEA-D0D9-573B01FF93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947" y="2973326"/>
            <a:ext cx="7682103" cy="18786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649FC8-C23E-5658-238D-A2B000456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948" y="1066722"/>
            <a:ext cx="7682103" cy="18786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768B87-E68C-5BBA-C097-A7026266BF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946" y="4879930"/>
            <a:ext cx="7682103" cy="187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1842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7"/>
  <p:tag name="AS_OS" val="Unix 6.5.0.1014"/>
  <p:tag name="AS_RELEASE_DATE" val="2023.08.14"/>
  <p:tag name="AS_TITLE" val="Aspose.Slides for .NET Standard 2.0"/>
  <p:tag name="AS_VERSION" val="23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SlideTemplateConfiguration><![CDATA[{"slideVersion":1,"isValidatorEnabled":false,"isLocked":false,"elementsMetadata":[],"slideId":"1054884848216047618","enableDocumentContentUpdater":false,"version":"2.0"}]]></TemplafySlideTemplateConfiguration>
</file>

<file path=customXml/item2.xml><?xml version="1.0" encoding="utf-8"?>
<TemplafyTemplateConfiguration><![CDATA[{"elementsMetadata":[],"transformationConfigurations":[],"templateName":"blankpresentation","templateDescription":"","enableDocumentContentUpdater":false,"version":"2.0"}]]></TemplafyTemplateConfiguration>
</file>

<file path=customXml/item3.xml><?xml version="1.0" encoding="utf-8"?>
<TemplafyFormConfiguration><![CDATA[{"formFields":[],"formDataEntries":[]}]]></TemplafyFormConfiguration>
</file>

<file path=customXml/item4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B69ABF3A-B169-44F9-86AC-4E29FB2A2600}">
  <ds:schemaRefs/>
</ds:datastoreItem>
</file>

<file path=customXml/itemProps2.xml><?xml version="1.0" encoding="utf-8"?>
<ds:datastoreItem xmlns:ds="http://schemas.openxmlformats.org/officeDocument/2006/customXml" ds:itemID="{386C9AF7-FC43-4772-BF6D-26FE95C56D62}">
  <ds:schemaRefs/>
</ds:datastoreItem>
</file>

<file path=customXml/itemProps3.xml><?xml version="1.0" encoding="utf-8"?>
<ds:datastoreItem xmlns:ds="http://schemas.openxmlformats.org/officeDocument/2006/customXml" ds:itemID="{C5938109-F486-41EA-929F-D7DF65C5D6B1}">
  <ds:schemaRefs/>
</ds:datastoreItem>
</file>

<file path=customXml/itemProps4.xml><?xml version="1.0" encoding="utf-8"?>
<ds:datastoreItem xmlns:ds="http://schemas.openxmlformats.org/officeDocument/2006/customXml" ds:itemID="{C60B9EDF-596D-4F67-B5E3-411D55B8E8F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998</Words>
  <Application>Microsoft Office PowerPoint</Application>
  <PresentationFormat>Widescreen</PresentationFormat>
  <Paragraphs>129</Paragraphs>
  <Slides>11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Deep learning for time-series</vt:lpstr>
      <vt:lpstr>Task 02 – Missing Data &amp; Imputation</vt:lpstr>
      <vt:lpstr>Task 04 – Stationarity &amp; Trend Analysis</vt:lpstr>
      <vt:lpstr>Task 04 – Diagnostics &amp;Transforms</vt:lpstr>
      <vt:lpstr>Task 06 – Local Model: Single Household</vt:lpstr>
      <vt:lpstr>Task 07 – Local Cohort Analysis</vt:lpstr>
      <vt:lpstr>Task 08 – Global vs Local Models</vt:lpstr>
      <vt:lpstr>Task 09 – Global Model with Meta-Features</vt:lpstr>
      <vt:lpstr>Task 10 – Hyperparameter Tuning</vt:lpstr>
      <vt:lpstr>Task 10 – Final Results &amp; Conclusions</vt:lpstr>
      <vt:lpstr>Prediction visualization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Frederik Appel Vardinghus-Nielsen</dc:creator>
  <cp:keywords/>
  <dc:description/>
  <cp:lastModifiedBy>Frederik Appel Vardinghus-Nielsen</cp:lastModifiedBy>
  <cp:revision>24</cp:revision>
  <dcterms:created xsi:type="dcterms:W3CDTF">2025-12-19T09:06:10Z</dcterms:created>
  <dcterms:modified xsi:type="dcterms:W3CDTF">2026-05-01T09:32:01Z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2024-11-22T08:25:59</vt:lpwstr>
  </property>
  <property fmtid="{D5CDD505-2E9C-101B-9397-08002B2CF9AE}" pid="3" name="TemplafyTenantId">
    <vt:lpwstr>auoffice</vt:lpwstr>
  </property>
  <property fmtid="{D5CDD505-2E9C-101B-9397-08002B2CF9AE}" pid="4" name="TemplafyTemplateId">
    <vt:lpwstr>1054884838842826800</vt:lpwstr>
  </property>
  <property fmtid="{D5CDD505-2E9C-101B-9397-08002B2CF9AE}" pid="5" name="TemplafyUserProfileId">
    <vt:lpwstr>1290988692440090427</vt:lpwstr>
  </property>
  <property fmtid="{D5CDD505-2E9C-101B-9397-08002B2CF9AE}" pid="6" name="TemplafyLanguageCode">
    <vt:lpwstr>en-GB</vt:lpwstr>
  </property>
  <property fmtid="{D5CDD505-2E9C-101B-9397-08002B2CF9AE}" pid="7" name="TemplafyFromBlank">
    <vt:bool>true</vt:bool>
  </property>
</Properties>
</file>