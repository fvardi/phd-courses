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3" Type="http://schemas.openxmlformats.org/package/2006/relationships/metadata/core-properties" Target="docProps/core.xml"/>
  <Relationship Id="rId2" Type="http://schemas.openxmlformats.org/package/2006/relationships/metadata/thumbnail" Target="docProps/thumbnail.jpeg"/>
  <Relationship Id="rId1" Type="http://schemas.openxmlformats.org/officeDocument/2006/relationships/officeDocument" Target="ppt/presentation.xml"/>
  <Relationship Id="rId5" Type="http://schemas.openxmlformats.org/officeDocument/2006/relationships/custom-properties" Target="docProps/custom.xml"/>
  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sldIdLst>
    <p:sldId id="256" r:id="rId6"/>
    <p:sldId id="257" r:id="rId7"/>
    <p:sldId id="258" r:id="rId13"/>
    <p:sldId id="259" r:id="rId14"/>
    <p:sldId id="260" r:id="rId15"/>
    <p:sldId id="261" r:id="rId16"/>
    <p:sldId id="262" r:id="rId17"/>
    <p:sldId id="263" r:id="rId18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
<Relationships xmlns="http://schemas.openxmlformats.org/package/2006/relationships">
  <Relationship Id="rId8" Type="http://schemas.openxmlformats.org/officeDocument/2006/relationships/tags" Target="tags/tag1.xml"/>
  <Relationship Id="rId3" Type="http://schemas.openxmlformats.org/officeDocument/2006/relationships/customXml" Target="../customXml/item3.xml"/>
  <Relationship Id="rId7" Type="http://schemas.openxmlformats.org/officeDocument/2006/relationships/slide" Target="slides/slide2.xml"/>
  <Relationship Id="rId12" Type="http://schemas.openxmlformats.org/officeDocument/2006/relationships/tableStyles" Target="tableStyles.xml"/>
  <Relationship Id="rId2" Type="http://schemas.openxmlformats.org/officeDocument/2006/relationships/customXml" Target="../customXml/item2.xml"/>
  <Relationship Id="rId1" Type="http://schemas.openxmlformats.org/officeDocument/2006/relationships/customXml" Target="../customXml/item1.xml"/>
  <Relationship Id="rId6" Type="http://schemas.openxmlformats.org/officeDocument/2006/relationships/slide" Target="slides/slide1.xml"/>
  <Relationship Id="rId11" Type="http://schemas.openxmlformats.org/officeDocument/2006/relationships/theme" Target="theme/theme1.xml"/>
  <Relationship Id="rId5" Type="http://schemas.openxmlformats.org/officeDocument/2006/relationships/slideMaster" Target="slideMasters/slideMaster1.xml"/>
  <Relationship Id="rId10" Type="http://schemas.openxmlformats.org/officeDocument/2006/relationships/viewProps" Target="viewProps.xml"/>
  <Relationship Id="rId4" Type="http://schemas.openxmlformats.org/officeDocument/2006/relationships/customXml" Target="../customXml/item4.xml"/>
  <Relationship Id="rId9" Type="http://schemas.openxmlformats.org/officeDocument/2006/relationships/presProps" Target="presProps.xml"/>
  <Relationship Id="rId13" Type="http://schemas.openxmlformats.org/officeDocument/2006/relationships/slide" Target="slides/slide3.xml"/>
  <Relationship Id="rId14" Type="http://schemas.openxmlformats.org/officeDocument/2006/relationships/slide" Target="slides/slide4.xml"/>
  <Relationship Id="rId15" Type="http://schemas.openxmlformats.org/officeDocument/2006/relationships/slide" Target="slides/slide5.xml"/>
  <Relationship Id="rId16" Type="http://schemas.openxmlformats.org/officeDocument/2006/relationships/slide" Target="slides/slide6.xml"/>
  <Relationship Id="rId17" Type="http://schemas.openxmlformats.org/officeDocument/2006/relationships/slide" Target="slides/slide7.xml"/>
  <Relationship Id="rId18" Type="http://schemas.openxmlformats.org/officeDocument/2006/relationships/slide" Target="slides/slide8.xml"/>
</Relationships>
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6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7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8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9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10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1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?>
<Relationships xmlns="http://schemas.openxmlformats.org/package/2006/relationships">
  <Relationship Id="rId8" Type="http://schemas.openxmlformats.org/officeDocument/2006/relationships/slideLayout" Target="../slideLayouts/slideLayout8.xml"/>
  <Relationship Id="rId3" Type="http://schemas.openxmlformats.org/officeDocument/2006/relationships/slideLayout" Target="../slideLayouts/slideLayout3.xml"/>
  <Relationship Id="rId7" Type="http://schemas.openxmlformats.org/officeDocument/2006/relationships/slideLayout" Target="../slideLayouts/slideLayout7.xml"/>
  <Relationship Id="rId12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5" Type="http://schemas.openxmlformats.org/officeDocument/2006/relationships/slideLayout" Target="../slideLayouts/slideLayout5.xml"/>
  <Relationship Id="rId10" Type="http://schemas.openxmlformats.org/officeDocument/2006/relationships/slideLayout" Target="../slideLayouts/slideLayout10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
  <Relationship Id="rId3" Type="http://schemas.openxmlformats.org/officeDocument/2006/relationships/slideLayout" Target="../slideLayouts/slideLayout1.xml"/>
  <Relationship Id="rId2" Type="http://schemas.openxmlformats.org/officeDocument/2006/relationships/customXml" Target="../../customXml/item1.xml"/>
  <Relationship Id="rId1" Type="http://schemas.openxmlformats.org/officeDocument/2006/relationships/customXml" Target="../../customXml/item2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task04_avg_energy_training.png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daily_profile.png"/>
  <Relationship Id="rId3" Type="http://schemas.openxmlformats.org/officeDocument/2006/relationships/image" Target="../media/halfhourly_zoom.png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task04_acf_pacf.png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task04_households_with_splits.png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Deep learning for time-series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Assignment 2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6182B-63C7-3DEA-D954-92113AB95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 xml:space="preserve">Task 02 – Data </a:t>
            </a:r>
            <a:r>
              <a:rPr lang="da-DK"/>
              <a:t>imputation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12E5962E-8CA7-8B04-F90C-3F26A2935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39791491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Dark header bar --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!-- Title in header bar --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01 – Data Loading &amp; Validation</a:t>
            </a:r>
          </a:p>
        </p:txBody>
      </p:sp>
      <!-- LEFT COLUMN: Stats --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55000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Dataset Overview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Source: UK Power Networks London Smart Meters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Period: 2012-10-12 to 2014-05-23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Total households: 5,566 | Blocks loaded: 3 each</a:t>
            </a: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Validation 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 xml:space="preserve">Half-hourly: </a:t>
            </a:r>
            <a:r>
              <a:rPr lang="en-US" sz="1400" dirty="0">
                <a:latin typeface="Calibri"/>
              </a:rPr>
              <a:t>4,227,000 rows | 0 duplicates | 0 errors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 xml:space="preserve">Daily: </a:t>
            </a:r>
            <a:r>
              <a:rPr lang="en-US" sz="1400" dirty="0">
                <a:latin typeface="Calibri"/>
              </a:rPr>
              <a:t>88,438 rows | 0 duplicates | 0 errors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 xml:space="preserve">HHBlock: </a:t>
            </a:r>
            <a:r>
              <a:rPr lang="en-US" sz="1400" dirty="0">
                <a:latin typeface="Calibri"/>
              </a:rPr>
              <a:t>87,300 rows | 0 duplicates | 0 errors</a:t>
            </a: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Key Finding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All three datasets passed validation with zero data quality issues. Dataset is clean and ready for downstream modelling.</a:t>
            </a:r>
          </a:p>
        </p:txBody>
      </p:sp>
      <!-- RIGHT: image -->
      <p:pic>
        <p:nvPicPr>
          <p:cNvPr id="4" name="AvgEnergy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0000" y="1200000"/>
            <a:ext cx="5535600" cy="4200000"/>
          </a:xfrm>
          <a:prstGeom prst="rect">
            <a:avLst/>
          </a:prstGeom>
        </p:spPr>
      </p:pic>
      <!-- Caption -->
      <p:sp>
        <p:nvSpPr>
          <p:cNvPr id="5" name="ImgCaption"/>
          <p:cNvSpPr>
            <a:spLocks noGrp="1"/>
          </p:cNvSpPr>
          <p:nvPr/>
        </p:nvSpPr>
        <p:spPr>
          <a:xfrm>
            <a:off x="6200000" y="5450000"/>
            <a:ext cx="5535600" cy="457200"/>
          </a:xfrm>
          <a:prstGeom prst="rect">
            <a:avLst/>
          </a:prstGeom>
          <a:noFill/>
        </p:spPr>
        <p:txBody>
          <a:bodyPr anchor="t"/>
          <a:lstStyle/>
          <a:p>
            <a:pPr algn="ctr"/>
            <a:r>
              <a:rPr lang="en-US" sz="1000" i="1" dirty="0">
                <a:solidFill>
                  <a:srgbClr val="666666"/>
                </a:solidFill>
                <a:latin typeface="Calibri"/>
              </a:rPr>
              <a:t>Fig 1: Average energy consumption across training households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Dark header bar --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!-- Title --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Exploratory Data Analysis</a:t>
            </a:r>
          </a:p>
        </p:txBody>
      </p:sp>
      <!-- Subtitle bar -->
      <p:sp>
        <p:nvSpPr>
          <p:cNvPr id="6" name="SubtitleLabel"/>
          <p:cNvSpPr>
            <a:spLocks noGrp="1"/>
          </p:cNvSpPr>
          <p:nvPr/>
        </p:nvSpPr>
        <p:spPr>
          <a:xfrm>
            <a:off x="457200" y="1100000"/>
            <a:ext cx="11277600" cy="38000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1400" b="1" dirty="0">
                <a:solidFill>
                  <a:srgbClr val="1E2761"/>
                </a:solidFill>
                <a:latin typeface="Calibri"/>
              </a:rPr>
              <a:t>Daily Energy Profiles &amp; Half-Hourly Consumption Patterns</a:t>
            </a:r>
          </a:p>
        </p:txBody>
      </p:sp>
      <!-- LEFT image: daily_profile -->
      <p:pic>
        <p:nvPicPr>
          <p:cNvPr id="3" name="DailyProfile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600000"/>
            <a:ext cx="5700000" cy="4000000"/>
          </a:xfrm>
          <a:prstGeom prst="rect">
            <a:avLst/>
          </a:prstGeom>
        </p:spPr>
      </p:pic>
      <!-- LEFT caption -->
      <p:sp>
        <p:nvSpPr>
          <p:cNvPr id="4" name="LeftCaption"/>
          <p:cNvSpPr>
            <a:spLocks noGrp="1"/>
          </p:cNvSpPr>
          <p:nvPr/>
        </p:nvSpPr>
        <p:spPr>
          <a:xfrm>
            <a:off x="228600" y="5650000"/>
            <a:ext cx="5700000" cy="457200"/>
          </a:xfrm>
          <a:prstGeom prst="rect">
            <a:avLst/>
          </a:prstGeom>
          <a:noFill/>
        </p:spPr>
        <p:txBody>
          <a:bodyPr anchor="t"/>
          <a:lstStyle/>
          <a:p>
            <a:pPr algn="ctr"/>
            <a:r>
              <a:rPr lang="en-US" sz="1000" i="1" dirty="0">
                <a:solidFill>
                  <a:srgbClr val="666666"/>
                </a:solidFill>
                <a:latin typeface="Calibri"/>
              </a:rPr>
              <a:t>Fig 2: Average daily energy profile across households</a:t>
            </a:r>
          </a:p>
        </p:txBody>
      </p:sp>
      <!-- RIGHT image: halfhourly_zoom -->
      <p:pic>
        <p:nvPicPr>
          <p:cNvPr id="5" name="HalfHourlyIm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400" y="1600000"/>
            <a:ext cx="5700000" cy="4000000"/>
          </a:xfrm>
          <a:prstGeom prst="rect">
            <a:avLst/>
          </a:prstGeom>
        </p:spPr>
      </p:pic>
      <!-- RIGHT caption -->
      <p:sp>
        <p:nvSpPr>
          <p:cNvPr id="7" name="RightCaption"/>
          <p:cNvSpPr>
            <a:spLocks noGrp="1"/>
          </p:cNvSpPr>
          <p:nvPr/>
        </p:nvSpPr>
        <p:spPr>
          <a:xfrm>
            <a:off x="6263400" y="5650000"/>
            <a:ext cx="5700000" cy="457200"/>
          </a:xfrm>
          <a:prstGeom prst="rect">
            <a:avLst/>
          </a:prstGeom>
          <a:noFill/>
        </p:spPr>
        <p:txBody>
          <a:bodyPr anchor="t"/>
          <a:lstStyle/>
          <a:p>
            <a:pPr algn="ctr"/>
            <a:r>
              <a:rPr lang="en-US" sz="1000" i="1" dirty="0">
                <a:solidFill>
                  <a:srgbClr val="666666"/>
                </a:solidFill>
                <a:latin typeface="Calibri"/>
              </a:rPr>
              <a:t>Fig 3: Half-hourly consumption zoom (one week sample)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Dark header bar --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!-- Title --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Autocorrelation Analysis (ACF / PACF)</a:t>
            </a:r>
          </a:p>
        </p:txBody>
      </p:sp>
      <!-- Large central ACF/PACF image -->
      <p:pic>
        <p:nvPicPr>
          <p:cNvPr id="3" name="ACFPACF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0000"/>
            <a:ext cx="8500000" cy="5300000"/>
          </a:xfrm>
          <a:prstGeom prst="rect">
            <a:avLst/>
          </a:prstGeom>
        </p:spPr>
      </p:pic>
      <!-- RIGHT: interpretation text -->
      <p:sp>
        <p:nvSpPr>
          <p:cNvPr id="4" name="Interpretation"/>
          <p:cNvSpPr>
            <a:spLocks noGrp="1"/>
          </p:cNvSpPr>
          <p:nvPr/>
        </p:nvSpPr>
        <p:spPr>
          <a:xfrm>
            <a:off x="9200000" y="1150000"/>
            <a:ext cx="27648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Key Observations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300" b="1" dirty="0">
                <a:latin typeface="Calibri"/>
              </a:rPr>
              <a:t xml:space="preserve">ACF lag-48: </a:t>
            </a:r>
            <a:r>
              <a:rPr lang="en-US" sz="1300" dirty="0">
                <a:latin typeface="Calibri"/>
              </a:rPr>
              <a:t>0.39–0.87 (strong daily seasonality)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300" b="1" dirty="0">
                <a:latin typeface="Calibri"/>
              </a:rPr>
              <a:t xml:space="preserve">ACF lag-336: </a:t>
            </a:r>
            <a:r>
              <a:rPr lang="en-US" sz="1300" dirty="0">
                <a:latin typeface="Calibri"/>
              </a:rPr>
              <a:t>−0.005–0.74 (weekly pattern in most households)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300" b="1" dirty="0">
                <a:latin typeface="Calibri"/>
              </a:rPr>
              <a:t xml:space="preserve">PACF: </a:t>
            </a:r>
            <a:r>
              <a:rPr lang="en-US" sz="1300" dirty="0">
                <a:latin typeface="Calibri"/>
              </a:rPr>
              <a:t>Sharp cut-off after lag 1–2 suggests AR(1/2) structure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300" dirty="0">
                <a:latin typeface="Calibri"/>
              </a:rPr>
              <a:t>Periodic spikes confirm seasonal model components are needed.</a:t>
            </a:r>
          </a:p>
        </p:txBody>
      </p:sp>
      <!-- Caption -->
      <p:sp>
        <p:nvSpPr>
          <p:cNvPr id="5" name="Caption"/>
          <p:cNvSpPr>
            <a:spLocks noGrp="1"/>
          </p:cNvSpPr>
          <p:nvPr/>
        </p:nvSpPr>
        <p:spPr>
          <a:xfrm>
            <a:off x="457200" y="6500000"/>
            <a:ext cx="8500000" cy="300000"/>
          </a:xfrm>
          <a:prstGeom prst="rect">
            <a:avLst/>
          </a:prstGeom>
          <a:noFill/>
        </p:spPr>
        <p:txBody>
          <a:bodyPr anchor="t"/>
          <a:lstStyle/>
          <a:p>
            <a:pPr algn="ctr"/>
            <a:r>
              <a:rPr lang="en-US" sz="1000" i="1" dirty="0">
                <a:solidFill>
                  <a:srgbClr val="666666"/>
                </a:solidFill>
                <a:latin typeface="Calibri"/>
              </a:rPr>
              <a:t>Fig 4: ACF and PACF plots for 5 sample households (half-hourly data)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Dark header bar --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!-- Title --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Household Data Quality &amp; Train/Test Splits</a:t>
            </a:r>
          </a:p>
        </p:txBody>
      </p:sp>
      <!-- Large image -->
      <p:pic>
        <p:nvPicPr>
          <p:cNvPr id="3" name="HouseholdSplits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50000"/>
            <a:ext cx="8800000" cy="5300000"/>
          </a:xfrm>
          <a:prstGeom prst="rect">
            <a:avLst/>
          </a:prstGeom>
        </p:spPr>
      </p:pic>
      <!-- RIGHT: text summary -->
      <p:sp>
        <p:nvSpPr>
          <p:cNvPr id="4" name="SummaryText"/>
          <p:cNvSpPr>
            <a:spLocks noGrp="1"/>
          </p:cNvSpPr>
          <p:nvPr/>
        </p:nvSpPr>
        <p:spPr>
          <a:xfrm>
            <a:off x="9300000" y="1150000"/>
            <a:ext cx="26646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Quality Criteria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300" dirty="0">
                <a:latin typeface="Calibri"/>
              </a:rPr>
              <a:t>Households filtered for sufficient data coverage across both train and test periods.</a:t>
            </a: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Split Strategy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300" dirty="0">
                <a:latin typeface="Calibri"/>
              </a:rPr>
              <a:t>Chronological train/test split preserving temporal order to avoid data leakage.</a:t>
            </a: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Result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300" dirty="0">
                <a:latin typeface="Calibri"/>
              </a:rPr>
              <a:t>5 high-quality households selected for detailed analysis.</a:t>
            </a:r>
          </a:p>
        </p:txBody>
      </p:sp>
      <!-- Caption -->
      <p:sp>
        <p:nvSpPr>
          <p:cNvPr id="5" name="Caption"/>
          <p:cNvSpPr>
            <a:spLocks noGrp="1"/>
          </p:cNvSpPr>
          <p:nvPr/>
        </p:nvSpPr>
        <p:spPr>
          <a:xfrm>
            <a:off x="228600" y="6500000"/>
            <a:ext cx="8800000" cy="300000"/>
          </a:xfrm>
          <a:prstGeom prst="rect">
            <a:avLst/>
          </a:prstGeom>
          <a:noFill/>
        </p:spPr>
        <p:txBody>
          <a:bodyPr anchor="t"/>
          <a:lstStyle/>
          <a:p>
            <a:pPr algn="ctr"/>
            <a:r>
              <a:rPr lang="en-US" sz="1000" i="1" dirty="0">
                <a:solidFill>
                  <a:srgbClr val="666666"/>
                </a:solidFill>
                <a:latin typeface="Calibri"/>
              </a:rPr>
              <a:t>Fig 5: Household time series with train/test split boundaries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Dark header bar --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!-- Title --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Stationarity &amp; Trend Analysis</a:t>
            </a:r>
          </a:p>
        </p:txBody>
      </p:sp>
      <!-- LEFT COLUMN: ADF Stationarity -->
      <p:sp>
        <p:nvSpPr>
          <p:cNvPr id="3" name="ADFColumn"/>
          <p:cNvSpPr>
            <a:spLocks noGrp="1"/>
          </p:cNvSpPr>
          <p:nvPr/>
        </p:nvSpPr>
        <p:spPr>
          <a:xfrm>
            <a:off x="457200" y="1200000"/>
            <a:ext cx="54864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ADF Stationarity Test (p &lt; 0.05)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b="1" dirty="0">
                <a:latin typeface="Calibri"/>
              </a:rPr>
              <a:t xml:space="preserve">All 5 households stationary </a:t>
            </a:r>
            <a:r>
              <a:rPr lang="en-US" sz="1400" dirty="0">
                <a:latin typeface="Calibri"/>
              </a:rPr>
              <a:t>across all regression types (c, ct, ctt)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MAC000002: ADF = −10.11,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MAC000003: ADF = −6.63,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MAC000004: ADF = −12.92,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MAC000005: ADF = −13.36,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MAC000006: ADF = −9.11, p = 0.000 ✓</a:t>
            </a:r>
          </a:p>
          <a:p>
            <a:pPr>
              <a:lnSpc>
                <a:spcPts val="1300"/>
              </a:lnSpc>
              <a:spcBef>
                <a:spcPts val="400"/>
              </a:spcBef>
            </a:pPr>
            <a:r>
              <a:rPr lang="en-US" sz="1300" i="1" dirty="0">
                <a:solidFill>
                  <a:srgbClr val="444444"/>
                </a:solidFill>
                <a:latin typeface="Calibri"/>
              </a:rPr>
              <a:t>No differencing required — series are mean-stationary.</a:t>
            </a:r>
          </a:p>
        </p:txBody>
      </p:sp>
      <!-- Divider line -->
      <p:sp>
        <p:nvSpPr>
          <p:cNvPr id="11" name="Divider"/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!-- RIGHT COLUMN: Mann-Kendall Trend -->
      <p:sp>
        <p:nvSpPr>
          <p:cNvPr id="4" name="MKColumn"/>
          <p:cNvSpPr>
            <a:spLocks noGrp="1"/>
          </p:cNvSpPr>
          <p:nvPr/>
        </p:nvSpPr>
        <p:spPr>
          <a:xfrm>
            <a:off x="6300000" y="1200000"/>
            <a:ext cx="56000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Mann-Kendall Trend Test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dirty="0">
                <a:latin typeface="Calibri"/>
              </a:rPr>
              <a:t xml:space="preserve">MAC000002: </a:t>
            </a:r>
            <a:r>
              <a:rPr lang="en-US" sz="14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400" dirty="0">
                <a:latin typeface="Calibri"/>
              </a:rPr>
              <a:t xml:space="preserve"> (p=0.000)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 xml:space="preserve">MAC000003: </a:t>
            </a:r>
            <a:r>
              <a:rPr lang="en-US" sz="14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400" dirty="0">
                <a:latin typeface="Calibri"/>
              </a:rPr>
              <a:t xml:space="preserve"> (p=0.000)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 xml:space="preserve">MAC000004: </a:t>
            </a:r>
            <a:r>
              <a:rPr lang="en-US" sz="1400" b="1" dirty="0">
                <a:solidFill>
                  <a:srgbClr val="27AE60"/>
                </a:solidFill>
                <a:latin typeface="Calibri"/>
              </a:rPr>
              <a:t>No trend</a:t>
            </a:r>
            <a:r>
              <a:rPr lang="en-US" sz="1400" dirty="0">
                <a:latin typeface="Calibri"/>
              </a:rPr>
              <a:t xml:space="preserve"> (p=0.876)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 xml:space="preserve">MAC000005: </a:t>
            </a:r>
            <a:r>
              <a:rPr lang="en-US" sz="14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400" dirty="0">
                <a:latin typeface="Calibri"/>
              </a:rPr>
              <a:t xml:space="preserve"> (p=0.000)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 xml:space="preserve">MAC000006: </a:t>
            </a:r>
            <a:r>
              <a:rPr lang="en-US" sz="1400" b="1" dirty="0">
                <a:solidFill>
                  <a:srgbClr val="27AE60"/>
                </a:solidFill>
                <a:latin typeface="Calibri"/>
              </a:rPr>
              <a:t>No trend</a:t>
            </a:r>
            <a:r>
              <a:rPr lang="en-US" sz="1400" dirty="0">
                <a:latin typeface="Calibri"/>
              </a:rPr>
              <a:t xml:space="preserve"> (p=0.341)</a:t>
            </a:r>
          </a:p>
          <a:p>
            <a:pPr>
              <a:lnSpc>
                <a:spcPts val="1300"/>
              </a:lnSpc>
              <a:spcBef>
                <a:spcPts val="400"/>
              </a:spcBef>
            </a:pPr>
            <a:r>
              <a:rPr lang="en-US" sz="1300" i="1" dirty="0">
                <a:solidFill>
                  <a:srgbClr val="444444"/>
                </a:solidFill>
                <a:latin typeface="Calibri"/>
              </a:rPr>
              <a:t>3 of 5 households show a weak decreasing long-term trend — detrending recommended.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Dark header bar --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!-- Title --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Diagnostic Summary &amp; Recommendations</a:t>
            </a:r>
          </a:p>
        </p:txBody>
      </p:sp>
      <!-- LEFT COLUMN: White test + heteroscedasticity -->
      <p:sp>
        <p:nvSpPr>
          <p:cNvPr id="3" name="WhiteTestColumn"/>
          <p:cNvSpPr>
            <a:spLocks noGrp="1"/>
          </p:cNvSpPr>
          <p:nvPr/>
        </p:nvSpPr>
        <p:spPr>
          <a:xfrm>
            <a:off x="457200" y="1200000"/>
            <a:ext cx="54864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White Test (Heteroscedasticity)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dirty="0">
                <a:latin typeface="Calibri"/>
              </a:rPr>
              <a:t xml:space="preserve">MAC000002: LM=20,916, p=0.000 — </a:t>
            </a:r>
            <a:r>
              <a:rPr lang="en-US" sz="14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 xml:space="preserve">MAC000003: LM=32,059, p=0.000 — </a:t>
            </a:r>
            <a:r>
              <a:rPr lang="en-US" sz="14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 xml:space="preserve">MAC000004: LM=28,532, p=0.000 — </a:t>
            </a:r>
            <a:r>
              <a:rPr lang="en-US" sz="14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 xml:space="preserve">MAC000005: LM=27,357, p=0.000 — </a:t>
            </a:r>
            <a:r>
              <a:rPr lang="en-US" sz="14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 xml:space="preserve">MAC000006: LM=33,301, p=0.000 — </a:t>
            </a:r>
            <a:r>
              <a:rPr lang="en-US" sz="14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  <a:spcBef>
                <a:spcPts val="400"/>
              </a:spcBef>
            </a:pPr>
            <a:r>
              <a:rPr lang="en-US" sz="1300" i="1" dirty="0">
                <a:solidFill>
                  <a:srgbClr val="444444"/>
                </a:solidFill>
                <a:latin typeface="Calibri"/>
              </a:rPr>
              <a:t>All households show non-constant variance — log-transform recommended.</a:t>
            </a:r>
          </a:p>
        </p:txBody>
      </p:sp>
      <!-- Divider -->
      <p:sp>
        <p:nvSpPr>
          <p:cNvPr id="11" name="Divider"/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!-- RIGHT COLUMN: Recommended transforms -->
      <p:sp>
        <p:nvSpPr>
          <p:cNvPr id="4" name="RecommendationsColumn"/>
          <p:cNvSpPr>
            <a:spLocks noGrp="1"/>
          </p:cNvSpPr>
          <p:nvPr/>
        </p:nvSpPr>
        <p:spPr>
          <a:xfrm>
            <a:off x="6300000" y="1200000"/>
            <a:ext cx="56000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Recommended Transforms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b="1" dirty="0">
                <a:latin typeface="Calibri"/>
              </a:rPr>
              <a:t xml:space="preserve">MAC000002 &amp; MAC000003: </a:t>
            </a:r>
            <a:r>
              <a:rPr lang="en-US" sz="1400" dirty="0">
                <a:latin typeface="Calibri"/>
              </a:rPr>
              <a:t>log-transform, detrend, seasonal features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 xml:space="preserve">MAC000004: </a:t>
            </a:r>
            <a:r>
              <a:rPr lang="en-US" sz="1400" dirty="0">
                <a:latin typeface="Calibri"/>
              </a:rPr>
              <a:t>log-transform only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 xml:space="preserve">MAC000005 &amp; MAC000006: </a:t>
            </a:r>
            <a:r>
              <a:rPr lang="en-US" sz="1400" dirty="0">
                <a:latin typeface="Calibri"/>
              </a:rPr>
              <a:t>log-transform, seasonal features</a:t>
            </a: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Overall Conclusion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dirty="0">
                <a:latin typeface="Calibri"/>
              </a:rPr>
              <a:t>Series are stationary but heteroscedastic with seasonal structure. Log-transform stabilises variance; seasonal features and detrending improve model fit for trending households.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?>
<Relationships xmlns="http://schemas.openxmlformats.org/package/2006/relationships">
  <Relationship Id="rId1" Type="http://schemas.openxmlformats.org/officeDocument/2006/relationships/customXmlProps" Target="itemProps1.xml"/>
</Relationships>

</file>

<file path=customXml/_rels/item2.xml.rels><?xml version="1.0" encoding="utf-8"?>
<Relationships xmlns="http://schemas.openxmlformats.org/package/2006/relationships">
  <Relationship Id="rId1" Type="http://schemas.openxmlformats.org/officeDocument/2006/relationships/customXmlProps" Target="itemProps2.xml"/>
</Relationships>

</file>

<file path=customXml/_rels/item3.xml.rels><?xml version="1.0" encoding="utf-8"?>
<Relationships xmlns="http://schemas.openxmlformats.org/package/2006/relationships">
  <Relationship Id="rId1" Type="http://schemas.openxmlformats.org/officeDocument/2006/relationships/customXmlProps" Target="itemProps3.xml"/>
</Relationships>

</file>

<file path=customXml/_rels/item4.xml.rels><?xml version="1.0" encoding="utf-8"?>
<Relationships xmlns="http://schemas.openxmlformats.org/package/2006/relationships">
  <Relationship Id="rId1" Type="http://schemas.openxmlformats.org/officeDocument/2006/relationships/customXmlProps" Target="itemProps4.xml"/>
</Relationships>

</file>

<file path=customXml/item1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FormConfiguration><![CDATA[{"formFields":[],"formDataEntries":[]}]]></TemplafyFormConfiguration>
</file>

<file path=customXml/item4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Props1.xml><?xml version="1.0" encoding="utf-8"?>
<ds:datastoreItem xmlns:ds="http://schemas.openxmlformats.org/officeDocument/2006/customXml" ds:itemID="{B69ABF3A-B169-44F9-86AC-4E29FB2A2600}">
  <ds:schemaRefs/>
</ds:datastoreItem>
</file>

<file path=customXml/itemProps2.xml><?xml version="1.0" encoding="utf-8"?>
<ds:datastoreItem xmlns:ds="http://schemas.openxmlformats.org/officeDocument/2006/customXml" ds:itemID="{C60B9EDF-596D-4F67-B5E3-411D55B8E8FC}">
  <ds:schemaRefs/>
</ds:datastoreItem>
</file>

<file path=customXml/itemProps3.xml><?xml version="1.0" encoding="utf-8"?>
<ds:datastoreItem xmlns:ds="http://schemas.openxmlformats.org/officeDocument/2006/customXml" ds:itemID="{C5938109-F486-41EA-929F-D7DF65C5D6B1}">
  <ds:schemaRefs/>
</ds:datastoreItem>
</file>

<file path=customXml/itemProps4.xml><?xml version="1.0" encoding="utf-8"?>
<ds:datastoreItem xmlns:ds="http://schemas.openxmlformats.org/officeDocument/2006/customXml" ds:itemID="{386C9AF7-FC43-4772-BF6D-26FE95C56D62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11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Deep learning for time-series</vt:lpstr>
      <vt:lpstr>Task 02 – Data imputation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Frederik Appel Vardinghus-Nielsen</dc:creator>
  <cp:keywords/>
  <dc:description/>
  <cp:lastModifiedBy>Frederik Appel Vardinghus-Nielsen</cp:lastModifiedBy>
  <cp:revision>3</cp:revision>
  <dcterms:created xsi:type="dcterms:W3CDTF">2025-12-19T09:06:10Z</dcterms:created>
  <dcterms:modified xsi:type="dcterms:W3CDTF">2026-04-22T10:22:28Z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